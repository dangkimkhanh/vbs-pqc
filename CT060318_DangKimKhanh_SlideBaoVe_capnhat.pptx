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1.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Sinh khóa</c:v>
                </c:pt>
              </c:strCache>
            </c:strRef>
          </c:tx>
          <c:spPr>
            <a:solidFill>
              <a:srgbClr val="14284B"/>
            </a:solidFill>
            <a:effectLst/>
          </c:spPr>
          <c:invertIfNegative val="0"/>
          <c:dLbls>
            <c:numFmt formatCode="0.000" sourceLinked="0"/>
            <c:spPr>
              <a:noFill/>
              <a:ln>
                <a:noFill/>
              </a:ln>
              <a:effectLst/>
            </c:spPr>
            <c:txPr>
              <a:bodyPr/>
              <a:lstStyle/>
              <a:p>
                <a:pPr>
                  <a:defRPr sz="11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ML-DSA-44</c:v>
                </c:pt>
                <c:pt idx="1">
                  <c:v>ML-DSA-65</c:v>
                </c:pt>
                <c:pt idx="2">
                  <c:v>ML-DSA-87</c:v>
                </c:pt>
              </c:strCache>
            </c:strRef>
          </c:cat>
          <c:val>
            <c:numRef>
              <c:f>Sheet1!$B$2:$B$4</c:f>
              <c:numCache>
                <c:formatCode>General</c:formatCode>
                <c:ptCount val="3"/>
                <c:pt idx="0">
                  <c:v>7.9000000000000001E-2</c:v>
                </c:pt>
                <c:pt idx="1">
                  <c:v>0.13800000000000001</c:v>
                </c:pt>
                <c:pt idx="2">
                  <c:v>0.192</c:v>
                </c:pt>
              </c:numCache>
            </c:numRef>
          </c:val>
          <c:extLst>
            <c:ext xmlns:c16="http://schemas.microsoft.com/office/drawing/2014/chart" uri="{C3380CC4-5D6E-409C-BE32-E72D297353CC}">
              <c16:uniqueId val="{00000000-5583-4D45-8072-F436D4FE0CE9}"/>
            </c:ext>
          </c:extLst>
        </c:ser>
        <c:ser>
          <c:idx val="1"/>
          <c:order val="1"/>
          <c:tx>
            <c:strRef>
              <c:f>Sheet1!$C$1</c:f>
              <c:strCache>
                <c:ptCount val="1"/>
                <c:pt idx="0">
                  <c:v>Ký (hedged)</c:v>
                </c:pt>
              </c:strCache>
            </c:strRef>
          </c:tx>
          <c:spPr>
            <a:solidFill>
              <a:srgbClr val="0E7C86"/>
            </a:solidFill>
            <a:effectLst/>
          </c:spPr>
          <c:invertIfNegative val="0"/>
          <c:dLbls>
            <c:numFmt formatCode="0.000" sourceLinked="0"/>
            <c:spPr>
              <a:noFill/>
              <a:ln>
                <a:noFill/>
              </a:ln>
              <a:effectLst/>
            </c:spPr>
            <c:txPr>
              <a:bodyPr/>
              <a:lstStyle/>
              <a:p>
                <a:pPr>
                  <a:defRPr sz="11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ML-DSA-44</c:v>
                </c:pt>
                <c:pt idx="1">
                  <c:v>ML-DSA-65</c:v>
                </c:pt>
                <c:pt idx="2">
                  <c:v>ML-DSA-87</c:v>
                </c:pt>
              </c:strCache>
            </c:strRef>
          </c:cat>
          <c:val>
            <c:numRef>
              <c:f>Sheet1!$C$2:$C$4</c:f>
              <c:numCache>
                <c:formatCode>General</c:formatCode>
                <c:ptCount val="3"/>
                <c:pt idx="0">
                  <c:v>0.14199999999999999</c:v>
                </c:pt>
                <c:pt idx="1">
                  <c:v>0.219</c:v>
                </c:pt>
                <c:pt idx="2">
                  <c:v>0.248</c:v>
                </c:pt>
              </c:numCache>
            </c:numRef>
          </c:val>
          <c:extLst>
            <c:ext xmlns:c16="http://schemas.microsoft.com/office/drawing/2014/chart" uri="{C3380CC4-5D6E-409C-BE32-E72D297353CC}">
              <c16:uniqueId val="{00000001-5583-4D45-8072-F436D4FE0CE9}"/>
            </c:ext>
          </c:extLst>
        </c:ser>
        <c:ser>
          <c:idx val="2"/>
          <c:order val="2"/>
          <c:tx>
            <c:strRef>
              <c:f>Sheet1!$D$1</c:f>
              <c:strCache>
                <c:ptCount val="1"/>
                <c:pt idx="0">
                  <c:v>Xác minh</c:v>
                </c:pt>
              </c:strCache>
            </c:strRef>
          </c:tx>
          <c:spPr>
            <a:solidFill>
              <a:srgbClr val="9DB4CF"/>
            </a:solidFill>
            <a:effectLst/>
          </c:spPr>
          <c:invertIfNegative val="0"/>
          <c:dLbls>
            <c:numFmt formatCode="0.000" sourceLinked="0"/>
            <c:spPr>
              <a:noFill/>
              <a:ln>
                <a:noFill/>
              </a:ln>
              <a:effectLst/>
            </c:spPr>
            <c:txPr>
              <a:bodyPr/>
              <a:lstStyle/>
              <a:p>
                <a:pPr>
                  <a:defRPr sz="11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ML-DSA-44</c:v>
                </c:pt>
                <c:pt idx="1">
                  <c:v>ML-DSA-65</c:v>
                </c:pt>
                <c:pt idx="2">
                  <c:v>ML-DSA-87</c:v>
                </c:pt>
              </c:strCache>
            </c:strRef>
          </c:cat>
          <c:val>
            <c:numRef>
              <c:f>Sheet1!$D$2:$D$4</c:f>
              <c:numCache>
                <c:formatCode>General</c:formatCode>
                <c:ptCount val="3"/>
                <c:pt idx="0">
                  <c:v>2.5000000000000001E-2</c:v>
                </c:pt>
                <c:pt idx="1">
                  <c:v>3.3000000000000002E-2</c:v>
                </c:pt>
                <c:pt idx="2">
                  <c:v>4.7E-2</c:v>
                </c:pt>
              </c:numCache>
            </c:numRef>
          </c:val>
          <c:extLst>
            <c:ext xmlns:c16="http://schemas.microsoft.com/office/drawing/2014/chart" uri="{C3380CC4-5D6E-409C-BE32-E72D297353CC}">
              <c16:uniqueId val="{00000002-5583-4D45-8072-F436D4FE0CE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7"/>
                </a:solidFill>
                <a:latin typeface="Calibri"/>
              </a:defRPr>
            </a:pPr>
            <a:endParaRPr lang="en-US"/>
          </a:p>
        </c:txPr>
        <c:crossAx val="2094734552"/>
        <c:crosses val="autoZero"/>
        <c:auto val="1"/>
        <c:lblAlgn val="ctr"/>
        <c:lblOffset val="100"/>
        <c:noMultiLvlLbl val="1"/>
      </c:catAx>
      <c:valAx>
        <c:axId val="2094734552"/>
        <c:scaling>
          <c:orientation val="minMax"/>
          <c:max val="0.3"/>
          <c:min val="0"/>
        </c:scaling>
        <c:delete val="0"/>
        <c:axPos val="l"/>
        <c:majorGridlines>
          <c:spPr>
            <a:ln w="6350" cap="flat">
              <a:solidFill>
                <a:srgbClr val="E5E7EB"/>
              </a:solidFill>
              <a:prstDash val="solid"/>
              <a:round/>
            </a:ln>
          </c:spPr>
        </c:majorGridlines>
        <c:title>
          <c:tx>
            <c:rich>
              <a:bodyPr/>
              <a:lstStyle/>
              <a:p>
                <a:pPr>
                  <a:defRPr sz="1200" b="0" i="0" u="none" strike="noStrike">
                    <a:solidFill>
                      <a:srgbClr val="5B6472"/>
                    </a:solidFill>
                    <a:latin typeface="Arial"/>
                  </a:defRPr>
                </a:pPr>
                <a:r>
                  <a:rPr sz="1200" b="0" i="0" u="none" strike="noStrike">
                    <a:solidFill>
                      <a:srgbClr val="5B6472"/>
                    </a:solidFill>
                    <a:latin typeface="Arial"/>
                  </a:rPr>
                  <a:t>Thời gian trung bình (ms)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472"/>
                </a:solidFill>
                <a:latin typeface="Arial"/>
              </a:defRPr>
            </a:pPr>
            <a:endParaRPr lang="en-US"/>
          </a:p>
        </c:txPr>
        <c:crossAx val="2094734554"/>
        <c:crosses val="autoZero"/>
        <c:crossBetween val="between"/>
        <c:majorUnit val="0.05"/>
      </c:valAx>
      <c:spPr>
        <a:noFill/>
        <a:ln>
          <a:noFill/>
        </a:ln>
        <a:effectLst/>
      </c:spPr>
    </c:plotArea>
    <c:legend>
      <c:legendPos val="b"/>
      <c:overlay val="0"/>
      <c:txPr>
        <a:bodyPr/>
        <a:lstStyle/>
        <a:p>
          <a:pPr>
            <a:defRPr sz="12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894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thưa Hội đồng, kính thưa các thầy cô. Em là Đặng Kim Khánh, sinh viên ngành Công nghệ thông tin, mã sinh viên CT060318.
Dưới sự hướng dẫn của TS. Phạm Văn Hưởng, em xin trình bày đồ án tốt nghiệp với đề tài: Xây dựng hệ thống quản lý bằng số sử dụng ký số hậu lượng tử.</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sáu phần: giới thiệu đề tài; công nghệ và kiến trúc; phân tích, thiết kế hệ thống; phần trọng tâm là ứng dụng ký số hậu lượng tử; xây dựng và thử nghiệm; cuối cùng là kết luận và hướng phát triển.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Văn bằng số giúp người học chia sẻ và cơ quan tuyển dụng kiểm tra nhanh, nhưng một tệp PDF lưu trên máy chủ không tự chứng minh được nguồn gốc: tệp có thể bị sửa sau khi phát hành, hoặc bị giả mạo.
Chữ ký số giải quyết vấn đề này, nhưng các thuật toán phổ biến như RSA và ECDSA có thể bị phá bởi thuật toán Shor trên máy tính lượng tử đủ lớn, trong khi văn bằng cần được xác minh trong nhiều năm.
Vì vậy mục tiêu của đồ án là ký văn bằng bằng thuật toán hậu lượng tử ML-DSA theo chuẩn FIPS 204, bảo vệ khóa bí mật, neo bằng chứng phát hành lên Hyperledger Fabric và cung cấp kênh xác minh công khai nhiều lớp. Phạm vi tập trung vào văn bằng do cơ sở đào tạo phát hành; blockchain chỉ lưu bằng chứng, không lưu tệp PDF hay dữ liệu cá nhân.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gồm hai luồng chính. Luồng phát hành do quản trị viên trường thực hiện: tạo hồ sơ văn bằng, hệ thống sinh tệp PDF và tính SHA-256, dựng manifest rồi ký bằng khóa ML-DSA của trường, sau đó gom nhiều văn bằng thành một lô và ghi Merkle root của lô lên Fabric.
Luồng xác minh dành cho bất kỳ ai, không cần tài khoản: quét mã QR hoặc nhập mã, hệ thống kiểm tra chữ ký ML-DSA, so giá trị băm của tệp PDF và kiểm tra Merkle proof với root trên sổ cái.
Kết quả không chỉ là đúng hoặc sai mà được chia thành bốn mức: hợp lệ đầy đủ, chỉ chữ ký hợp lệ, không hợp lệ và đã thu hồi.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Giao diện web dùng Next.js và React; ứng dụng di động xác minh viết bằng Flutter. Backend viết bằng Go với framework Gin.
Dữ liệu nghiệp vụ lưu trong MongoDB, tệp PDF lưu trong MinIO. Mạng blockchain là Hyperledger Fabric 3.1, được dựng và quản trị bằng ChainLaunch; chaincode viết bằng Go.
Phần mật mã dùng ML-DSA của thư viện Cloudflare CIRCL, SHA-256 và AES-256-GCM. Tệp PDF được sinh từ mẫu HTML bằng Google Chrome ở chế độ không giao diện, hoặc wkhtmltopdf.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có bốn tác nhân. Quản trị viên hệ thống tạo và khóa trường; trường không tự đăng ký. Quản trị viên trường quản lý chuyên ngành, sinh viên, mẫu bằng, khóa ký và toàn bộ vòng đời văn bằng, tổ chức theo đợt cấp. Sinh viên kích hoạt tài khoản bằng OTP và chỉ xem văn bằng của mình. Người xác minh dùng trang công khai hoặc ứng dụng di động.
Về phi chức năng, hệ thống ưu tiên bảo mật khóa bí mật, khả năng phát hiện mọi thay đổi dữ liệu, xác định được đơn vị phát hành, tính minh bạch của lô và khả năng thay lớp lưu khóa bằng KMS hoặc HSM.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biểu đồ use case tổng quát. Tác nhân trừu tượng Người dùng đại diện cho các vai trò có tài khoản, dùng chung nhóm xác thực. Các nhóm chức năng lớn là quản lý trường, quản lý dữ liệu đào tạo, quản lý khóa ký ML-DSA, phát hành văn bằng, tra cứu của sinh viên và xác minh công khai; các tác nhân hệ thống là Hyperledger Fabric và dịch vụ email.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Việc phát hành một văn bằng gồm hai yêu cầu. Yêu cầu thứ nhất sinh PDF: backend kiểm tra trường có khóa active, nếu chưa có thì từ chối. Dữ liệu được điền vào mẫu HTML, hệ thống vẽ dấu ký số ghi tên trường và bộ tham số ML-DSA, sinh PDF khổ A4 ngang, tính SHA-256 và lưu vào MinIO.
Yêu cầu thứ hai ký văn bằng: backend so bộ tham số của khóa với bộ tham số in trên dấu, giải mã khóa bí mật, dựng manifest và ký với ngữ cảnh PQC-EDIPLOMA-V1, rồi lưu bằng chứng pqc_proof.</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ghi lô, quản trị viên chọn một đợt cấp và một hoặc tất cả chuyên ngành; backend lấy các văn bằng đã ký, chưa ghi và chưa thu hồi của phạm vi đó, tính lá Merkle cho từng văn bằng, dựng cây và đặt mã lô theo Merkle root. Phong bì giao dịch được ký ML-DSA với một ngữ cảnh riêng.
Chaincode kiểm tra định dạng root, chữ ký ML-DSA và việc lô chưa tồn tại trước khi ghi. Sau đó backend lưu mã giao dịch, Merkle proof của từng văn bằng và gửi email thông báo cho sinh viên.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Cơ sở dữ liệu MongoDB gồm mười collection. Trọng tâm là collection ediplomas chứa tài liệu con pqc_proof, và collection pqc_signing_keys lưu khóa công khai cùng khóa bí mật đã mã hóa.
Tệp PDF được lưu riêng trong MinIO; cơ sở dữ liệu chỉ giữ đường dẫn và giá trị băm. Bằng chứng lô nằm trên sổ cái Fabric.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theo mô hình client - server với một backend chia module. Hai client là ứng dụng web và ứng dụng di động, cùng giao tiếp với backend qua REST API.
Trong backend, middleware kiểm tra JWT, trạng thái phiên, vai trò và quyền sở hữu dữ liệu; tầng service xử lý nghiệp vụ; tầng repository truy cập MongoDB. Backend kết nối MinIO, dịch vụ email và mạng Fabric qua Fabric Gateway.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Thuật toán Shor giải được bài toán phân tích số nguyên và logarit rời rạc trong thời gian đa thức, nên RSA và ECDSA không còn an toàn trước máy tính lượng tử. Tháng 8 năm 2024, NIST ban hành FIPS 204 chuẩn hóa ML-DSA, một lược đồ chữ ký dựa trên bài toán lưới Module-LWE và Module-SIS.
FIPS 204 có ba bộ tham số ứng với mức an toàn 2, 3 và 5. Khóa và chữ ký lớn hơn nhiều so với ECDSA, nhưng với văn bằng thì điều này chấp nhận được. Hệ thống hỗ trợ cả ba bộ, trong đó ML-DSA-65 là mặc định.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không ký rời từng trường dữ liệu mà ký một manifest JSON có thứ tự trường cố định, gồm định danh văn bằng, thông tin sinh viên, số hiệu, SHA-256 của tệp PDF và thời điểm ký. Nhờ đưa giá trị băm của PDF vào manifest, chữ ký gắn chặt với đúng tệp đã phát hành.
Khóa bí mật được mã hóa bằng AES-256-GCM với khóa chủ 32 byte tách biệt khỏi khóa JWT; dữ liệu xác thực bổ sung gắn bản mã với đúng trường và đúng mã khóa. Khóa chỉ được giải mã trong bộ nhớ lúc ký.
Dấu ký số trên PDF ghi bộ tham số của khóa; nếu trường đổi sang khóa khác bộ tham số sau khi sinh PDF, hệ thống từ chối ký để dấu và chữ ký luôn khớp nhau.</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Khóa có bốn trạng thái: pending, active, retired và revoked. Mỗi trường chỉ có một khóa active; khi kích hoạt khóa mới, khóa cũ chuyển sang retired.
Điểm quan trọng là hiệu lực của khóa được đánh giá tại đúng thời điểm ký. Vì vậy luân chuyển hay thu hồi khóa không làm mất hiệu lực các văn bằng đã ký trước đó, trừ các chữ ký sau thời điểm lộ khóa. Khóa công khai không bao giờ bị xóa.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Thay vì ghi từng văn bằng, hệ thống gom một lô và chỉ ghi Merkle root lên Fabric. Mỗi lá là giá trị băm của anchor payload, ràng buộc mã văn bằng, khóa, manifest, chữ ký và tệp PDF. Mỗi văn bằng giữ Merkle proof của mình để chứng minh thuộc lô.
Mạng Fabric gồm hai tổ chức, mỗi tổ chức hai peer, ba orderer đồng thuận Raft; chaincode chạy theo mô hình Chaincode-as-a-Service và chỉ ghi lô khi chữ ký ML-DSA của giao dịch hợp lệ, không cho ghi đè lô đã có.</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Văn bằng được quản lý theo đợt cấp. Khi phát hiện sai sót, quản trị viên có thể thu hồi cả đợt: chọn một chuyên ngành hoặc tất cả chuyên ngành, chọn đợt, nhập lý do và gõ lại tên đợt để xác nhận, vì thao tác không hoàn tác được. Mỗi sinh viên nhận email thông báo kèm lý do.
Sau đó việc thu hồi được ghi lên Fabric. Mỗi mục mang dữ liệu neo và Merkle proof của văn bằng, lý do chỉ lưu ở dạng băm; phong bì được ký ML-DSA với ngữ cảnh thu hồi riêng. Chaincode chỉ ghi khi proof dẫn tới đúng lô đã neo, nên sửa cơ sở dữ liệu không khôi phục được hiệu lực của văn bằng đã thu hồi.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xác minh, hệ thống kiểm tra ba lớp độc lập: chữ ký ML-DSA cùng hiệu lực khóa tại thời điểm ký; toàn vẹn tệp PDF bằng cách tính lại SHA-256; và bằng chứng trên Fabric bằng Merkle proof cùng chữ ký giao dịch; đồng thời đọc trạng thái thu hồi trên sổ cái.
Kết quả được tổng hợp thành bốn mức đảm bảo để người xác minh hiểu đúng mức tin cậy. Ví dụ văn bằng đã ký nhưng chưa neo sẽ là chỉ chữ ký hợp lệ, khác với hợp lệ đầy đủ.</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đã được triển khai thực tế trên máy chủ Amazon EC2 chạy Ubuntu 24.04. nginx nhận truy cập HTTPS với chứng chỉ Let's Encrypt; backend và frontend chạy dưới dạng dịch vụ systemd; MongoDB và MinIO chạy bằng Docker Compose và chỉ nghe trên địa chỉ nội bộ.
Mạng Fabric 3.1 được dựng bằng ChainLaunch trên cùng máy chủ. Việc cài đặt và cập nhật được tự động hóa bằng các script trong thư mục deploy.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một số giao diện của quản trị viên trường: trang quản lý khóa ký với ba bộ tham số ML-DSA, trang quản lý văn bằng, nơi chọn chuyên ngành và đợt cấp rồi bấm Cấp &amp; ký để cấp và ký cả đợt, sau đó ghi Blockchain hoặc thu hồi theo đợt, trang giao diện mẫu, và văn bằng PDF được sinh ra có dấu ký số ghi đúng bộ tham số.</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xác minh có thể dùng trang web công khai hoặc ứng dụng di động. Cả hai gọi cùng một API nên kết quả luôn giống nhau: kết luận, thông tin công khai tối thiểu và ba lớp kiểm tra.
Chức năng đối chiếu tệp PDF tính SHA-256 ngay trên trình duyệt hoặc điện thoại, tệp không được tải lên máy chủ.</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thực hiện 24 kiểm thử đơn vị cho các thành phần mật mã và nghiệp vụ cốt lõi của backend và chaincode, và 19 kịch bản kiểm thử tích hợp API với 22 kiểm thử con trên cơ sở dữ liệu MongoDB tạm; toàn bộ đều đạt.
Các kiểm thử bao phủ tính tất định của manifest, mã hóa khóa bí mật, hiệu lực khóa theo thời điểm, việc chaincode từ chối lô trùng, thuật toán lạ hoặc bản thu hồi có Merkle proof giả mạo, các quy tắc đợt cấp và thu hồi theo đợt, cũng như phân quyền, chống truy cập chéo giữa các trường và chống dò OTP.</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Hiệu năng được đo bằng công cụ benchmark của Go trên máy Ryzen 5 5500U. Với ML-DSA-65, ký một văn bằng mất khoảng 0,22 mili giây và xác minh khoảng 0,03 mili giây; cả ba bộ tham số đều dưới 0,25 mili giây mỗi thao tác.
Thời gian này rất nhỏ so với các bước khác như sinh PDF, lưu MinIO hay gửi giao dịch Fabric, nên việc chọn bộ tham số chủ yếu dựa vào mức an toàn và kích thước chữ ký.</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đây em xin demo nhanh luồng chính: tạo và kích hoạt khóa ML-DSA-65, cấp và ký một văn bằng, ghi lô lên Blockchain, rồi quét mã QR bằng ứng dụng di động để xác minh. Cuối cùng em chọn một tệp PDF đã bị chỉnh sửa để thấy hệ thống báo không khớp.</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Đồ án đã xây dựng được hệ thống hoàn chỉnh cho ba vai trò cùng kênh xác minh công khai trên web và di động, tích hợp ML-DSA với ba bộ tham số, quản lý vòng đời khóa, neo lô và ghi thu hồi lên Fabric theo đợt cấp, xác minh bốn mức đảm bảo; hệ thống đã được triển khai thực tế.
Hạn chế là khóa bí mật còn lưu trên máy chủ ứng dụng, chỉ văn bằng đã ghi Blockchain mới ghi được thu hồi lên sổ cái, và backend ghi lô bằng một danh tính Fabric chung.
Hướng phát triển gồm chuyển khóa sang HSM hoặc KMS, đăng ký khóa công khai của trường trên sổ cái, mạng nhiều tổ chức thật sự phân tán, chữ ký lai và văn bằng tự mang bằng chứng.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gửi lời cảm ơn tới các thầy cô trong khoa Công nghệ thông tin, Học viện Kỹ thuật Mật mã, và đặc biệt là thầy TS. Phạm Văn Hưởng đã tận tình hướng dẫn em hoàn thành đồ án này.
Đồ án chắc chắn còn những thiếu sót; em rất mong nhận được câu hỏi và góp ý của Hội đồng. Em xin trân trọng cảm ơn.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7.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1.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6EDF5"/>
        </a:solidFill>
        <a:effectLst/>
      </p:bgPr>
    </p:bg>
    <p:spTree>
      <p:nvGrpSpPr>
        <p:cNvPr id="1" name=""/>
        <p:cNvGrpSpPr/>
        <p:nvPr/>
      </p:nvGrpSpPr>
      <p:grpSpPr>
        <a:xfrm>
          <a:off x="0" y="0"/>
          <a:ext cx="0" cy="0"/>
          <a:chOff x="0" y="0"/>
          <a:chExt cx="0" cy="0"/>
        </a:xfrm>
      </p:grpSpPr>
      <p:sp>
        <p:nvSpPr>
          <p:cNvPr id="2" name="Shape 0"/>
          <p:cNvSpPr/>
          <p:nvPr/>
        </p:nvSpPr>
        <p:spPr>
          <a:xfrm>
            <a:off x="548640" y="411480"/>
            <a:ext cx="11100816" cy="6035040"/>
          </a:xfrm>
          <a:prstGeom prst="roundRect">
            <a:avLst>
              <a:gd name="adj" fmla="val 1818"/>
            </a:avLst>
          </a:prstGeom>
          <a:solidFill>
            <a:srgbClr val="FFFFFF"/>
          </a:solidFill>
          <a:ln w="12700">
            <a:solidFill>
              <a:srgbClr val="CBD6E2"/>
            </a:solidFill>
            <a:prstDash val="solid"/>
          </a:ln>
        </p:spPr>
      </p:sp>
      <p:pic>
        <p:nvPicPr>
          <p:cNvPr id="3" name="Image 0" descr="C:\Users\admin\AppData\Local\Temp\claude\c--VBS-PQC\c16daadc-5363-4aed-8ec4-1ba9efe31d52\scratchpad\slides\logo_kma.png"/>
          <p:cNvPicPr>
            <a:picLocks noChangeAspect="1"/>
          </p:cNvPicPr>
          <p:nvPr/>
        </p:nvPicPr>
        <p:blipFill>
          <a:blip r:embed="rId3"/>
          <a:stretch>
            <a:fillRect/>
          </a:stretch>
        </p:blipFill>
        <p:spPr>
          <a:xfrm>
            <a:off x="1119744" y="731520"/>
            <a:ext cx="869473" cy="914400"/>
          </a:xfrm>
          <a:prstGeom prst="rect">
            <a:avLst/>
          </a:prstGeom>
        </p:spPr>
      </p:pic>
      <p:sp>
        <p:nvSpPr>
          <p:cNvPr id="4" name="Text 1"/>
          <p:cNvSpPr txBox="1"/>
          <p:nvPr/>
        </p:nvSpPr>
        <p:spPr>
          <a:xfrm>
            <a:off x="2194560" y="777240"/>
            <a:ext cx="8229600" cy="822960"/>
          </a:xfrm>
          <a:prstGeom prst="rect">
            <a:avLst/>
          </a:prstGeom>
          <a:noFill/>
          <a:ln/>
        </p:spPr>
        <p:txBody>
          <a:bodyPr wrap="square" lIns="0" tIns="0" rIns="0" bIns="0" rtlCol="0" anchor="ctr"/>
          <a:lstStyle/>
          <a:p>
            <a:pPr marL="0" indent="0">
              <a:buNone/>
            </a:pPr>
            <a:r>
              <a:rPr lang="en-US" sz="1400" dirty="0">
                <a:solidFill>
                  <a:srgbClr val="5B6472"/>
                </a:solidFill>
                <a:latin typeface="Cambria" pitchFamily="34" charset="0"/>
                <a:ea typeface="Cambria" pitchFamily="34" charset="-122"/>
                <a:cs typeface="Cambria" pitchFamily="34" charset="-120"/>
              </a:rPr>
              <a:t>BAN CƠ YẾU CHÍNH PHỦ</a:t>
            </a:r>
            <a:endParaRPr lang="en-US" sz="1400" dirty="0"/>
          </a:p>
          <a:p>
            <a:pPr marL="0" indent="0">
              <a:buNone/>
            </a:pPr>
            <a:r>
              <a:rPr lang="en-US" sz="1900" b="1" dirty="0">
                <a:solidFill>
                  <a:srgbClr val="14284B"/>
                </a:solidFill>
                <a:latin typeface="Cambria" pitchFamily="34" charset="0"/>
                <a:ea typeface="Cambria" pitchFamily="34" charset="-122"/>
                <a:cs typeface="Cambria" pitchFamily="34" charset="-120"/>
              </a:rPr>
              <a:t>HỌC VIỆN KỸ THUẬT MẬT MÃ</a:t>
            </a:r>
            <a:endParaRPr lang="en-US" sz="1400" dirty="0"/>
          </a:p>
        </p:txBody>
      </p:sp>
      <p:sp>
        <p:nvSpPr>
          <p:cNvPr id="5" name="Shape 2"/>
          <p:cNvSpPr/>
          <p:nvPr/>
        </p:nvSpPr>
        <p:spPr>
          <a:xfrm>
            <a:off x="1097280" y="1783080"/>
            <a:ext cx="9966960" cy="0"/>
          </a:xfrm>
          <a:prstGeom prst="line">
            <a:avLst/>
          </a:prstGeom>
          <a:noFill/>
          <a:ln w="12700">
            <a:solidFill>
              <a:srgbClr val="CBD6E2"/>
            </a:solidFill>
            <a:prstDash val="solid"/>
          </a:ln>
        </p:spPr>
      </p:sp>
      <p:sp>
        <p:nvSpPr>
          <p:cNvPr id="6" name="Text 3"/>
          <p:cNvSpPr txBox="1"/>
          <p:nvPr/>
        </p:nvSpPr>
        <p:spPr>
          <a:xfrm>
            <a:off x="1097280" y="2240280"/>
            <a:ext cx="9966960" cy="411480"/>
          </a:xfrm>
          <a:prstGeom prst="rect">
            <a:avLst/>
          </a:prstGeom>
          <a:noFill/>
          <a:ln/>
        </p:spPr>
        <p:txBody>
          <a:bodyPr wrap="square" lIns="0" tIns="0" rIns="0" bIns="0" rtlCol="0" anchor="ctr"/>
          <a:lstStyle/>
          <a:p>
            <a:pPr marL="0" indent="0">
              <a:buNone/>
            </a:pPr>
            <a:r>
              <a:rPr lang="en-US" sz="1600" b="1" kern="0" spc="300" dirty="0">
                <a:solidFill>
                  <a:srgbClr val="0E7C86"/>
                </a:solidFill>
                <a:latin typeface="Calibri" pitchFamily="34" charset="0"/>
                <a:ea typeface="Calibri" pitchFamily="34" charset="-122"/>
                <a:cs typeface="Calibri" pitchFamily="34" charset="-120"/>
              </a:rPr>
              <a:t>ĐỒ ÁN TỐT NGHIỆP</a:t>
            </a:r>
            <a:endParaRPr lang="en-US" sz="1600" dirty="0"/>
          </a:p>
        </p:txBody>
      </p:sp>
      <p:sp>
        <p:nvSpPr>
          <p:cNvPr id="7" name="Text 4"/>
          <p:cNvSpPr txBox="1"/>
          <p:nvPr/>
        </p:nvSpPr>
        <p:spPr>
          <a:xfrm>
            <a:off x="1097280" y="2697480"/>
            <a:ext cx="9966960" cy="1463040"/>
          </a:xfrm>
          <a:prstGeom prst="rect">
            <a:avLst/>
          </a:prstGeom>
          <a:noFill/>
          <a:ln/>
        </p:spPr>
        <p:txBody>
          <a:bodyPr wrap="square" lIns="0" tIns="0" rIns="0" bIns="0" rtlCol="0" anchor="t"/>
          <a:lstStyle/>
          <a:p>
            <a:pPr marL="0" indent="0">
              <a:buNone/>
            </a:pPr>
            <a:r>
              <a:rPr lang="en-US" sz="3800" b="1" dirty="0">
                <a:solidFill>
                  <a:srgbClr val="14284B"/>
                </a:solidFill>
                <a:latin typeface="Cambria" pitchFamily="34" charset="0"/>
                <a:ea typeface="Cambria" pitchFamily="34" charset="-122"/>
                <a:cs typeface="Cambria" pitchFamily="34" charset="-120"/>
              </a:rPr>
              <a:t>XÂY DỰNG HỆ THỐNG QUẢN LÝ BẰNG SỐ</a:t>
            </a:r>
            <a:endParaRPr lang="en-US" sz="3800" dirty="0"/>
          </a:p>
          <a:p>
            <a:pPr marL="0" indent="0">
              <a:buNone/>
            </a:pPr>
            <a:r>
              <a:rPr lang="en-US" sz="3800" b="1" dirty="0">
                <a:solidFill>
                  <a:srgbClr val="14284B"/>
                </a:solidFill>
                <a:latin typeface="Cambria" pitchFamily="34" charset="0"/>
                <a:ea typeface="Cambria" pitchFamily="34" charset="-122"/>
                <a:cs typeface="Cambria" pitchFamily="34" charset="-120"/>
              </a:rPr>
              <a:t>SỬ DỤNG KÝ SỐ HẬU LƯỢNG TỬ</a:t>
            </a:r>
            <a:endParaRPr lang="en-US" sz="3800" dirty="0"/>
          </a:p>
        </p:txBody>
      </p:sp>
      <p:sp>
        <p:nvSpPr>
          <p:cNvPr id="8" name="Text 5"/>
          <p:cNvSpPr txBox="1"/>
          <p:nvPr/>
        </p:nvSpPr>
        <p:spPr>
          <a:xfrm>
            <a:off x="1097280" y="4224528"/>
            <a:ext cx="9966960" cy="365760"/>
          </a:xfrm>
          <a:prstGeom prst="rect">
            <a:avLst/>
          </a:prstGeom>
          <a:noFill/>
          <a:ln/>
        </p:spPr>
        <p:txBody>
          <a:bodyPr wrap="square" lIns="0" tIns="0" rIns="0" bIns="0" rtlCol="0" anchor="ctr"/>
          <a:lstStyle/>
          <a:p>
            <a:pPr marL="0" indent="0">
              <a:buNone/>
            </a:pPr>
            <a:r>
              <a:rPr lang="en-US" sz="1600" dirty="0">
                <a:solidFill>
                  <a:srgbClr val="5B6472"/>
                </a:solidFill>
                <a:latin typeface="Calibri" pitchFamily="34" charset="0"/>
                <a:ea typeface="Calibri" pitchFamily="34" charset="-122"/>
                <a:cs typeface="Calibri" pitchFamily="34" charset="-120"/>
              </a:rPr>
              <a:t>Ngành: Công nghệ thông tin</a:t>
            </a:r>
            <a:endParaRPr lang="en-US" sz="1600" dirty="0"/>
          </a:p>
        </p:txBody>
      </p:sp>
      <p:sp>
        <p:nvSpPr>
          <p:cNvPr id="9" name="Text 6"/>
          <p:cNvSpPr txBox="1"/>
          <p:nvPr/>
        </p:nvSpPr>
        <p:spPr>
          <a:xfrm>
            <a:off x="1097280" y="4937760"/>
            <a:ext cx="7315200" cy="777240"/>
          </a:xfrm>
          <a:prstGeom prst="rect">
            <a:avLst/>
          </a:prstGeom>
          <a:noFill/>
          <a:ln/>
        </p:spPr>
        <p:txBody>
          <a:bodyPr wrap="square" lIns="0" tIns="0" rIns="0" bIns="0" rtlCol="0" anchor="t"/>
          <a:lstStyle/>
          <a:p>
            <a:pPr marL="0" indent="0">
              <a:spcAft>
                <a:spcPts val="600"/>
              </a:spcAft>
              <a:buNone/>
            </a:pPr>
            <a:r>
              <a:rPr lang="en-US" sz="1600" dirty="0">
                <a:solidFill>
                  <a:srgbClr val="5B6472"/>
                </a:solidFill>
                <a:latin typeface="Calibri" pitchFamily="34" charset="0"/>
                <a:ea typeface="Calibri" pitchFamily="34" charset="-122"/>
                <a:cs typeface="Calibri" pitchFamily="34" charset="-120"/>
              </a:rPr>
              <a:t>Sinh viên thực hiện:  </a:t>
            </a:r>
            <a:r>
              <a:rPr lang="en-US" sz="1600" b="1" dirty="0">
                <a:solidFill>
                  <a:srgbClr val="14284B"/>
                </a:solidFill>
                <a:latin typeface="Calibri" pitchFamily="34" charset="0"/>
                <a:ea typeface="Calibri" pitchFamily="34" charset="-122"/>
                <a:cs typeface="Calibri" pitchFamily="34" charset="-120"/>
              </a:rPr>
              <a:t>Đặng Kim Khánh  –  CT060318</a:t>
            </a:r>
            <a:endParaRPr lang="en-US" sz="1600" dirty="0"/>
          </a:p>
          <a:p>
            <a:pPr marL="0" indent="0">
              <a:spcAft>
                <a:spcPts val="600"/>
              </a:spcAft>
              <a:buNone/>
            </a:pPr>
            <a:r>
              <a:rPr lang="en-US" sz="1600" dirty="0">
                <a:solidFill>
                  <a:srgbClr val="5B6472"/>
                </a:solidFill>
                <a:latin typeface="Calibri" pitchFamily="34" charset="0"/>
                <a:ea typeface="Calibri" pitchFamily="34" charset="-122"/>
                <a:cs typeface="Calibri" pitchFamily="34" charset="-120"/>
              </a:rPr>
              <a:t>Giảng viên hướng dẫn:  </a:t>
            </a:r>
            <a:r>
              <a:rPr lang="en-US" sz="1600" b="1" dirty="0">
                <a:solidFill>
                  <a:srgbClr val="14284B"/>
                </a:solidFill>
                <a:latin typeface="Calibri" pitchFamily="34" charset="0"/>
                <a:ea typeface="Calibri" pitchFamily="34" charset="-122"/>
                <a:cs typeface="Calibri" pitchFamily="34" charset="-120"/>
              </a:rPr>
              <a:t>TS. Phạm Văn Hưởng</a:t>
            </a:r>
            <a:endParaRPr lang="en-US" sz="1600" dirty="0"/>
          </a:p>
        </p:txBody>
      </p:sp>
      <p:sp>
        <p:nvSpPr>
          <p:cNvPr id="10" name="Text 7"/>
          <p:cNvSpPr txBox="1"/>
          <p:nvPr/>
        </p:nvSpPr>
        <p:spPr>
          <a:xfrm>
            <a:off x="8503920" y="5760720"/>
            <a:ext cx="2560320" cy="365760"/>
          </a:xfrm>
          <a:prstGeom prst="rect">
            <a:avLst/>
          </a:prstGeom>
          <a:noFill/>
          <a:ln/>
        </p:spPr>
        <p:txBody>
          <a:bodyPr wrap="square" lIns="0" tIns="0" rIns="0" bIns="0" rtlCol="0" anchor="ctr"/>
          <a:lstStyle/>
          <a:p>
            <a:pPr marL="0" indent="0" algn="r">
              <a:buNone/>
            </a:pPr>
            <a:r>
              <a:rPr lang="en-US" sz="1400" dirty="0">
                <a:solidFill>
                  <a:srgbClr val="5B6472"/>
                </a:solidFill>
                <a:latin typeface="Calibri" pitchFamily="34" charset="0"/>
                <a:ea typeface="Calibri" pitchFamily="34" charset="-122"/>
                <a:cs typeface="Calibri" pitchFamily="34" charset="-120"/>
              </a:rPr>
              <a:t>Hà Nội, 2026</a:t>
            </a:r>
            <a:endParaRPr lang="en-US" sz="14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6EDF5"/>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150" dirty="0">
                <a:solidFill>
                  <a:srgbClr val="0E7C86"/>
                </a:solidFill>
                <a:latin typeface="Calibri" pitchFamily="34" charset="0"/>
                <a:ea typeface="Calibri" pitchFamily="34" charset="-122"/>
                <a:cs typeface="Calibri" pitchFamily="34" charset="-120"/>
              </a:rPr>
              <a:t>TỔNG QUAN</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14284B"/>
                </a:solidFill>
                <a:latin typeface="Cambria" pitchFamily="34" charset="0"/>
                <a:ea typeface="Cambria" pitchFamily="34" charset="-122"/>
                <a:cs typeface="Cambria" pitchFamily="34" charset="-120"/>
              </a:rPr>
              <a:t>Nội dung trình bày</a:t>
            </a:r>
            <a:endParaRPr lang="en-US" sz="28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Đặng Kim Khánh · CT060318 · Hệ thống quản lý bằng số sử dụng ký số hậu lượng tử</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2 / 25</a:t>
            </a:r>
            <a:endParaRPr lang="en-US" sz="1000" dirty="0"/>
          </a:p>
        </p:txBody>
      </p:sp>
      <p:sp>
        <p:nvSpPr>
          <p:cNvPr id="7" name="A1_bg"/>
          <p:cNvSpPr/>
          <p:nvPr/>
        </p:nvSpPr>
        <p:spPr>
          <a:xfrm>
            <a:off x="548640" y="1600200"/>
            <a:ext cx="5440680" cy="1188720"/>
          </a:xfrm>
          <a:prstGeom prst="roundRect">
            <a:avLst>
              <a:gd name="adj" fmla="val 6154"/>
            </a:avLst>
          </a:prstGeom>
          <a:solidFill>
            <a:srgbClr val="FFFFFF"/>
          </a:solidFill>
          <a:ln w="12700">
            <a:solidFill>
              <a:srgbClr val="FFFFFF"/>
            </a:solidFill>
            <a:prstDash val="solid"/>
          </a:ln>
        </p:spPr>
      </p:sp>
      <p:sp>
        <p:nvSpPr>
          <p:cNvPr id="8" name="A1_n"/>
          <p:cNvSpPr/>
          <p:nvPr/>
        </p:nvSpPr>
        <p:spPr>
          <a:xfrm>
            <a:off x="822960" y="1920240"/>
            <a:ext cx="548640" cy="548640"/>
          </a:xfrm>
          <a:prstGeom prst="ellipse">
            <a:avLst/>
          </a:prstGeom>
          <a:solidFill>
            <a:srgbClr val="14284B"/>
          </a:solidFill>
          <a:ln>
            <a:solidFill>
              <a:srgbClr val="14284B"/>
            </a:solid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A1_t"/>
          <p:cNvSpPr/>
          <p:nvPr/>
        </p:nvSpPr>
        <p:spPr>
          <a:xfrm>
            <a:off x="1600200" y="1737360"/>
            <a:ext cx="4206240" cy="914400"/>
          </a:xfrm>
          <a:prstGeom prst="rect">
            <a:avLst/>
          </a:prstGeom>
          <a:noFill/>
          <a:ln/>
        </p:spPr>
        <p:txBody>
          <a:bodyPr wrap="square" lIns="0" tIns="0" rIns="0" bIns="0" rtlCol="0" anchor="ctr"/>
          <a:lstStyle/>
          <a:p>
            <a:pPr marL="0" indent="0">
              <a:buNone/>
            </a:pPr>
            <a:r>
              <a:rPr lang="en-US" sz="1800" b="1" dirty="0">
                <a:solidFill>
                  <a:srgbClr val="14284B"/>
                </a:solidFill>
                <a:latin typeface="Cambria" pitchFamily="34" charset="0"/>
                <a:ea typeface="Cambria" pitchFamily="34" charset="-122"/>
                <a:cs typeface="Cambria" pitchFamily="34" charset="-120"/>
              </a:rPr>
              <a:t>Giới thiệu đề tài</a:t>
            </a:r>
            <a:endParaRPr lang="en-US" sz="1800" dirty="0"/>
          </a:p>
          <a:p>
            <a:pPr marL="0" indent="0">
              <a:buNone/>
            </a:pPr>
            <a:r>
              <a:rPr lang="en-US" sz="1400" dirty="0">
                <a:solidFill>
                  <a:srgbClr val="5B6472"/>
                </a:solidFill>
                <a:latin typeface="Calibri" pitchFamily="34" charset="0"/>
                <a:ea typeface="Calibri" pitchFamily="34" charset="-122"/>
                <a:cs typeface="Calibri" pitchFamily="34" charset="-120"/>
              </a:rPr>
              <a:t>Bối cảnh, mục tiêu, phạm vi</a:t>
            </a:r>
            <a:endParaRPr lang="en-US" sz="1800" dirty="0"/>
          </a:p>
        </p:txBody>
      </p:sp>
      <p:sp>
        <p:nvSpPr>
          <p:cNvPr id="10" name="A2_bg"/>
          <p:cNvSpPr/>
          <p:nvPr/>
        </p:nvSpPr>
        <p:spPr>
          <a:xfrm>
            <a:off x="6172200" y="1600200"/>
            <a:ext cx="5440680" cy="1188720"/>
          </a:xfrm>
          <a:prstGeom prst="roundRect">
            <a:avLst>
              <a:gd name="adj" fmla="val 6154"/>
            </a:avLst>
          </a:prstGeom>
          <a:solidFill>
            <a:srgbClr val="FFFFFF"/>
          </a:solidFill>
          <a:ln w="12700">
            <a:solidFill>
              <a:srgbClr val="FFFFFF"/>
            </a:solidFill>
            <a:prstDash val="solid"/>
          </a:ln>
        </p:spPr>
      </p:sp>
      <p:sp>
        <p:nvSpPr>
          <p:cNvPr id="11" name="A2_n"/>
          <p:cNvSpPr/>
          <p:nvPr/>
        </p:nvSpPr>
        <p:spPr>
          <a:xfrm>
            <a:off x="6446520" y="1920240"/>
            <a:ext cx="548640" cy="548640"/>
          </a:xfrm>
          <a:prstGeom prst="ellipse">
            <a:avLst/>
          </a:prstGeom>
          <a:solidFill>
            <a:srgbClr val="14284B"/>
          </a:solidFill>
          <a:ln>
            <a:solidFill>
              <a:srgbClr val="14284B"/>
            </a:solid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A2_t"/>
          <p:cNvSpPr/>
          <p:nvPr/>
        </p:nvSpPr>
        <p:spPr>
          <a:xfrm>
            <a:off x="7223760" y="1737360"/>
            <a:ext cx="4206240" cy="914400"/>
          </a:xfrm>
          <a:prstGeom prst="rect">
            <a:avLst/>
          </a:prstGeom>
          <a:noFill/>
          <a:ln/>
        </p:spPr>
        <p:txBody>
          <a:bodyPr wrap="square" lIns="0" tIns="0" rIns="0" bIns="0" rtlCol="0" anchor="ctr"/>
          <a:lstStyle/>
          <a:p>
            <a:pPr marL="0" indent="0">
              <a:buNone/>
            </a:pPr>
            <a:r>
              <a:rPr lang="en-US" sz="1800" b="1" dirty="0">
                <a:solidFill>
                  <a:srgbClr val="14284B"/>
                </a:solidFill>
                <a:latin typeface="Cambria" pitchFamily="34" charset="0"/>
                <a:ea typeface="Cambria" pitchFamily="34" charset="-122"/>
                <a:cs typeface="Cambria" pitchFamily="34" charset="-120"/>
              </a:rPr>
              <a:t>Công nghệ và kiến trúc</a:t>
            </a:r>
            <a:endParaRPr lang="en-US" sz="1800" dirty="0"/>
          </a:p>
          <a:p>
            <a:pPr marL="0" indent="0">
              <a:buNone/>
            </a:pPr>
            <a:r>
              <a:rPr lang="en-US" sz="1400" dirty="0">
                <a:solidFill>
                  <a:srgbClr val="5B6472"/>
                </a:solidFill>
                <a:latin typeface="Calibri" pitchFamily="34" charset="0"/>
                <a:ea typeface="Calibri" pitchFamily="34" charset="-122"/>
                <a:cs typeface="Calibri" pitchFamily="34" charset="-120"/>
              </a:rPr>
              <a:t>Mô hình bài toán, giải pháp công nghệ</a:t>
            </a:r>
            <a:endParaRPr lang="en-US" sz="1800" dirty="0"/>
          </a:p>
        </p:txBody>
      </p:sp>
      <p:sp>
        <p:nvSpPr>
          <p:cNvPr id="13" name="A3_bg"/>
          <p:cNvSpPr/>
          <p:nvPr/>
        </p:nvSpPr>
        <p:spPr>
          <a:xfrm>
            <a:off x="548640" y="3063240"/>
            <a:ext cx="5440680" cy="1188720"/>
          </a:xfrm>
          <a:prstGeom prst="roundRect">
            <a:avLst>
              <a:gd name="adj" fmla="val 6154"/>
            </a:avLst>
          </a:prstGeom>
          <a:solidFill>
            <a:srgbClr val="FFFFFF"/>
          </a:solidFill>
          <a:ln w="12700">
            <a:solidFill>
              <a:srgbClr val="FFFFFF"/>
            </a:solidFill>
            <a:prstDash val="solid"/>
          </a:ln>
        </p:spPr>
      </p:sp>
      <p:sp>
        <p:nvSpPr>
          <p:cNvPr id="14" name="A3_n"/>
          <p:cNvSpPr/>
          <p:nvPr/>
        </p:nvSpPr>
        <p:spPr>
          <a:xfrm>
            <a:off x="822960" y="3383280"/>
            <a:ext cx="548640" cy="548640"/>
          </a:xfrm>
          <a:prstGeom prst="ellipse">
            <a:avLst/>
          </a:prstGeom>
          <a:solidFill>
            <a:srgbClr val="14284B"/>
          </a:solidFill>
          <a:ln>
            <a:solidFill>
              <a:srgbClr val="14284B"/>
            </a:solid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A3_t"/>
          <p:cNvSpPr/>
          <p:nvPr/>
        </p:nvSpPr>
        <p:spPr>
          <a:xfrm>
            <a:off x="1600200" y="3200400"/>
            <a:ext cx="4206240" cy="914400"/>
          </a:xfrm>
          <a:prstGeom prst="rect">
            <a:avLst/>
          </a:prstGeom>
          <a:noFill/>
          <a:ln/>
        </p:spPr>
        <p:txBody>
          <a:bodyPr wrap="square" lIns="0" tIns="0" rIns="0" bIns="0" rtlCol="0" anchor="ctr"/>
          <a:lstStyle/>
          <a:p>
            <a:pPr marL="0" indent="0">
              <a:buNone/>
            </a:pPr>
            <a:r>
              <a:rPr lang="en-US" sz="1800" b="1" dirty="0">
                <a:solidFill>
                  <a:srgbClr val="14284B"/>
                </a:solidFill>
                <a:latin typeface="Cambria" pitchFamily="34" charset="0"/>
                <a:ea typeface="Cambria" pitchFamily="34" charset="-122"/>
                <a:cs typeface="Cambria" pitchFamily="34" charset="-120"/>
              </a:rPr>
              <a:t>Phân tích, thiết kế hệ thống</a:t>
            </a:r>
            <a:endParaRPr lang="en-US" sz="1800" dirty="0"/>
          </a:p>
          <a:p>
            <a:pPr marL="0" indent="0">
              <a:buNone/>
            </a:pPr>
            <a:r>
              <a:rPr lang="en-US" sz="1400" dirty="0">
                <a:solidFill>
                  <a:srgbClr val="5B6472"/>
                </a:solidFill>
                <a:latin typeface="Calibri" pitchFamily="34" charset="0"/>
                <a:ea typeface="Calibri" pitchFamily="34" charset="-122"/>
                <a:cs typeface="Calibri" pitchFamily="34" charset="-120"/>
              </a:rPr>
              <a:t>Tác nhân, use case, tuần tự, cơ sở dữ liệu</a:t>
            </a:r>
            <a:endParaRPr lang="en-US" sz="1800" dirty="0"/>
          </a:p>
        </p:txBody>
      </p:sp>
      <p:sp>
        <p:nvSpPr>
          <p:cNvPr id="16" name="A4_bg"/>
          <p:cNvSpPr/>
          <p:nvPr/>
        </p:nvSpPr>
        <p:spPr>
          <a:xfrm>
            <a:off x="6172200" y="3063240"/>
            <a:ext cx="5440680" cy="1188720"/>
          </a:xfrm>
          <a:prstGeom prst="roundRect">
            <a:avLst>
              <a:gd name="adj" fmla="val 6154"/>
            </a:avLst>
          </a:prstGeom>
          <a:solidFill>
            <a:srgbClr val="FFFFFF"/>
          </a:solidFill>
          <a:ln w="12700">
            <a:solidFill>
              <a:srgbClr val="FFFFFF"/>
            </a:solidFill>
            <a:prstDash val="solid"/>
          </a:ln>
        </p:spPr>
      </p:sp>
      <p:sp>
        <p:nvSpPr>
          <p:cNvPr id="17" name="A4_n"/>
          <p:cNvSpPr/>
          <p:nvPr/>
        </p:nvSpPr>
        <p:spPr>
          <a:xfrm>
            <a:off x="6446520" y="3383280"/>
            <a:ext cx="548640" cy="548640"/>
          </a:xfrm>
          <a:prstGeom prst="ellipse">
            <a:avLst/>
          </a:prstGeom>
          <a:solidFill>
            <a:srgbClr val="14284B"/>
          </a:solidFill>
          <a:ln>
            <a:solidFill>
              <a:srgbClr val="14284B"/>
            </a:solid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8" name="A4_t"/>
          <p:cNvSpPr/>
          <p:nvPr/>
        </p:nvSpPr>
        <p:spPr>
          <a:xfrm>
            <a:off x="7223760" y="3200400"/>
            <a:ext cx="4206240" cy="914400"/>
          </a:xfrm>
          <a:prstGeom prst="rect">
            <a:avLst/>
          </a:prstGeom>
          <a:noFill/>
          <a:ln/>
        </p:spPr>
        <p:txBody>
          <a:bodyPr wrap="square" lIns="0" tIns="0" rIns="0" bIns="0" rtlCol="0" anchor="ctr"/>
          <a:lstStyle/>
          <a:p>
            <a:pPr marL="0" indent="0">
              <a:buNone/>
            </a:pPr>
            <a:r>
              <a:rPr lang="en-US" sz="1800" b="1" dirty="0">
                <a:solidFill>
                  <a:srgbClr val="14284B"/>
                </a:solidFill>
                <a:latin typeface="Cambria" pitchFamily="34" charset="0"/>
                <a:ea typeface="Cambria" pitchFamily="34" charset="-122"/>
                <a:cs typeface="Cambria" pitchFamily="34" charset="-120"/>
              </a:rPr>
              <a:t>Ký số hậu lượng tử</a:t>
            </a:r>
            <a:endParaRPr lang="en-US" sz="1800" dirty="0"/>
          </a:p>
          <a:p>
            <a:pPr marL="0" indent="0">
              <a:buNone/>
            </a:pPr>
            <a:r>
              <a:rPr lang="en-US" sz="1400" dirty="0">
                <a:solidFill>
                  <a:srgbClr val="5B6472"/>
                </a:solidFill>
                <a:latin typeface="Calibri" pitchFamily="34" charset="0"/>
                <a:ea typeface="Calibri" pitchFamily="34" charset="-122"/>
                <a:cs typeface="Calibri" pitchFamily="34" charset="-120"/>
              </a:rPr>
              <a:t>ML-DSA, manifest, vòng đời khóa, Merkle, Fabric</a:t>
            </a:r>
            <a:endParaRPr lang="en-US" sz="1800" dirty="0"/>
          </a:p>
        </p:txBody>
      </p:sp>
      <p:sp>
        <p:nvSpPr>
          <p:cNvPr id="19" name="A5_bg"/>
          <p:cNvSpPr/>
          <p:nvPr/>
        </p:nvSpPr>
        <p:spPr>
          <a:xfrm>
            <a:off x="548640" y="4526280"/>
            <a:ext cx="5440680" cy="1188720"/>
          </a:xfrm>
          <a:prstGeom prst="roundRect">
            <a:avLst>
              <a:gd name="adj" fmla="val 6154"/>
            </a:avLst>
          </a:prstGeom>
          <a:solidFill>
            <a:srgbClr val="FFFFFF"/>
          </a:solidFill>
          <a:ln w="12700">
            <a:solidFill>
              <a:srgbClr val="FFFFFF"/>
            </a:solidFill>
            <a:prstDash val="solid"/>
          </a:ln>
        </p:spPr>
      </p:sp>
      <p:sp>
        <p:nvSpPr>
          <p:cNvPr id="20" name="A5_n"/>
          <p:cNvSpPr/>
          <p:nvPr/>
        </p:nvSpPr>
        <p:spPr>
          <a:xfrm>
            <a:off x="822960" y="4846320"/>
            <a:ext cx="548640" cy="548640"/>
          </a:xfrm>
          <a:prstGeom prst="ellipse">
            <a:avLst/>
          </a:prstGeom>
          <a:solidFill>
            <a:srgbClr val="14284B"/>
          </a:solidFill>
          <a:ln>
            <a:solidFill>
              <a:srgbClr val="14284B"/>
            </a:solid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1" name="A5_t"/>
          <p:cNvSpPr/>
          <p:nvPr/>
        </p:nvSpPr>
        <p:spPr>
          <a:xfrm>
            <a:off x="1600200" y="4663440"/>
            <a:ext cx="4206240" cy="914400"/>
          </a:xfrm>
          <a:prstGeom prst="rect">
            <a:avLst/>
          </a:prstGeom>
          <a:noFill/>
          <a:ln/>
        </p:spPr>
        <p:txBody>
          <a:bodyPr wrap="square" lIns="0" tIns="0" rIns="0" bIns="0" rtlCol="0" anchor="ctr"/>
          <a:lstStyle/>
          <a:p>
            <a:pPr marL="0" indent="0">
              <a:buNone/>
            </a:pPr>
            <a:r>
              <a:rPr lang="en-US" sz="1800" b="1" dirty="0">
                <a:solidFill>
                  <a:srgbClr val="14284B"/>
                </a:solidFill>
                <a:latin typeface="Cambria" pitchFamily="34" charset="0"/>
                <a:ea typeface="Cambria" pitchFamily="34" charset="-122"/>
                <a:cs typeface="Cambria" pitchFamily="34" charset="-120"/>
              </a:rPr>
              <a:t>Xây dựng và thử nghiệm</a:t>
            </a:r>
            <a:endParaRPr lang="en-US" sz="1800" dirty="0"/>
          </a:p>
          <a:p>
            <a:pPr marL="0" indent="0">
              <a:buNone/>
            </a:pPr>
            <a:r>
              <a:rPr lang="en-US" sz="1400" dirty="0">
                <a:solidFill>
                  <a:srgbClr val="5B6472"/>
                </a:solidFill>
                <a:latin typeface="Calibri" pitchFamily="34" charset="0"/>
                <a:ea typeface="Calibri" pitchFamily="34" charset="-122"/>
                <a:cs typeface="Calibri" pitchFamily="34" charset="-120"/>
              </a:rPr>
              <a:t>Triển khai, giao diện, kiểm thử, hiệu năng</a:t>
            </a:r>
            <a:endParaRPr lang="en-US" sz="1800" dirty="0"/>
          </a:p>
        </p:txBody>
      </p:sp>
      <p:sp>
        <p:nvSpPr>
          <p:cNvPr id="22" name="A6_bg"/>
          <p:cNvSpPr/>
          <p:nvPr/>
        </p:nvSpPr>
        <p:spPr>
          <a:xfrm>
            <a:off x="6172200" y="4526280"/>
            <a:ext cx="5440680" cy="1188720"/>
          </a:xfrm>
          <a:prstGeom prst="roundRect">
            <a:avLst>
              <a:gd name="adj" fmla="val 6154"/>
            </a:avLst>
          </a:prstGeom>
          <a:solidFill>
            <a:srgbClr val="FFFFFF"/>
          </a:solidFill>
          <a:ln w="12700">
            <a:solidFill>
              <a:srgbClr val="FFFFFF"/>
            </a:solidFill>
            <a:prstDash val="solid"/>
          </a:ln>
        </p:spPr>
      </p:sp>
      <p:sp>
        <p:nvSpPr>
          <p:cNvPr id="23" name="A6_n"/>
          <p:cNvSpPr/>
          <p:nvPr/>
        </p:nvSpPr>
        <p:spPr>
          <a:xfrm>
            <a:off x="6446520" y="4846320"/>
            <a:ext cx="548640" cy="548640"/>
          </a:xfrm>
          <a:prstGeom prst="ellipse">
            <a:avLst/>
          </a:prstGeom>
          <a:solidFill>
            <a:srgbClr val="14284B"/>
          </a:solidFill>
          <a:ln>
            <a:solidFill>
              <a:srgbClr val="14284B"/>
            </a:solid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24" name="A6_t"/>
          <p:cNvSpPr/>
          <p:nvPr/>
        </p:nvSpPr>
        <p:spPr>
          <a:xfrm>
            <a:off x="7223760" y="4663440"/>
            <a:ext cx="4206240" cy="914400"/>
          </a:xfrm>
          <a:prstGeom prst="rect">
            <a:avLst/>
          </a:prstGeom>
          <a:noFill/>
          <a:ln/>
        </p:spPr>
        <p:txBody>
          <a:bodyPr wrap="square" lIns="0" tIns="0" rIns="0" bIns="0" rtlCol="0" anchor="ctr"/>
          <a:lstStyle/>
          <a:p>
            <a:pPr marL="0" indent="0">
              <a:buNone/>
            </a:pPr>
            <a:r>
              <a:rPr lang="en-US" sz="1800" b="1" dirty="0">
                <a:solidFill>
                  <a:srgbClr val="14284B"/>
                </a:solidFill>
                <a:latin typeface="Cambria" pitchFamily="34" charset="0"/>
                <a:ea typeface="Cambria" pitchFamily="34" charset="-122"/>
                <a:cs typeface="Cambria" pitchFamily="34" charset="-120"/>
              </a:rPr>
              <a:t>Kết luận</a:t>
            </a:r>
            <a:endParaRPr lang="en-US" sz="1800" dirty="0"/>
          </a:p>
          <a:p>
            <a:pPr marL="0" indent="0">
              <a:buNone/>
            </a:pPr>
            <a:r>
              <a:rPr lang="en-US" sz="1400" dirty="0">
                <a:solidFill>
                  <a:srgbClr val="5B6472"/>
                </a:solidFill>
                <a:latin typeface="Calibri" pitchFamily="34" charset="0"/>
                <a:ea typeface="Calibri" pitchFamily="34" charset="-122"/>
                <a:cs typeface="Calibri" pitchFamily="34" charset="-120"/>
              </a:rPr>
              <a:t>Kết quả, hạn chế, hướng phát triển</a:t>
            </a:r>
            <a:endParaRPr lang="en-US" sz="18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4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00"/>
                                        <p:tgtEl>
                                          <p:spTgt spid="21"/>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00"/>
                                        <p:tgtEl>
                                          <p:spTgt spid="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400"/>
                                        <p:tgtEl>
                                          <p:spTgt spid="2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4" grpId="0" animBg="1"/>
      <p:bldP spid="15" grpId="0" animBg="1"/>
      <p:bldP spid="17" grpId="0" animBg="1"/>
      <p:bldP spid="18" grpId="0" animBg="1"/>
      <p:bldP spid="20" grpId="0" animBg="1"/>
      <p:bldP spid="21" grpId="0" animBg="1"/>
      <p:bldP spid="23" grpId="0" animBg="1"/>
      <p:bldP spid="2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6EDF5"/>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150" dirty="0">
                <a:solidFill>
                  <a:srgbClr val="0E7C86"/>
                </a:solidFill>
                <a:latin typeface="Calibri" pitchFamily="34" charset="0"/>
                <a:ea typeface="Calibri" pitchFamily="34" charset="-122"/>
                <a:cs typeface="Calibri" pitchFamily="34" charset="-120"/>
              </a:rPr>
              <a:t>PHẦN 1 · GIỚI THIỆU</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14284B"/>
                </a:solidFill>
                <a:latin typeface="Cambria" pitchFamily="34" charset="0"/>
                <a:ea typeface="Cambria" pitchFamily="34" charset="-122"/>
                <a:cs typeface="Cambria" pitchFamily="34" charset="-120"/>
              </a:rPr>
              <a:t>Giới thiệu đề tài</a:t>
            </a:r>
            <a:endParaRPr lang="en-US" sz="28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Đặng Kim Khánh · CT060318 · Hệ thống quản lý bằng số sử dụng ký số hậu lượng tử</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3 / 25</a:t>
            </a:r>
            <a:endParaRPr lang="en-US" sz="1000" dirty="0"/>
          </a:p>
        </p:txBody>
      </p:sp>
      <p:sp>
        <p:nvSpPr>
          <p:cNvPr id="7" name="A1_bg"/>
          <p:cNvSpPr/>
          <p:nvPr/>
        </p:nvSpPr>
        <p:spPr>
          <a:xfrm>
            <a:off x="548640" y="1508760"/>
            <a:ext cx="3566160" cy="3840480"/>
          </a:xfrm>
          <a:prstGeom prst="roundRect">
            <a:avLst>
              <a:gd name="adj" fmla="val 2051"/>
            </a:avLst>
          </a:prstGeom>
          <a:solidFill>
            <a:srgbClr val="FFFFFF"/>
          </a:solidFill>
          <a:ln w="12700">
            <a:solidFill>
              <a:srgbClr val="FFFFFF"/>
            </a:solidFill>
            <a:prstDash val="solid"/>
          </a:ln>
        </p:spPr>
      </p:sp>
      <p:sp>
        <p:nvSpPr>
          <p:cNvPr id="8" name="A1_c"/>
          <p:cNvSpPr/>
          <p:nvPr/>
        </p:nvSpPr>
        <p:spPr>
          <a:xfrm>
            <a:off x="777240" y="1737360"/>
            <a:ext cx="502920" cy="502920"/>
          </a:xfrm>
          <a:prstGeom prst="ellipse">
            <a:avLst/>
          </a:prstGeom>
          <a:solidFill>
            <a:srgbClr val="14284B"/>
          </a:solidFill>
          <a:ln w="12700">
            <a:solidFill>
              <a:srgbClr val="14284B"/>
            </a:solidFill>
            <a:prstDash val="solid"/>
          </a:ln>
        </p:spPr>
      </p:sp>
      <p:pic>
        <p:nvPicPr>
          <p:cNvPr id="9" name="A1_i" descr="preencoded.png"/>
          <p:cNvPicPr>
            <a:picLocks noChangeAspect="1"/>
          </p:cNvPicPr>
          <p:nvPr/>
        </p:nvPicPr>
        <p:blipFill>
          <a:blip r:embed="rId3"/>
          <a:stretch>
            <a:fillRect/>
          </a:stretch>
        </p:blipFill>
        <p:spPr>
          <a:xfrm>
            <a:off x="907999" y="1868119"/>
            <a:ext cx="241402" cy="241402"/>
          </a:xfrm>
          <a:prstGeom prst="rect">
            <a:avLst/>
          </a:prstGeom>
        </p:spPr>
      </p:pic>
      <p:sp>
        <p:nvSpPr>
          <p:cNvPr id="10" name="A1_h"/>
          <p:cNvSpPr/>
          <p:nvPr/>
        </p:nvSpPr>
        <p:spPr>
          <a:xfrm>
            <a:off x="1417320" y="1737360"/>
            <a:ext cx="2514600" cy="502920"/>
          </a:xfrm>
          <a:prstGeom prst="rect">
            <a:avLst/>
          </a:prstGeom>
          <a:noFill/>
          <a:ln/>
        </p:spPr>
        <p:txBody>
          <a:bodyPr wrap="square" lIns="0" tIns="0" rIns="0" bIns="0" rtlCol="0" anchor="ctr"/>
          <a:lstStyle/>
          <a:p>
            <a:pPr marL="0" indent="0">
              <a:buNone/>
            </a:pPr>
            <a:r>
              <a:rPr lang="en-US" sz="1700" b="1" dirty="0">
                <a:solidFill>
                  <a:srgbClr val="14284B"/>
                </a:solidFill>
                <a:latin typeface="Cambria" pitchFamily="34" charset="0"/>
                <a:ea typeface="Cambria" pitchFamily="34" charset="-122"/>
                <a:cs typeface="Cambria" pitchFamily="34" charset="-120"/>
              </a:rPr>
              <a:t>Bối cảnh</a:t>
            </a:r>
            <a:endParaRPr lang="en-US" sz="1700" dirty="0"/>
          </a:p>
        </p:txBody>
      </p:sp>
      <p:sp>
        <p:nvSpPr>
          <p:cNvPr id="11" name="A1_t"/>
          <p:cNvSpPr/>
          <p:nvPr/>
        </p:nvSpPr>
        <p:spPr>
          <a:xfrm>
            <a:off x="777240" y="2377440"/>
            <a:ext cx="3154680" cy="283464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Văn bằng số cần chứng minh được nguồn gốc và tính toàn vẹn</a:t>
            </a:r>
            <a:endParaRPr lang="en-US" sz="1600" dirty="0"/>
          </a:p>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Tệp PDF lưu trên máy chủ không tự tạo ra sự tin cậy</a:t>
            </a:r>
            <a:endParaRPr lang="en-US" sz="1600" dirty="0"/>
          </a:p>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Thuật toán Shor trên máy tính lượng tử đe dọa RSA, ECDSA</a:t>
            </a:r>
            <a:endParaRPr lang="en-US" sz="1600" dirty="0"/>
          </a:p>
        </p:txBody>
      </p:sp>
      <p:sp>
        <p:nvSpPr>
          <p:cNvPr id="12" name="A2_bg"/>
          <p:cNvSpPr/>
          <p:nvPr/>
        </p:nvSpPr>
        <p:spPr>
          <a:xfrm>
            <a:off x="4315968" y="1508760"/>
            <a:ext cx="3566160" cy="3840480"/>
          </a:xfrm>
          <a:prstGeom prst="roundRect">
            <a:avLst>
              <a:gd name="adj" fmla="val 2051"/>
            </a:avLst>
          </a:prstGeom>
          <a:solidFill>
            <a:srgbClr val="FFFFFF"/>
          </a:solidFill>
          <a:ln w="12700">
            <a:solidFill>
              <a:srgbClr val="FFFFFF"/>
            </a:solidFill>
            <a:prstDash val="solid"/>
          </a:ln>
        </p:spPr>
      </p:sp>
      <p:sp>
        <p:nvSpPr>
          <p:cNvPr id="13" name="A2_c"/>
          <p:cNvSpPr/>
          <p:nvPr/>
        </p:nvSpPr>
        <p:spPr>
          <a:xfrm>
            <a:off x="4544568" y="1737360"/>
            <a:ext cx="502920" cy="502920"/>
          </a:xfrm>
          <a:prstGeom prst="ellipse">
            <a:avLst/>
          </a:prstGeom>
          <a:solidFill>
            <a:srgbClr val="14284B"/>
          </a:solidFill>
          <a:ln w="12700">
            <a:solidFill>
              <a:srgbClr val="14284B"/>
            </a:solidFill>
            <a:prstDash val="solid"/>
          </a:ln>
        </p:spPr>
      </p:sp>
      <p:pic>
        <p:nvPicPr>
          <p:cNvPr id="14" name="A2_i" descr="preencoded.png"/>
          <p:cNvPicPr>
            <a:picLocks noChangeAspect="1"/>
          </p:cNvPicPr>
          <p:nvPr/>
        </p:nvPicPr>
        <p:blipFill>
          <a:blip r:embed="rId4"/>
          <a:stretch>
            <a:fillRect/>
          </a:stretch>
        </p:blipFill>
        <p:spPr>
          <a:xfrm>
            <a:off x="4675327" y="1868119"/>
            <a:ext cx="241402" cy="241402"/>
          </a:xfrm>
          <a:prstGeom prst="rect">
            <a:avLst/>
          </a:prstGeom>
        </p:spPr>
      </p:pic>
      <p:sp>
        <p:nvSpPr>
          <p:cNvPr id="15" name="A2_h"/>
          <p:cNvSpPr/>
          <p:nvPr/>
        </p:nvSpPr>
        <p:spPr>
          <a:xfrm>
            <a:off x="5184648" y="1737360"/>
            <a:ext cx="2514600" cy="502920"/>
          </a:xfrm>
          <a:prstGeom prst="rect">
            <a:avLst/>
          </a:prstGeom>
          <a:noFill/>
          <a:ln/>
        </p:spPr>
        <p:txBody>
          <a:bodyPr wrap="square" lIns="0" tIns="0" rIns="0" bIns="0" rtlCol="0" anchor="ctr"/>
          <a:lstStyle/>
          <a:p>
            <a:pPr marL="0" indent="0">
              <a:buNone/>
            </a:pPr>
            <a:r>
              <a:rPr lang="en-US" sz="1700" b="1" dirty="0">
                <a:solidFill>
                  <a:srgbClr val="14284B"/>
                </a:solidFill>
                <a:latin typeface="Cambria" pitchFamily="34" charset="0"/>
                <a:ea typeface="Cambria" pitchFamily="34" charset="-122"/>
                <a:cs typeface="Cambria" pitchFamily="34" charset="-120"/>
              </a:rPr>
              <a:t>Mục tiêu</a:t>
            </a:r>
            <a:endParaRPr lang="en-US" sz="1700" dirty="0"/>
          </a:p>
        </p:txBody>
      </p:sp>
      <p:sp>
        <p:nvSpPr>
          <p:cNvPr id="16" name="A2_t"/>
          <p:cNvSpPr/>
          <p:nvPr/>
        </p:nvSpPr>
        <p:spPr>
          <a:xfrm>
            <a:off x="4544568" y="2377440"/>
            <a:ext cx="3154680" cy="283464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Ký văn bằng bằng ML-DSA (FIPS 204), ba bộ tham số</a:t>
            </a:r>
            <a:endParaRPr lang="en-US" sz="1600" dirty="0"/>
          </a:p>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Bảo vệ khóa bí mật bằng AES-256-GCM</a:t>
            </a:r>
            <a:endParaRPr lang="en-US" sz="1600" dirty="0"/>
          </a:p>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Neo Merkle root của lô lên Hyperledger Fabric</a:t>
            </a:r>
            <a:endParaRPr lang="en-US" sz="1600" dirty="0"/>
          </a:p>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Xác minh công khai nhiều lớp</a:t>
            </a:r>
            <a:endParaRPr lang="en-US" sz="1600" dirty="0"/>
          </a:p>
        </p:txBody>
      </p:sp>
      <p:sp>
        <p:nvSpPr>
          <p:cNvPr id="17" name="A3_bg"/>
          <p:cNvSpPr/>
          <p:nvPr/>
        </p:nvSpPr>
        <p:spPr>
          <a:xfrm>
            <a:off x="8083296" y="1508760"/>
            <a:ext cx="3566160" cy="3840480"/>
          </a:xfrm>
          <a:prstGeom prst="roundRect">
            <a:avLst>
              <a:gd name="adj" fmla="val 2051"/>
            </a:avLst>
          </a:prstGeom>
          <a:solidFill>
            <a:srgbClr val="FFFFFF"/>
          </a:solidFill>
          <a:ln w="12700">
            <a:solidFill>
              <a:srgbClr val="FFFFFF"/>
            </a:solidFill>
            <a:prstDash val="solid"/>
          </a:ln>
        </p:spPr>
      </p:sp>
      <p:sp>
        <p:nvSpPr>
          <p:cNvPr id="18" name="A3_c"/>
          <p:cNvSpPr/>
          <p:nvPr/>
        </p:nvSpPr>
        <p:spPr>
          <a:xfrm>
            <a:off x="8311896" y="1737360"/>
            <a:ext cx="502920" cy="502920"/>
          </a:xfrm>
          <a:prstGeom prst="ellipse">
            <a:avLst/>
          </a:prstGeom>
          <a:solidFill>
            <a:srgbClr val="14284B"/>
          </a:solidFill>
          <a:ln w="12700">
            <a:solidFill>
              <a:srgbClr val="14284B"/>
            </a:solidFill>
            <a:prstDash val="solid"/>
          </a:ln>
        </p:spPr>
      </p:sp>
      <p:pic>
        <p:nvPicPr>
          <p:cNvPr id="19" name="A3_i" descr="preencoded.png"/>
          <p:cNvPicPr>
            <a:picLocks noChangeAspect="1"/>
          </p:cNvPicPr>
          <p:nvPr/>
        </p:nvPicPr>
        <p:blipFill>
          <a:blip r:embed="rId5"/>
          <a:stretch>
            <a:fillRect/>
          </a:stretch>
        </p:blipFill>
        <p:spPr>
          <a:xfrm>
            <a:off x="8442655" y="1868119"/>
            <a:ext cx="241402" cy="241402"/>
          </a:xfrm>
          <a:prstGeom prst="rect">
            <a:avLst/>
          </a:prstGeom>
        </p:spPr>
      </p:pic>
      <p:sp>
        <p:nvSpPr>
          <p:cNvPr id="20" name="A3_h"/>
          <p:cNvSpPr/>
          <p:nvPr/>
        </p:nvSpPr>
        <p:spPr>
          <a:xfrm>
            <a:off x="8951976" y="1737360"/>
            <a:ext cx="2514600" cy="502920"/>
          </a:xfrm>
          <a:prstGeom prst="rect">
            <a:avLst/>
          </a:prstGeom>
          <a:noFill/>
          <a:ln/>
        </p:spPr>
        <p:txBody>
          <a:bodyPr wrap="square" lIns="0" tIns="0" rIns="0" bIns="0" rtlCol="0" anchor="ctr"/>
          <a:lstStyle/>
          <a:p>
            <a:pPr marL="0" indent="0">
              <a:buNone/>
            </a:pPr>
            <a:r>
              <a:rPr lang="en-US" sz="1700" b="1" dirty="0">
                <a:solidFill>
                  <a:srgbClr val="14284B"/>
                </a:solidFill>
                <a:latin typeface="Cambria" pitchFamily="34" charset="0"/>
                <a:ea typeface="Cambria" pitchFamily="34" charset="-122"/>
                <a:cs typeface="Cambria" pitchFamily="34" charset="-120"/>
              </a:rPr>
              <a:t>Phạm vi</a:t>
            </a:r>
            <a:endParaRPr lang="en-US" sz="1700" dirty="0"/>
          </a:p>
        </p:txBody>
      </p:sp>
      <p:sp>
        <p:nvSpPr>
          <p:cNvPr id="21" name="A3_t"/>
          <p:cNvSpPr/>
          <p:nvPr/>
        </p:nvSpPr>
        <p:spPr>
          <a:xfrm>
            <a:off x="8311896" y="2377440"/>
            <a:ext cx="3154680" cy="283464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Văn bằng do cơ sở đào tạo phát hành</a:t>
            </a:r>
            <a:endParaRPr lang="en-US" sz="1600" dirty="0"/>
          </a:p>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Trường do quản trị viên hệ thống tạo; sinh viên chỉ xem</a:t>
            </a:r>
            <a:endParaRPr lang="en-US" sz="1600" dirty="0"/>
          </a:p>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Fabric chỉ lưu bằng chứng, không lưu PDF hay dữ liệu cá nhân</a:t>
            </a:r>
            <a:endParaRPr lang="en-US" sz="1600" dirty="0"/>
          </a:p>
        </p:txBody>
      </p:sp>
      <p:sp>
        <p:nvSpPr>
          <p:cNvPr id="22" name="A4_t"/>
          <p:cNvSpPr/>
          <p:nvPr/>
        </p:nvSpPr>
        <p:spPr>
          <a:xfrm>
            <a:off x="548640" y="5577840"/>
            <a:ext cx="11100816" cy="548640"/>
          </a:xfrm>
          <a:prstGeom prst="rect">
            <a:avLst/>
          </a:prstGeom>
          <a:noFill/>
          <a:ln/>
        </p:spPr>
        <p:txBody>
          <a:bodyPr wrap="square" lIns="0" tIns="0" rIns="0" bIns="0" rtlCol="0" anchor="ctr"/>
          <a:lstStyle/>
          <a:p>
            <a:pPr marL="0" indent="0" algn="ctr">
              <a:buNone/>
            </a:pPr>
            <a:r>
              <a:rPr lang="en-US" sz="1500" i="1" dirty="0">
                <a:solidFill>
                  <a:srgbClr val="0E7C86"/>
                </a:solidFill>
                <a:latin typeface="Calibri" pitchFamily="34" charset="0"/>
                <a:ea typeface="Calibri" pitchFamily="34" charset="-122"/>
                <a:cs typeface="Calibri" pitchFamily="34" charset="-120"/>
              </a:rPr>
              <a:t>Trọng tâm: văn bằng số mang chữ ký hậu lượng tử, xác minh được bằng mã, liên kết hoặc mã QR mà không cần tài khoản.</a:t>
            </a:r>
            <a:endParaRPr lang="en-US" sz="15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P spid="2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6EDF5"/>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150" dirty="0">
                <a:solidFill>
                  <a:srgbClr val="0E7C86"/>
                </a:solidFill>
                <a:latin typeface="Calibri" pitchFamily="34" charset="0"/>
                <a:ea typeface="Calibri" pitchFamily="34" charset="-122"/>
                <a:cs typeface="Calibri" pitchFamily="34" charset="-120"/>
              </a:rPr>
              <a:t>PHẦN 2 · CÔNG NGHỆ VÀ KIẾN TRÚC</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14284B"/>
                </a:solidFill>
                <a:latin typeface="Cambria" pitchFamily="34" charset="0"/>
                <a:ea typeface="Cambria" pitchFamily="34" charset="-122"/>
                <a:cs typeface="Cambria" pitchFamily="34" charset="-120"/>
              </a:rPr>
              <a:t>Mô hình bài toán tổng thể</a:t>
            </a:r>
            <a:endParaRPr lang="en-US" sz="28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Đặng Kim Khánh · CT060318 · Hệ thống quản lý bằng số sử dụng ký số hậu lượng tử</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4 / 25</a:t>
            </a:r>
            <a:endParaRPr lang="en-US" sz="1000" dirty="0"/>
          </a:p>
        </p:txBody>
      </p:sp>
      <p:sp>
        <p:nvSpPr>
          <p:cNvPr id="7" name="A1_bg"/>
          <p:cNvSpPr/>
          <p:nvPr/>
        </p:nvSpPr>
        <p:spPr>
          <a:xfrm>
            <a:off x="548640" y="1463040"/>
            <a:ext cx="11100816" cy="1600200"/>
          </a:xfrm>
          <a:prstGeom prst="roundRect">
            <a:avLst>
              <a:gd name="adj" fmla="val 4571"/>
            </a:avLst>
          </a:prstGeom>
          <a:solidFill>
            <a:srgbClr val="FFFFFF"/>
          </a:solidFill>
          <a:ln w="12700">
            <a:solidFill>
              <a:srgbClr val="FFFFFF"/>
            </a:solidFill>
            <a:prstDash val="solid"/>
          </a:ln>
        </p:spPr>
      </p:sp>
      <p:sp>
        <p:nvSpPr>
          <p:cNvPr id="8" name="A1_c"/>
          <p:cNvSpPr/>
          <p:nvPr/>
        </p:nvSpPr>
        <p:spPr>
          <a:xfrm>
            <a:off x="777240" y="1783080"/>
            <a:ext cx="548640" cy="548640"/>
          </a:xfrm>
          <a:prstGeom prst="ellipse">
            <a:avLst/>
          </a:prstGeom>
          <a:solidFill>
            <a:srgbClr val="14284B"/>
          </a:solidFill>
          <a:ln w="12700">
            <a:solidFill>
              <a:srgbClr val="14284B"/>
            </a:solidFill>
            <a:prstDash val="solid"/>
          </a:ln>
        </p:spPr>
      </p:sp>
      <p:pic>
        <p:nvPicPr>
          <p:cNvPr id="9" name="A1_i" descr="preencoded.png"/>
          <p:cNvPicPr>
            <a:picLocks noChangeAspect="1"/>
          </p:cNvPicPr>
          <p:nvPr/>
        </p:nvPicPr>
        <p:blipFill>
          <a:blip r:embed="rId3"/>
          <a:stretch>
            <a:fillRect/>
          </a:stretch>
        </p:blipFill>
        <p:spPr>
          <a:xfrm>
            <a:off x="919886" y="1925726"/>
            <a:ext cx="263347" cy="263347"/>
          </a:xfrm>
          <a:prstGeom prst="rect">
            <a:avLst/>
          </a:prstGeom>
        </p:spPr>
      </p:pic>
      <p:sp>
        <p:nvSpPr>
          <p:cNvPr id="10" name="A1_l"/>
          <p:cNvSpPr/>
          <p:nvPr/>
        </p:nvSpPr>
        <p:spPr>
          <a:xfrm>
            <a:off x="548640" y="2423160"/>
            <a:ext cx="1371600" cy="365760"/>
          </a:xfrm>
          <a:prstGeom prst="rect">
            <a:avLst/>
          </a:prstGeom>
          <a:noFill/>
          <a:ln/>
        </p:spPr>
        <p:txBody>
          <a:bodyPr wrap="square" lIns="0" tIns="0" rIns="0" bIns="0" rtlCol="0" anchor="ctr"/>
          <a:lstStyle/>
          <a:p>
            <a:pPr marL="0" indent="0" algn="ctr">
              <a:buNone/>
            </a:pPr>
            <a:r>
              <a:rPr lang="en-US" sz="1400" b="1" dirty="0">
                <a:solidFill>
                  <a:srgbClr val="14284B"/>
                </a:solidFill>
                <a:latin typeface="Cambria" pitchFamily="34" charset="0"/>
                <a:ea typeface="Cambria" pitchFamily="34" charset="-122"/>
                <a:cs typeface="Cambria" pitchFamily="34" charset="-120"/>
              </a:rPr>
              <a:t>Phát hành</a:t>
            </a:r>
            <a:endParaRPr lang="en-US" sz="1400" dirty="0"/>
          </a:p>
        </p:txBody>
      </p:sp>
      <p:sp>
        <p:nvSpPr>
          <p:cNvPr id="11" name="A1_s0"/>
          <p:cNvSpPr/>
          <p:nvPr/>
        </p:nvSpPr>
        <p:spPr>
          <a:xfrm>
            <a:off x="1965960" y="1783080"/>
            <a:ext cx="1627632" cy="960120"/>
          </a:xfrm>
          <a:prstGeom prst="roundRect">
            <a:avLst>
              <a:gd name="adj" fmla="val 5714"/>
            </a:avLst>
          </a:prstGeom>
          <a:solidFill>
            <a:srgbClr val="FFFFFF"/>
          </a:solidFill>
          <a:ln w="12700">
            <a:solidFill>
              <a:srgbClr val="CBD6E2"/>
            </a:solidFill>
          </a:ln>
        </p:spPr>
        <p:txBody>
          <a:bodyPr wrap="square" lIns="50800" tIns="50800" rIns="50800" bIns="50800" rtlCol="0" anchor="ctr"/>
          <a:lstStyle/>
          <a:p>
            <a:pPr marL="0" indent="0" algn="ctr">
              <a:buNone/>
            </a:pPr>
            <a:r>
              <a:rPr lang="en-US" sz="1450" dirty="0">
                <a:solidFill>
                  <a:srgbClr val="1F2937"/>
                </a:solidFill>
                <a:latin typeface="Calibri" pitchFamily="34" charset="0"/>
                <a:ea typeface="Calibri" pitchFamily="34" charset="-122"/>
                <a:cs typeface="Calibri" pitchFamily="34" charset="-120"/>
              </a:rPr>
              <a:t>Quản trị viên trường tạo hồ sơ văn bằng</a:t>
            </a:r>
            <a:endParaRPr lang="en-US" sz="1450" dirty="0"/>
          </a:p>
        </p:txBody>
      </p:sp>
      <p:sp>
        <p:nvSpPr>
          <p:cNvPr id="12" name="A1_a0"/>
          <p:cNvSpPr/>
          <p:nvPr/>
        </p:nvSpPr>
        <p:spPr>
          <a:xfrm>
            <a:off x="3621024" y="2263140"/>
            <a:ext cx="201168" cy="0"/>
          </a:xfrm>
          <a:prstGeom prst="line">
            <a:avLst/>
          </a:prstGeom>
          <a:noFill/>
          <a:ln w="19050">
            <a:solidFill>
              <a:srgbClr val="0E7C86"/>
            </a:solidFill>
            <a:prstDash val="solid"/>
            <a:tailEnd type="triangle"/>
          </a:ln>
        </p:spPr>
      </p:sp>
      <p:sp>
        <p:nvSpPr>
          <p:cNvPr id="13" name="A1_s1"/>
          <p:cNvSpPr/>
          <p:nvPr/>
        </p:nvSpPr>
        <p:spPr>
          <a:xfrm>
            <a:off x="3849624" y="1783080"/>
            <a:ext cx="1627632" cy="960120"/>
          </a:xfrm>
          <a:prstGeom prst="roundRect">
            <a:avLst>
              <a:gd name="adj" fmla="val 5714"/>
            </a:avLst>
          </a:prstGeom>
          <a:solidFill>
            <a:srgbClr val="FFFFFF"/>
          </a:solidFill>
          <a:ln w="12700">
            <a:solidFill>
              <a:srgbClr val="CBD6E2"/>
            </a:solidFill>
          </a:ln>
        </p:spPr>
        <p:txBody>
          <a:bodyPr wrap="square" lIns="50800" tIns="50800" rIns="50800" bIns="50800" rtlCol="0" anchor="ctr"/>
          <a:lstStyle/>
          <a:p>
            <a:pPr marL="0" indent="0" algn="ctr">
              <a:buNone/>
            </a:pPr>
            <a:r>
              <a:rPr lang="en-US" sz="1450" dirty="0">
                <a:solidFill>
                  <a:srgbClr val="1F2937"/>
                </a:solidFill>
                <a:latin typeface="Calibri" pitchFamily="34" charset="0"/>
                <a:ea typeface="Calibri" pitchFamily="34" charset="-122"/>
                <a:cs typeface="Calibri" pitchFamily="34" charset="-120"/>
              </a:rPr>
              <a:t>Sinh PDF từ mẫu HTML, tính SHA-256</a:t>
            </a:r>
            <a:endParaRPr lang="en-US" sz="1450" dirty="0"/>
          </a:p>
        </p:txBody>
      </p:sp>
      <p:sp>
        <p:nvSpPr>
          <p:cNvPr id="14" name="A1_a1"/>
          <p:cNvSpPr/>
          <p:nvPr/>
        </p:nvSpPr>
        <p:spPr>
          <a:xfrm>
            <a:off x="5504688" y="2263140"/>
            <a:ext cx="201168" cy="0"/>
          </a:xfrm>
          <a:prstGeom prst="line">
            <a:avLst/>
          </a:prstGeom>
          <a:noFill/>
          <a:ln w="19050">
            <a:solidFill>
              <a:srgbClr val="0E7C86"/>
            </a:solidFill>
            <a:prstDash val="solid"/>
            <a:tailEnd type="triangle"/>
          </a:ln>
        </p:spPr>
      </p:sp>
      <p:sp>
        <p:nvSpPr>
          <p:cNvPr id="15" name="A1_s2"/>
          <p:cNvSpPr/>
          <p:nvPr/>
        </p:nvSpPr>
        <p:spPr>
          <a:xfrm>
            <a:off x="5733288" y="1783080"/>
            <a:ext cx="1627632" cy="960120"/>
          </a:xfrm>
          <a:prstGeom prst="roundRect">
            <a:avLst>
              <a:gd name="adj" fmla="val 5714"/>
            </a:avLst>
          </a:prstGeom>
          <a:solidFill>
            <a:srgbClr val="FFFFFF"/>
          </a:solidFill>
          <a:ln w="12700">
            <a:solidFill>
              <a:srgbClr val="CBD6E2"/>
            </a:solidFill>
          </a:ln>
        </p:spPr>
        <p:txBody>
          <a:bodyPr wrap="square" lIns="50800" tIns="50800" rIns="50800" bIns="50800" rtlCol="0" anchor="ctr"/>
          <a:lstStyle/>
          <a:p>
            <a:pPr marL="0" indent="0" algn="ctr">
              <a:buNone/>
            </a:pPr>
            <a:r>
              <a:rPr lang="en-US" sz="1450" dirty="0">
                <a:solidFill>
                  <a:srgbClr val="1F2937"/>
                </a:solidFill>
                <a:latin typeface="Calibri" pitchFamily="34" charset="0"/>
                <a:ea typeface="Calibri" pitchFamily="34" charset="-122"/>
                <a:cs typeface="Calibri" pitchFamily="34" charset="-120"/>
              </a:rPr>
              <a:t>Dựng manifest, ký bằng khóa ML-DSA</a:t>
            </a:r>
            <a:endParaRPr lang="en-US" sz="1450" dirty="0"/>
          </a:p>
        </p:txBody>
      </p:sp>
      <p:sp>
        <p:nvSpPr>
          <p:cNvPr id="16" name="A1_a2"/>
          <p:cNvSpPr/>
          <p:nvPr/>
        </p:nvSpPr>
        <p:spPr>
          <a:xfrm>
            <a:off x="7388352" y="2263140"/>
            <a:ext cx="201168" cy="0"/>
          </a:xfrm>
          <a:prstGeom prst="line">
            <a:avLst/>
          </a:prstGeom>
          <a:noFill/>
          <a:ln w="19050">
            <a:solidFill>
              <a:srgbClr val="0E7C86"/>
            </a:solidFill>
            <a:prstDash val="solid"/>
            <a:tailEnd type="triangle"/>
          </a:ln>
        </p:spPr>
      </p:sp>
      <p:sp>
        <p:nvSpPr>
          <p:cNvPr id="17" name="A1_s3"/>
          <p:cNvSpPr/>
          <p:nvPr/>
        </p:nvSpPr>
        <p:spPr>
          <a:xfrm>
            <a:off x="7616952" y="1783080"/>
            <a:ext cx="1627632" cy="960120"/>
          </a:xfrm>
          <a:prstGeom prst="roundRect">
            <a:avLst>
              <a:gd name="adj" fmla="val 5714"/>
            </a:avLst>
          </a:prstGeom>
          <a:solidFill>
            <a:srgbClr val="FFFFFF"/>
          </a:solidFill>
          <a:ln w="12700">
            <a:solidFill>
              <a:srgbClr val="CBD6E2"/>
            </a:solidFill>
          </a:ln>
        </p:spPr>
        <p:txBody>
          <a:bodyPr wrap="square" lIns="50800" tIns="50800" rIns="50800" bIns="50800" rtlCol="0" anchor="ctr"/>
          <a:lstStyle/>
          <a:p>
            <a:pPr marL="0" indent="0" algn="ctr">
              <a:buNone/>
            </a:pPr>
            <a:r>
              <a:rPr lang="en-US" sz="1450" dirty="0">
                <a:solidFill>
                  <a:srgbClr val="1F2937"/>
                </a:solidFill>
                <a:latin typeface="Calibri" pitchFamily="34" charset="0"/>
                <a:ea typeface="Calibri" pitchFamily="34" charset="-122"/>
                <a:cs typeface="Calibri" pitchFamily="34" charset="-120"/>
              </a:rPr>
              <a:t>Gom lô, dựng cây Merkle</a:t>
            </a:r>
            <a:endParaRPr lang="en-US" sz="1450" dirty="0"/>
          </a:p>
        </p:txBody>
      </p:sp>
      <p:sp>
        <p:nvSpPr>
          <p:cNvPr id="18" name="A1_a3"/>
          <p:cNvSpPr/>
          <p:nvPr/>
        </p:nvSpPr>
        <p:spPr>
          <a:xfrm>
            <a:off x="9272016" y="2263140"/>
            <a:ext cx="201168" cy="0"/>
          </a:xfrm>
          <a:prstGeom prst="line">
            <a:avLst/>
          </a:prstGeom>
          <a:noFill/>
          <a:ln w="19050">
            <a:solidFill>
              <a:srgbClr val="0E7C86"/>
            </a:solidFill>
            <a:prstDash val="solid"/>
            <a:tailEnd type="triangle"/>
          </a:ln>
        </p:spPr>
      </p:sp>
      <p:sp>
        <p:nvSpPr>
          <p:cNvPr id="19" name="A1_s4"/>
          <p:cNvSpPr/>
          <p:nvPr/>
        </p:nvSpPr>
        <p:spPr>
          <a:xfrm>
            <a:off x="9500616" y="1783080"/>
            <a:ext cx="1627632" cy="960120"/>
          </a:xfrm>
          <a:prstGeom prst="roundRect">
            <a:avLst>
              <a:gd name="adj" fmla="val 5714"/>
            </a:avLst>
          </a:prstGeom>
          <a:solidFill>
            <a:srgbClr val="FFFFFF"/>
          </a:solidFill>
          <a:ln w="12700">
            <a:solidFill>
              <a:srgbClr val="CBD6E2"/>
            </a:solidFill>
          </a:ln>
        </p:spPr>
        <p:txBody>
          <a:bodyPr wrap="square" lIns="50800" tIns="50800" rIns="50800" bIns="50800" rtlCol="0" anchor="ctr"/>
          <a:lstStyle/>
          <a:p>
            <a:pPr marL="0" indent="0" algn="ctr">
              <a:buNone/>
            </a:pPr>
            <a:r>
              <a:rPr lang="en-US" sz="1450" dirty="0">
                <a:solidFill>
                  <a:srgbClr val="1F2937"/>
                </a:solidFill>
                <a:latin typeface="Calibri" pitchFamily="34" charset="0"/>
                <a:ea typeface="Calibri" pitchFamily="34" charset="-122"/>
                <a:cs typeface="Calibri" pitchFamily="34" charset="-120"/>
              </a:rPr>
              <a:t>Ghi Merkle root lên Hyperledger Fabric</a:t>
            </a:r>
            <a:endParaRPr lang="en-US" sz="1450" dirty="0"/>
          </a:p>
        </p:txBody>
      </p:sp>
      <p:sp>
        <p:nvSpPr>
          <p:cNvPr id="20" name="A2_bg"/>
          <p:cNvSpPr/>
          <p:nvPr/>
        </p:nvSpPr>
        <p:spPr>
          <a:xfrm>
            <a:off x="548640" y="3291840"/>
            <a:ext cx="11100816" cy="1600200"/>
          </a:xfrm>
          <a:prstGeom prst="roundRect">
            <a:avLst>
              <a:gd name="adj" fmla="val 4571"/>
            </a:avLst>
          </a:prstGeom>
          <a:solidFill>
            <a:srgbClr val="FFFFFF"/>
          </a:solidFill>
          <a:ln w="12700">
            <a:solidFill>
              <a:srgbClr val="FFFFFF"/>
            </a:solidFill>
            <a:prstDash val="solid"/>
          </a:ln>
        </p:spPr>
      </p:sp>
      <p:sp>
        <p:nvSpPr>
          <p:cNvPr id="21" name="A2_c"/>
          <p:cNvSpPr/>
          <p:nvPr/>
        </p:nvSpPr>
        <p:spPr>
          <a:xfrm>
            <a:off x="777240" y="3611880"/>
            <a:ext cx="548640" cy="548640"/>
          </a:xfrm>
          <a:prstGeom prst="ellipse">
            <a:avLst/>
          </a:prstGeom>
          <a:solidFill>
            <a:srgbClr val="14284B"/>
          </a:solidFill>
          <a:ln w="12700">
            <a:solidFill>
              <a:srgbClr val="14284B"/>
            </a:solidFill>
            <a:prstDash val="solid"/>
          </a:ln>
        </p:spPr>
      </p:sp>
      <p:pic>
        <p:nvPicPr>
          <p:cNvPr id="22" name="A2_i" descr="preencoded.png"/>
          <p:cNvPicPr>
            <a:picLocks noChangeAspect="1"/>
          </p:cNvPicPr>
          <p:nvPr/>
        </p:nvPicPr>
        <p:blipFill>
          <a:blip r:embed="rId4"/>
          <a:stretch>
            <a:fillRect/>
          </a:stretch>
        </p:blipFill>
        <p:spPr>
          <a:xfrm>
            <a:off x="919886" y="3754526"/>
            <a:ext cx="263347" cy="263347"/>
          </a:xfrm>
          <a:prstGeom prst="rect">
            <a:avLst/>
          </a:prstGeom>
        </p:spPr>
      </p:pic>
      <p:sp>
        <p:nvSpPr>
          <p:cNvPr id="23" name="A2_l"/>
          <p:cNvSpPr/>
          <p:nvPr/>
        </p:nvSpPr>
        <p:spPr>
          <a:xfrm>
            <a:off x="548640" y="4251960"/>
            <a:ext cx="1371600" cy="365760"/>
          </a:xfrm>
          <a:prstGeom prst="rect">
            <a:avLst/>
          </a:prstGeom>
          <a:noFill/>
          <a:ln/>
        </p:spPr>
        <p:txBody>
          <a:bodyPr wrap="square" lIns="0" tIns="0" rIns="0" bIns="0" rtlCol="0" anchor="ctr"/>
          <a:lstStyle/>
          <a:p>
            <a:pPr marL="0" indent="0" algn="ctr">
              <a:buNone/>
            </a:pPr>
            <a:r>
              <a:rPr lang="en-US" sz="1400" b="1" dirty="0">
                <a:solidFill>
                  <a:srgbClr val="14284B"/>
                </a:solidFill>
                <a:latin typeface="Cambria" pitchFamily="34" charset="0"/>
                <a:ea typeface="Cambria" pitchFamily="34" charset="-122"/>
                <a:cs typeface="Cambria" pitchFamily="34" charset="-120"/>
              </a:rPr>
              <a:t>Xác minh</a:t>
            </a:r>
            <a:endParaRPr lang="en-US" sz="1400" dirty="0"/>
          </a:p>
        </p:txBody>
      </p:sp>
      <p:sp>
        <p:nvSpPr>
          <p:cNvPr id="24" name="A2_s0"/>
          <p:cNvSpPr/>
          <p:nvPr/>
        </p:nvSpPr>
        <p:spPr>
          <a:xfrm>
            <a:off x="1965960" y="3611880"/>
            <a:ext cx="1627632" cy="960120"/>
          </a:xfrm>
          <a:prstGeom prst="roundRect">
            <a:avLst>
              <a:gd name="adj" fmla="val 5714"/>
            </a:avLst>
          </a:prstGeom>
          <a:solidFill>
            <a:srgbClr val="FFFFFF"/>
          </a:solidFill>
          <a:ln w="12700">
            <a:solidFill>
              <a:srgbClr val="CBD6E2"/>
            </a:solidFill>
          </a:ln>
        </p:spPr>
        <p:txBody>
          <a:bodyPr wrap="square" lIns="50800" tIns="50800" rIns="50800" bIns="50800" rtlCol="0" anchor="ctr"/>
          <a:lstStyle/>
          <a:p>
            <a:pPr marL="0" indent="0" algn="ctr">
              <a:buNone/>
            </a:pPr>
            <a:r>
              <a:rPr lang="en-US" sz="1450" dirty="0">
                <a:solidFill>
                  <a:srgbClr val="1F2937"/>
                </a:solidFill>
                <a:latin typeface="Calibri" pitchFamily="34" charset="0"/>
                <a:ea typeface="Calibri" pitchFamily="34" charset="-122"/>
                <a:cs typeface="Calibri" pitchFamily="34" charset="-120"/>
              </a:rPr>
              <a:t>Quét mã QR hoặc nhập mã (web, di động)</a:t>
            </a:r>
            <a:endParaRPr lang="en-US" sz="1450" dirty="0"/>
          </a:p>
        </p:txBody>
      </p:sp>
      <p:sp>
        <p:nvSpPr>
          <p:cNvPr id="25" name="A2_a0"/>
          <p:cNvSpPr/>
          <p:nvPr/>
        </p:nvSpPr>
        <p:spPr>
          <a:xfrm>
            <a:off x="3621024" y="4091940"/>
            <a:ext cx="201168" cy="0"/>
          </a:xfrm>
          <a:prstGeom prst="line">
            <a:avLst/>
          </a:prstGeom>
          <a:noFill/>
          <a:ln w="19050">
            <a:solidFill>
              <a:srgbClr val="0E7C86"/>
            </a:solidFill>
            <a:prstDash val="solid"/>
            <a:tailEnd type="triangle"/>
          </a:ln>
        </p:spPr>
      </p:sp>
      <p:sp>
        <p:nvSpPr>
          <p:cNvPr id="26" name="A2_s1"/>
          <p:cNvSpPr/>
          <p:nvPr/>
        </p:nvSpPr>
        <p:spPr>
          <a:xfrm>
            <a:off x="3849624" y="3611880"/>
            <a:ext cx="1627632" cy="960120"/>
          </a:xfrm>
          <a:prstGeom prst="roundRect">
            <a:avLst>
              <a:gd name="adj" fmla="val 5714"/>
            </a:avLst>
          </a:prstGeom>
          <a:solidFill>
            <a:srgbClr val="FFFFFF"/>
          </a:solidFill>
          <a:ln w="12700">
            <a:solidFill>
              <a:srgbClr val="CBD6E2"/>
            </a:solidFill>
          </a:ln>
        </p:spPr>
        <p:txBody>
          <a:bodyPr wrap="square" lIns="50800" tIns="50800" rIns="50800" bIns="50800" rtlCol="0" anchor="ctr"/>
          <a:lstStyle/>
          <a:p>
            <a:pPr marL="0" indent="0" algn="ctr">
              <a:buNone/>
            </a:pPr>
            <a:r>
              <a:rPr lang="en-US" sz="1450" dirty="0">
                <a:solidFill>
                  <a:srgbClr val="1F2937"/>
                </a:solidFill>
                <a:latin typeface="Calibri" pitchFamily="34" charset="0"/>
                <a:ea typeface="Calibri" pitchFamily="34" charset="-122"/>
                <a:cs typeface="Calibri" pitchFamily="34" charset="-120"/>
              </a:rPr>
              <a:t>Kiểm tra chữ ký ML-DSA và hiệu lực khóa</a:t>
            </a:r>
            <a:endParaRPr lang="en-US" sz="1450" dirty="0"/>
          </a:p>
        </p:txBody>
      </p:sp>
      <p:sp>
        <p:nvSpPr>
          <p:cNvPr id="27" name="A2_a1"/>
          <p:cNvSpPr/>
          <p:nvPr/>
        </p:nvSpPr>
        <p:spPr>
          <a:xfrm>
            <a:off x="5504688" y="4091940"/>
            <a:ext cx="201168" cy="0"/>
          </a:xfrm>
          <a:prstGeom prst="line">
            <a:avLst/>
          </a:prstGeom>
          <a:noFill/>
          <a:ln w="19050">
            <a:solidFill>
              <a:srgbClr val="0E7C86"/>
            </a:solidFill>
            <a:prstDash val="solid"/>
            <a:tailEnd type="triangle"/>
          </a:ln>
        </p:spPr>
      </p:sp>
      <p:sp>
        <p:nvSpPr>
          <p:cNvPr id="28" name="A2_s2"/>
          <p:cNvSpPr/>
          <p:nvPr/>
        </p:nvSpPr>
        <p:spPr>
          <a:xfrm>
            <a:off x="5733288" y="3611880"/>
            <a:ext cx="1627632" cy="960120"/>
          </a:xfrm>
          <a:prstGeom prst="roundRect">
            <a:avLst>
              <a:gd name="adj" fmla="val 5714"/>
            </a:avLst>
          </a:prstGeom>
          <a:solidFill>
            <a:srgbClr val="FFFFFF"/>
          </a:solidFill>
          <a:ln w="12700">
            <a:solidFill>
              <a:srgbClr val="CBD6E2"/>
            </a:solidFill>
          </a:ln>
        </p:spPr>
        <p:txBody>
          <a:bodyPr wrap="square" lIns="50800" tIns="50800" rIns="50800" bIns="50800" rtlCol="0" anchor="ctr"/>
          <a:lstStyle/>
          <a:p>
            <a:pPr marL="0" indent="0" algn="ctr">
              <a:buNone/>
            </a:pPr>
            <a:r>
              <a:rPr lang="en-US" sz="1450" dirty="0">
                <a:solidFill>
                  <a:srgbClr val="1F2937"/>
                </a:solidFill>
                <a:latin typeface="Calibri" pitchFamily="34" charset="0"/>
                <a:ea typeface="Calibri" pitchFamily="34" charset="-122"/>
                <a:cs typeface="Calibri" pitchFamily="34" charset="-120"/>
              </a:rPr>
              <a:t>Tính lại SHA-256 của tệp PDF</a:t>
            </a:r>
            <a:endParaRPr lang="en-US" sz="1450" dirty="0"/>
          </a:p>
        </p:txBody>
      </p:sp>
      <p:sp>
        <p:nvSpPr>
          <p:cNvPr id="29" name="A2_a2"/>
          <p:cNvSpPr/>
          <p:nvPr/>
        </p:nvSpPr>
        <p:spPr>
          <a:xfrm>
            <a:off x="7388352" y="4091940"/>
            <a:ext cx="201168" cy="0"/>
          </a:xfrm>
          <a:prstGeom prst="line">
            <a:avLst/>
          </a:prstGeom>
          <a:noFill/>
          <a:ln w="19050">
            <a:solidFill>
              <a:srgbClr val="0E7C86"/>
            </a:solidFill>
            <a:prstDash val="solid"/>
            <a:tailEnd type="triangle"/>
          </a:ln>
        </p:spPr>
      </p:sp>
      <p:sp>
        <p:nvSpPr>
          <p:cNvPr id="30" name="A2_s3"/>
          <p:cNvSpPr/>
          <p:nvPr/>
        </p:nvSpPr>
        <p:spPr>
          <a:xfrm>
            <a:off x="7616952" y="3611880"/>
            <a:ext cx="1627632" cy="960120"/>
          </a:xfrm>
          <a:prstGeom prst="roundRect">
            <a:avLst>
              <a:gd name="adj" fmla="val 5714"/>
            </a:avLst>
          </a:prstGeom>
          <a:solidFill>
            <a:srgbClr val="FFFFFF"/>
          </a:solidFill>
          <a:ln w="12700">
            <a:solidFill>
              <a:srgbClr val="CBD6E2"/>
            </a:solidFill>
          </a:ln>
        </p:spPr>
        <p:txBody>
          <a:bodyPr wrap="square" lIns="50800" tIns="50800" rIns="50800" bIns="50800" rtlCol="0" anchor="ctr"/>
          <a:lstStyle/>
          <a:p>
            <a:pPr marL="0" indent="0" algn="ctr">
              <a:buNone/>
            </a:pPr>
            <a:r>
              <a:rPr lang="en-US" sz="1450" dirty="0">
                <a:solidFill>
                  <a:srgbClr val="1F2937"/>
                </a:solidFill>
                <a:latin typeface="Calibri" pitchFamily="34" charset="0"/>
                <a:ea typeface="Calibri" pitchFamily="34" charset="-122"/>
                <a:cs typeface="Calibri" pitchFamily="34" charset="-120"/>
              </a:rPr>
              <a:t>Kiểm tra Merkle proof với root trên Fabric</a:t>
            </a:r>
            <a:endParaRPr lang="en-US" sz="1450" dirty="0"/>
          </a:p>
        </p:txBody>
      </p:sp>
      <p:sp>
        <p:nvSpPr>
          <p:cNvPr id="31" name="A2_a3"/>
          <p:cNvSpPr/>
          <p:nvPr/>
        </p:nvSpPr>
        <p:spPr>
          <a:xfrm>
            <a:off x="9272016" y="4091940"/>
            <a:ext cx="201168" cy="0"/>
          </a:xfrm>
          <a:prstGeom prst="line">
            <a:avLst/>
          </a:prstGeom>
          <a:noFill/>
          <a:ln w="19050">
            <a:solidFill>
              <a:srgbClr val="0E7C86"/>
            </a:solidFill>
            <a:prstDash val="solid"/>
            <a:tailEnd type="triangle"/>
          </a:ln>
        </p:spPr>
      </p:sp>
      <p:sp>
        <p:nvSpPr>
          <p:cNvPr id="32" name="A2_s4"/>
          <p:cNvSpPr/>
          <p:nvPr/>
        </p:nvSpPr>
        <p:spPr>
          <a:xfrm>
            <a:off x="9500616" y="3611880"/>
            <a:ext cx="1627632" cy="960120"/>
          </a:xfrm>
          <a:prstGeom prst="roundRect">
            <a:avLst>
              <a:gd name="adj" fmla="val 5714"/>
            </a:avLst>
          </a:prstGeom>
          <a:solidFill>
            <a:srgbClr val="FFFFFF"/>
          </a:solidFill>
          <a:ln w="12700">
            <a:solidFill>
              <a:srgbClr val="CBD6E2"/>
            </a:solidFill>
          </a:ln>
        </p:spPr>
        <p:txBody>
          <a:bodyPr wrap="square" lIns="50800" tIns="50800" rIns="50800" bIns="50800" rtlCol="0" anchor="ctr"/>
          <a:lstStyle/>
          <a:p>
            <a:pPr marL="0" indent="0" algn="ctr">
              <a:buNone/>
            </a:pPr>
            <a:r>
              <a:rPr lang="en-US" sz="1450" dirty="0">
                <a:solidFill>
                  <a:srgbClr val="1F2937"/>
                </a:solidFill>
                <a:latin typeface="Calibri" pitchFamily="34" charset="0"/>
                <a:ea typeface="Calibri" pitchFamily="34" charset="-122"/>
                <a:cs typeface="Calibri" pitchFamily="34" charset="-120"/>
              </a:rPr>
              <a:t>Kết luận theo mức đảm bảo</a:t>
            </a:r>
            <a:endParaRPr lang="en-US" sz="1450" dirty="0"/>
          </a:p>
        </p:txBody>
      </p:sp>
      <p:sp>
        <p:nvSpPr>
          <p:cNvPr id="33" name="A3_h"/>
          <p:cNvSpPr/>
          <p:nvPr/>
        </p:nvSpPr>
        <p:spPr>
          <a:xfrm>
            <a:off x="548640" y="5166360"/>
            <a:ext cx="2743200" cy="457200"/>
          </a:xfrm>
          <a:prstGeom prst="rect">
            <a:avLst/>
          </a:prstGeom>
          <a:noFill/>
          <a:ln/>
        </p:spPr>
        <p:txBody>
          <a:bodyPr wrap="square" lIns="0" tIns="0" rIns="0" bIns="0" rtlCol="0" anchor="ctr"/>
          <a:lstStyle/>
          <a:p>
            <a:pPr marL="0" indent="0">
              <a:buNone/>
            </a:pPr>
            <a:r>
              <a:rPr lang="en-US" sz="1400" b="1" dirty="0">
                <a:solidFill>
                  <a:srgbClr val="14284B"/>
                </a:solidFill>
                <a:latin typeface="Cambria" pitchFamily="34" charset="0"/>
                <a:ea typeface="Cambria" pitchFamily="34" charset="-122"/>
                <a:cs typeface="Cambria" pitchFamily="34" charset="-120"/>
              </a:rPr>
              <a:t>Bốn mức kết quả xác minh:</a:t>
            </a:r>
            <a:endParaRPr lang="en-US" sz="1400" dirty="0"/>
          </a:p>
        </p:txBody>
      </p:sp>
      <p:sp>
        <p:nvSpPr>
          <p:cNvPr id="34" name="A3_p0"/>
          <p:cNvSpPr/>
          <p:nvPr/>
        </p:nvSpPr>
        <p:spPr>
          <a:xfrm>
            <a:off x="3246120" y="5166360"/>
            <a:ext cx="1965960" cy="457200"/>
          </a:xfrm>
          <a:prstGeom prst="roundRect">
            <a:avLst>
              <a:gd name="adj" fmla="val 50000"/>
            </a:avLst>
          </a:prstGeom>
          <a:solidFill>
            <a:srgbClr val="D7EFE4"/>
          </a:solidFill>
          <a:ln>
            <a:solidFill>
              <a:srgbClr val="D7EFE4"/>
            </a:solidFill>
          </a:ln>
        </p:spPr>
        <p:txBody>
          <a:bodyPr wrap="square" lIns="0" tIns="0" rIns="0" bIns="0" rtlCol="0" anchor="ctr"/>
          <a:lstStyle/>
          <a:p>
            <a:pPr marL="0" indent="0" algn="ctr">
              <a:buNone/>
            </a:pPr>
            <a:r>
              <a:rPr lang="en-US" sz="1500" b="1" dirty="0">
                <a:solidFill>
                  <a:srgbClr val="1E6B4A"/>
                </a:solidFill>
                <a:latin typeface="Calibri" pitchFamily="34" charset="0"/>
                <a:ea typeface="Calibri" pitchFamily="34" charset="-122"/>
                <a:cs typeface="Calibri" pitchFamily="34" charset="-120"/>
              </a:rPr>
              <a:t>Hợp lệ đầy đủ</a:t>
            </a:r>
            <a:endParaRPr lang="en-US" sz="1500" dirty="0"/>
          </a:p>
        </p:txBody>
      </p:sp>
      <p:sp>
        <p:nvSpPr>
          <p:cNvPr id="35" name="A3_p1"/>
          <p:cNvSpPr/>
          <p:nvPr/>
        </p:nvSpPr>
        <p:spPr>
          <a:xfrm>
            <a:off x="5367528" y="5166360"/>
            <a:ext cx="1965960" cy="457200"/>
          </a:xfrm>
          <a:prstGeom prst="roundRect">
            <a:avLst>
              <a:gd name="adj" fmla="val 50000"/>
            </a:avLst>
          </a:prstGeom>
          <a:solidFill>
            <a:srgbClr val="E3F1F2"/>
          </a:solidFill>
          <a:ln>
            <a:solidFill>
              <a:srgbClr val="E3F1F2"/>
            </a:solidFill>
          </a:ln>
        </p:spPr>
        <p:txBody>
          <a:bodyPr wrap="square" lIns="0" tIns="0" rIns="0" bIns="0" rtlCol="0" anchor="ctr"/>
          <a:lstStyle/>
          <a:p>
            <a:pPr marL="0" indent="0" algn="ctr">
              <a:buNone/>
            </a:pPr>
            <a:r>
              <a:rPr lang="en-US" sz="1500" b="1" dirty="0">
                <a:solidFill>
                  <a:srgbClr val="0E7C86"/>
                </a:solidFill>
                <a:latin typeface="Calibri" pitchFamily="34" charset="0"/>
                <a:ea typeface="Calibri" pitchFamily="34" charset="-122"/>
                <a:cs typeface="Calibri" pitchFamily="34" charset="-120"/>
              </a:rPr>
              <a:t>Chỉ chữ ký hợp lệ</a:t>
            </a:r>
            <a:endParaRPr lang="en-US" sz="1500" dirty="0"/>
          </a:p>
        </p:txBody>
      </p:sp>
      <p:sp>
        <p:nvSpPr>
          <p:cNvPr id="36" name="A3_p2"/>
          <p:cNvSpPr/>
          <p:nvPr/>
        </p:nvSpPr>
        <p:spPr>
          <a:xfrm>
            <a:off x="7488936" y="5166360"/>
            <a:ext cx="1965960" cy="457200"/>
          </a:xfrm>
          <a:prstGeom prst="roundRect">
            <a:avLst>
              <a:gd name="adj" fmla="val 50000"/>
            </a:avLst>
          </a:prstGeom>
          <a:solidFill>
            <a:srgbClr val="F8E1E1"/>
          </a:solidFill>
          <a:ln>
            <a:solidFill>
              <a:srgbClr val="F8E1E1"/>
            </a:solidFill>
          </a:ln>
        </p:spPr>
        <p:txBody>
          <a:bodyPr wrap="square" lIns="0" tIns="0" rIns="0" bIns="0" rtlCol="0" anchor="ctr"/>
          <a:lstStyle/>
          <a:p>
            <a:pPr marL="0" indent="0" algn="ctr">
              <a:buNone/>
            </a:pPr>
            <a:r>
              <a:rPr lang="en-US" sz="1500" b="1" dirty="0">
                <a:solidFill>
                  <a:srgbClr val="9B2C2C"/>
                </a:solidFill>
                <a:latin typeface="Calibri" pitchFamily="34" charset="0"/>
                <a:ea typeface="Calibri" pitchFamily="34" charset="-122"/>
                <a:cs typeface="Calibri" pitchFamily="34" charset="-120"/>
              </a:rPr>
              <a:t>Không hợp lệ</a:t>
            </a:r>
            <a:endParaRPr lang="en-US" sz="1500" dirty="0"/>
          </a:p>
        </p:txBody>
      </p:sp>
      <p:sp>
        <p:nvSpPr>
          <p:cNvPr id="37" name="A3_p3"/>
          <p:cNvSpPr/>
          <p:nvPr/>
        </p:nvSpPr>
        <p:spPr>
          <a:xfrm>
            <a:off x="9610344" y="5166360"/>
            <a:ext cx="1965960" cy="457200"/>
          </a:xfrm>
          <a:prstGeom prst="roundRect">
            <a:avLst>
              <a:gd name="adj" fmla="val 50000"/>
            </a:avLst>
          </a:prstGeom>
          <a:solidFill>
            <a:srgbClr val="ECEEF2"/>
          </a:solidFill>
          <a:ln>
            <a:solidFill>
              <a:srgbClr val="ECEEF2"/>
            </a:solidFill>
          </a:ln>
        </p:spPr>
        <p:txBody>
          <a:bodyPr wrap="square" lIns="0" tIns="0" rIns="0" bIns="0" rtlCol="0" anchor="ctr"/>
          <a:lstStyle/>
          <a:p>
            <a:pPr marL="0" indent="0" algn="ctr">
              <a:buNone/>
            </a:pPr>
            <a:r>
              <a:rPr lang="en-US" sz="1500" b="1" dirty="0">
                <a:solidFill>
                  <a:srgbClr val="4B5563"/>
                </a:solidFill>
                <a:latin typeface="Calibri" pitchFamily="34" charset="0"/>
                <a:ea typeface="Calibri" pitchFamily="34" charset="-122"/>
                <a:cs typeface="Calibri" pitchFamily="34" charset="-120"/>
              </a:rPr>
              <a:t>Đã thu hồi</a:t>
            </a:r>
            <a:endParaRPr lang="en-US" sz="15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00"/>
                                        <p:tgtEl>
                                          <p:spTgt spid="15"/>
                                        </p:tgtEl>
                                      </p:cBhvr>
                                    </p:animEffect>
                                  </p:childTnLst>
                                </p:cTn>
                              </p:par>
                              <p:par>
                                <p:cTn id="32" presetID="10" presetClass="entr" presetSubtype="0" fill="hold"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400"/>
                                        <p:tgtEl>
                                          <p:spTgt spid="17"/>
                                        </p:tgtEl>
                                      </p:cBhvr>
                                    </p:animEffect>
                                  </p:childTnLst>
                                </p:cTn>
                              </p:par>
                              <p:par>
                                <p:cTn id="38" presetID="10" presetClass="entr" presetSubtype="0" fill="hold"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4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400"/>
                                        <p:tgtEl>
                                          <p:spTgt spid="1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400"/>
                                        <p:tgtEl>
                                          <p:spTgt spid="20"/>
                                        </p:tgtEl>
                                      </p:cBhvr>
                                    </p:animEffect>
                                  </p:childTnLst>
                                </p:cTn>
                              </p:par>
                              <p:par>
                                <p:cTn id="49" presetID="10" presetClass="entr" presetSubtype="0"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400"/>
                                        <p:tgtEl>
                                          <p:spTgt spid="21"/>
                                        </p:tgtEl>
                                      </p:cBhvr>
                                    </p:animEffect>
                                  </p:childTnLst>
                                </p:cTn>
                              </p:par>
                              <p:par>
                                <p:cTn id="52" presetID="10" presetClass="entr" presetSubtype="0" fill="hold"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400"/>
                                        <p:tgtEl>
                                          <p:spTgt spid="2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400"/>
                                        <p:tgtEl>
                                          <p:spTgt spid="2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400"/>
                                        <p:tgtEl>
                                          <p:spTgt spid="24"/>
                                        </p:tgtEl>
                                      </p:cBhvr>
                                    </p:animEffect>
                                  </p:childTnLst>
                                </p:cTn>
                              </p:par>
                              <p:par>
                                <p:cTn id="61" presetID="10" presetClass="entr" presetSubtype="0" fill="hold"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400"/>
                                        <p:tgtEl>
                                          <p:spTgt spid="2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400"/>
                                        <p:tgtEl>
                                          <p:spTgt spid="26"/>
                                        </p:tgtEl>
                                      </p:cBhvr>
                                    </p:animEffect>
                                  </p:childTnLst>
                                </p:cTn>
                              </p:par>
                              <p:par>
                                <p:cTn id="67" presetID="10" presetClass="entr" presetSubtype="0" fill="hold"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400"/>
                                        <p:tgtEl>
                                          <p:spTgt spid="2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400"/>
                                        <p:tgtEl>
                                          <p:spTgt spid="28"/>
                                        </p:tgtEl>
                                      </p:cBhvr>
                                    </p:animEffect>
                                  </p:childTnLst>
                                </p:cTn>
                              </p:par>
                              <p:par>
                                <p:cTn id="73" presetID="10" presetClass="entr" presetSubtype="0" fill="hold" nodeType="with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400"/>
                                        <p:tgtEl>
                                          <p:spTgt spid="2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400"/>
                                        <p:tgtEl>
                                          <p:spTgt spid="30"/>
                                        </p:tgtEl>
                                      </p:cBhvr>
                                    </p:animEffect>
                                  </p:childTnLst>
                                </p:cTn>
                              </p:par>
                              <p:par>
                                <p:cTn id="79" presetID="10" presetClass="entr" presetSubtype="0" fill="hold"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400"/>
                                        <p:tgtEl>
                                          <p:spTgt spid="31"/>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fade">
                                      <p:cBhvr>
                                        <p:cTn id="84" dur="400"/>
                                        <p:tgtEl>
                                          <p:spTgt spid="32"/>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33"/>
                                        </p:tgtEl>
                                        <p:attrNameLst>
                                          <p:attrName>style.visibility</p:attrName>
                                        </p:attrNameLst>
                                      </p:cBhvr>
                                      <p:to>
                                        <p:strVal val="visible"/>
                                      </p:to>
                                    </p:set>
                                    <p:animEffect transition="in" filter="fade">
                                      <p:cBhvr>
                                        <p:cTn id="89" dur="400"/>
                                        <p:tgtEl>
                                          <p:spTgt spid="33"/>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4"/>
                                        </p:tgtEl>
                                        <p:attrNameLst>
                                          <p:attrName>style.visibility</p:attrName>
                                        </p:attrNameLst>
                                      </p:cBhvr>
                                      <p:to>
                                        <p:strVal val="visible"/>
                                      </p:to>
                                    </p:set>
                                    <p:animEffect transition="in" filter="fade">
                                      <p:cBhvr>
                                        <p:cTn id="92" dur="400"/>
                                        <p:tgtEl>
                                          <p:spTgt spid="34"/>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fade">
                                      <p:cBhvr>
                                        <p:cTn id="95" dur="400"/>
                                        <p:tgtEl>
                                          <p:spTgt spid="35"/>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6"/>
                                        </p:tgtEl>
                                        <p:attrNameLst>
                                          <p:attrName>style.visibility</p:attrName>
                                        </p:attrNameLst>
                                      </p:cBhvr>
                                      <p:to>
                                        <p:strVal val="visible"/>
                                      </p:to>
                                    </p:set>
                                    <p:animEffect transition="in" filter="fade">
                                      <p:cBhvr>
                                        <p:cTn id="98" dur="400"/>
                                        <p:tgtEl>
                                          <p:spTgt spid="36"/>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7"/>
                                        </p:tgtEl>
                                        <p:attrNameLst>
                                          <p:attrName>style.visibility</p:attrName>
                                        </p:attrNameLst>
                                      </p:cBhvr>
                                      <p:to>
                                        <p:strVal val="visible"/>
                                      </p:to>
                                    </p:set>
                                    <p:animEffect transition="in" filter="fade">
                                      <p:cBhvr>
                                        <p:cTn id="101"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5" grpId="0" animBg="1"/>
      <p:bldP spid="17" grpId="0" animBg="1"/>
      <p:bldP spid="19" grpId="0" animBg="1"/>
      <p:bldP spid="23" grpId="0" animBg="1"/>
      <p:bldP spid="24" grpId="0" animBg="1"/>
      <p:bldP spid="26" grpId="0" animBg="1"/>
      <p:bldP spid="28" grpId="0" animBg="1"/>
      <p:bldP spid="30" grpId="0" animBg="1"/>
      <p:bldP spid="32" grpId="0" animBg="1"/>
      <p:bldP spid="33" grpId="0" animBg="1"/>
      <p:bldP spid="34" grpId="0" animBg="1"/>
      <p:bldP spid="35" grpId="0" animBg="1"/>
      <p:bldP spid="36" grpId="0" animBg="1"/>
      <p:bldP spid="3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6EDF5"/>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150" dirty="0">
                <a:solidFill>
                  <a:srgbClr val="0E7C86"/>
                </a:solidFill>
                <a:latin typeface="Calibri" pitchFamily="34" charset="0"/>
                <a:ea typeface="Calibri" pitchFamily="34" charset="-122"/>
                <a:cs typeface="Calibri" pitchFamily="34" charset="-120"/>
              </a:rPr>
              <a:t>PHẦN 2 · CÔNG NGHỆ VÀ KIẾN TRÚC</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14284B"/>
                </a:solidFill>
                <a:latin typeface="Cambria" pitchFamily="34" charset="0"/>
                <a:ea typeface="Cambria" pitchFamily="34" charset="-122"/>
                <a:cs typeface="Cambria" pitchFamily="34" charset="-120"/>
              </a:rPr>
              <a:t>Giải pháp công nghệ</a:t>
            </a:r>
            <a:endParaRPr lang="en-US" sz="28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Đặng Kim Khánh · CT060318 · Hệ thống quản lý bằng số sử dụng ký số hậu lượng tử</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5 / 25</a:t>
            </a:r>
            <a:endParaRPr lang="en-US" sz="1000" dirty="0"/>
          </a:p>
        </p:txBody>
      </p:sp>
      <p:sp>
        <p:nvSpPr>
          <p:cNvPr id="7" name="A1_bg0"/>
          <p:cNvSpPr/>
          <p:nvPr/>
        </p:nvSpPr>
        <p:spPr>
          <a:xfrm>
            <a:off x="548640" y="1463040"/>
            <a:ext cx="5440680" cy="1005840"/>
          </a:xfrm>
          <a:prstGeom prst="roundRect">
            <a:avLst>
              <a:gd name="adj" fmla="val 7273"/>
            </a:avLst>
          </a:prstGeom>
          <a:solidFill>
            <a:srgbClr val="FFFFFF"/>
          </a:solidFill>
          <a:ln w="12700">
            <a:solidFill>
              <a:srgbClr val="FFFFFF"/>
            </a:solidFill>
            <a:prstDash val="solid"/>
          </a:ln>
        </p:spPr>
      </p:sp>
      <p:sp>
        <p:nvSpPr>
          <p:cNvPr id="8" name="A1_b0_c"/>
          <p:cNvSpPr/>
          <p:nvPr/>
        </p:nvSpPr>
        <p:spPr>
          <a:xfrm>
            <a:off x="777240" y="1664208"/>
            <a:ext cx="603504" cy="603504"/>
          </a:xfrm>
          <a:prstGeom prst="ellipse">
            <a:avLst/>
          </a:prstGeom>
          <a:solidFill>
            <a:srgbClr val="14284B"/>
          </a:solidFill>
          <a:ln w="12700">
            <a:solidFill>
              <a:srgbClr val="14284B"/>
            </a:solidFill>
            <a:prstDash val="solid"/>
          </a:ln>
        </p:spPr>
      </p:sp>
      <p:pic>
        <p:nvPicPr>
          <p:cNvPr id="9" name="A1_b0_i" descr="preencoded.png"/>
          <p:cNvPicPr>
            <a:picLocks noChangeAspect="1"/>
          </p:cNvPicPr>
          <p:nvPr/>
        </p:nvPicPr>
        <p:blipFill>
          <a:blip r:embed="rId3"/>
          <a:stretch>
            <a:fillRect/>
          </a:stretch>
        </p:blipFill>
        <p:spPr>
          <a:xfrm>
            <a:off x="934151" y="1821119"/>
            <a:ext cx="289682" cy="289682"/>
          </a:xfrm>
          <a:prstGeom prst="rect">
            <a:avLst/>
          </a:prstGeom>
        </p:spPr>
      </p:pic>
      <p:sp>
        <p:nvSpPr>
          <p:cNvPr id="10" name="A1_t0"/>
          <p:cNvSpPr/>
          <p:nvPr/>
        </p:nvSpPr>
        <p:spPr>
          <a:xfrm>
            <a:off x="1554480" y="1536192"/>
            <a:ext cx="4297680" cy="868680"/>
          </a:xfrm>
          <a:prstGeom prst="rect">
            <a:avLst/>
          </a:prstGeom>
          <a:noFill/>
          <a:ln/>
        </p:spPr>
        <p:txBody>
          <a:bodyPr wrap="square" lIns="0" tIns="0" rIns="0" bIns="0" rtlCol="0" anchor="ctr"/>
          <a:lstStyle/>
          <a:p>
            <a:pPr marL="0" indent="0">
              <a:buNone/>
            </a:pPr>
            <a:r>
              <a:rPr lang="en-US" sz="1600" b="1" dirty="0">
                <a:solidFill>
                  <a:srgbClr val="14284B"/>
                </a:solidFill>
                <a:latin typeface="Cambria" pitchFamily="34" charset="0"/>
                <a:ea typeface="Cambria" pitchFamily="34" charset="-122"/>
                <a:cs typeface="Cambria" pitchFamily="34" charset="-120"/>
              </a:rPr>
              <a:t>Giao diện web</a:t>
            </a:r>
            <a:endParaRPr lang="en-US" sz="1600" dirty="0"/>
          </a:p>
          <a:p>
            <a:pPr marL="0" indent="0">
              <a:buNone/>
            </a:pPr>
            <a:r>
              <a:rPr lang="en-US" sz="1550" dirty="0">
                <a:solidFill>
                  <a:srgbClr val="1F2937"/>
                </a:solidFill>
                <a:latin typeface="Calibri" pitchFamily="34" charset="0"/>
                <a:ea typeface="Calibri" pitchFamily="34" charset="-122"/>
                <a:cs typeface="Calibri" pitchFamily="34" charset="-120"/>
              </a:rPr>
              <a:t>Next.js 15.5, React 19, TypeScript, Tailwind CSS</a:t>
            </a:r>
            <a:endParaRPr lang="en-US" sz="1600" dirty="0"/>
          </a:p>
        </p:txBody>
      </p:sp>
      <p:sp>
        <p:nvSpPr>
          <p:cNvPr id="11" name="A1_bg1"/>
          <p:cNvSpPr/>
          <p:nvPr/>
        </p:nvSpPr>
        <p:spPr>
          <a:xfrm>
            <a:off x="6172200" y="1463040"/>
            <a:ext cx="5440680" cy="1005840"/>
          </a:xfrm>
          <a:prstGeom prst="roundRect">
            <a:avLst>
              <a:gd name="adj" fmla="val 7273"/>
            </a:avLst>
          </a:prstGeom>
          <a:solidFill>
            <a:srgbClr val="FFFFFF"/>
          </a:solidFill>
          <a:ln w="12700">
            <a:solidFill>
              <a:srgbClr val="FFFFFF"/>
            </a:solidFill>
            <a:prstDash val="solid"/>
          </a:ln>
        </p:spPr>
      </p:sp>
      <p:sp>
        <p:nvSpPr>
          <p:cNvPr id="12" name="A1_b1_c"/>
          <p:cNvSpPr/>
          <p:nvPr/>
        </p:nvSpPr>
        <p:spPr>
          <a:xfrm>
            <a:off x="6400800" y="1664208"/>
            <a:ext cx="603504" cy="603504"/>
          </a:xfrm>
          <a:prstGeom prst="ellipse">
            <a:avLst/>
          </a:prstGeom>
          <a:solidFill>
            <a:srgbClr val="14284B"/>
          </a:solidFill>
          <a:ln w="12700">
            <a:solidFill>
              <a:srgbClr val="14284B"/>
            </a:solidFill>
            <a:prstDash val="solid"/>
          </a:ln>
        </p:spPr>
      </p:sp>
      <p:pic>
        <p:nvPicPr>
          <p:cNvPr id="13" name="A1_b1_i" descr="preencoded.png"/>
          <p:cNvPicPr>
            <a:picLocks noChangeAspect="1"/>
          </p:cNvPicPr>
          <p:nvPr/>
        </p:nvPicPr>
        <p:blipFill>
          <a:blip r:embed="rId4"/>
          <a:stretch>
            <a:fillRect/>
          </a:stretch>
        </p:blipFill>
        <p:spPr>
          <a:xfrm>
            <a:off x="6557711" y="1821119"/>
            <a:ext cx="289682" cy="289682"/>
          </a:xfrm>
          <a:prstGeom prst="rect">
            <a:avLst/>
          </a:prstGeom>
        </p:spPr>
      </p:pic>
      <p:sp>
        <p:nvSpPr>
          <p:cNvPr id="14" name="A1_t1"/>
          <p:cNvSpPr/>
          <p:nvPr/>
        </p:nvSpPr>
        <p:spPr>
          <a:xfrm>
            <a:off x="7178040" y="1536192"/>
            <a:ext cx="4297680" cy="868680"/>
          </a:xfrm>
          <a:prstGeom prst="rect">
            <a:avLst/>
          </a:prstGeom>
          <a:noFill/>
          <a:ln/>
        </p:spPr>
        <p:txBody>
          <a:bodyPr wrap="square" lIns="0" tIns="0" rIns="0" bIns="0" rtlCol="0" anchor="ctr"/>
          <a:lstStyle/>
          <a:p>
            <a:pPr marL="0" indent="0">
              <a:buNone/>
            </a:pPr>
            <a:r>
              <a:rPr lang="en-US" sz="1600" b="1" dirty="0">
                <a:solidFill>
                  <a:srgbClr val="14284B"/>
                </a:solidFill>
                <a:latin typeface="Cambria" pitchFamily="34" charset="0"/>
                <a:ea typeface="Cambria" pitchFamily="34" charset="-122"/>
                <a:cs typeface="Cambria" pitchFamily="34" charset="-120"/>
              </a:rPr>
              <a:t>Ứng dụng di động</a:t>
            </a:r>
            <a:endParaRPr lang="en-US" sz="1600" dirty="0"/>
          </a:p>
          <a:p>
            <a:pPr marL="0" indent="0">
              <a:buNone/>
            </a:pPr>
            <a:r>
              <a:rPr lang="en-US" sz="1550" dirty="0">
                <a:solidFill>
                  <a:srgbClr val="1F2937"/>
                </a:solidFill>
                <a:latin typeface="Calibri" pitchFamily="34" charset="0"/>
                <a:ea typeface="Calibri" pitchFamily="34" charset="-122"/>
                <a:cs typeface="Calibri" pitchFamily="34" charset="-120"/>
              </a:rPr>
              <a:t>Flutter 3.35 / Dart – ứng dụng xác minh</a:t>
            </a:r>
            <a:endParaRPr lang="en-US" sz="1600" dirty="0"/>
          </a:p>
        </p:txBody>
      </p:sp>
      <p:sp>
        <p:nvSpPr>
          <p:cNvPr id="15" name="A2_bg0"/>
          <p:cNvSpPr/>
          <p:nvPr/>
        </p:nvSpPr>
        <p:spPr>
          <a:xfrm>
            <a:off x="548640" y="2651760"/>
            <a:ext cx="5440680" cy="1005840"/>
          </a:xfrm>
          <a:prstGeom prst="roundRect">
            <a:avLst>
              <a:gd name="adj" fmla="val 7273"/>
            </a:avLst>
          </a:prstGeom>
          <a:solidFill>
            <a:srgbClr val="FFFFFF"/>
          </a:solidFill>
          <a:ln w="12700">
            <a:solidFill>
              <a:srgbClr val="FFFFFF"/>
            </a:solidFill>
            <a:prstDash val="solid"/>
          </a:ln>
        </p:spPr>
      </p:sp>
      <p:sp>
        <p:nvSpPr>
          <p:cNvPr id="16" name="A2_b0_c"/>
          <p:cNvSpPr/>
          <p:nvPr/>
        </p:nvSpPr>
        <p:spPr>
          <a:xfrm>
            <a:off x="777240" y="2852928"/>
            <a:ext cx="603504" cy="603504"/>
          </a:xfrm>
          <a:prstGeom prst="ellipse">
            <a:avLst/>
          </a:prstGeom>
          <a:solidFill>
            <a:srgbClr val="14284B"/>
          </a:solidFill>
          <a:ln w="12700">
            <a:solidFill>
              <a:srgbClr val="14284B"/>
            </a:solidFill>
            <a:prstDash val="solid"/>
          </a:ln>
        </p:spPr>
      </p:sp>
      <p:pic>
        <p:nvPicPr>
          <p:cNvPr id="17" name="A2_b0_i" descr="preencoded.png"/>
          <p:cNvPicPr>
            <a:picLocks noChangeAspect="1"/>
          </p:cNvPicPr>
          <p:nvPr/>
        </p:nvPicPr>
        <p:blipFill>
          <a:blip r:embed="rId5"/>
          <a:stretch>
            <a:fillRect/>
          </a:stretch>
        </p:blipFill>
        <p:spPr>
          <a:xfrm>
            <a:off x="934151" y="3009839"/>
            <a:ext cx="289682" cy="289682"/>
          </a:xfrm>
          <a:prstGeom prst="rect">
            <a:avLst/>
          </a:prstGeom>
        </p:spPr>
      </p:pic>
      <p:sp>
        <p:nvSpPr>
          <p:cNvPr id="18" name="A2_t0"/>
          <p:cNvSpPr/>
          <p:nvPr/>
        </p:nvSpPr>
        <p:spPr>
          <a:xfrm>
            <a:off x="1554480" y="2724912"/>
            <a:ext cx="4297680" cy="868680"/>
          </a:xfrm>
          <a:prstGeom prst="rect">
            <a:avLst/>
          </a:prstGeom>
          <a:noFill/>
          <a:ln/>
        </p:spPr>
        <p:txBody>
          <a:bodyPr wrap="square" lIns="0" tIns="0" rIns="0" bIns="0" rtlCol="0" anchor="ctr"/>
          <a:lstStyle/>
          <a:p>
            <a:pPr marL="0" indent="0">
              <a:buNone/>
            </a:pPr>
            <a:r>
              <a:rPr lang="en-US" sz="1600" b="1" dirty="0">
                <a:solidFill>
                  <a:srgbClr val="14284B"/>
                </a:solidFill>
                <a:latin typeface="Cambria" pitchFamily="34" charset="0"/>
                <a:ea typeface="Cambria" pitchFamily="34" charset="-122"/>
                <a:cs typeface="Cambria" pitchFamily="34" charset="-120"/>
              </a:rPr>
              <a:t>Backend</a:t>
            </a:r>
            <a:endParaRPr lang="en-US" sz="1600" dirty="0"/>
          </a:p>
          <a:p>
            <a:pPr marL="0" indent="0">
              <a:buNone/>
            </a:pPr>
            <a:r>
              <a:rPr lang="en-US" sz="1550" dirty="0">
                <a:solidFill>
                  <a:srgbClr val="1F2937"/>
                </a:solidFill>
                <a:latin typeface="Calibri" pitchFamily="34" charset="0"/>
                <a:ea typeface="Calibri" pitchFamily="34" charset="-122"/>
                <a:cs typeface="Calibri" pitchFamily="34" charset="-120"/>
              </a:rPr>
              <a:t>Go 1.24, Gin, JWT</a:t>
            </a:r>
            <a:endParaRPr lang="en-US" sz="1600" dirty="0"/>
          </a:p>
        </p:txBody>
      </p:sp>
      <p:sp>
        <p:nvSpPr>
          <p:cNvPr id="19" name="A2_bg1"/>
          <p:cNvSpPr/>
          <p:nvPr/>
        </p:nvSpPr>
        <p:spPr>
          <a:xfrm>
            <a:off x="6172200" y="2651760"/>
            <a:ext cx="5440680" cy="1005840"/>
          </a:xfrm>
          <a:prstGeom prst="roundRect">
            <a:avLst>
              <a:gd name="adj" fmla="val 7273"/>
            </a:avLst>
          </a:prstGeom>
          <a:solidFill>
            <a:srgbClr val="FFFFFF"/>
          </a:solidFill>
          <a:ln w="12700">
            <a:solidFill>
              <a:srgbClr val="FFFFFF"/>
            </a:solidFill>
            <a:prstDash val="solid"/>
          </a:ln>
        </p:spPr>
      </p:sp>
      <p:sp>
        <p:nvSpPr>
          <p:cNvPr id="20" name="A2_b1_c"/>
          <p:cNvSpPr/>
          <p:nvPr/>
        </p:nvSpPr>
        <p:spPr>
          <a:xfrm>
            <a:off x="6400800" y="2852928"/>
            <a:ext cx="603504" cy="603504"/>
          </a:xfrm>
          <a:prstGeom prst="ellipse">
            <a:avLst/>
          </a:prstGeom>
          <a:solidFill>
            <a:srgbClr val="14284B"/>
          </a:solidFill>
          <a:ln w="12700">
            <a:solidFill>
              <a:srgbClr val="14284B"/>
            </a:solidFill>
            <a:prstDash val="solid"/>
          </a:ln>
        </p:spPr>
      </p:sp>
      <p:pic>
        <p:nvPicPr>
          <p:cNvPr id="21" name="A2_b1_i" descr="preencoded.png"/>
          <p:cNvPicPr>
            <a:picLocks noChangeAspect="1"/>
          </p:cNvPicPr>
          <p:nvPr/>
        </p:nvPicPr>
        <p:blipFill>
          <a:blip r:embed="rId6"/>
          <a:stretch>
            <a:fillRect/>
          </a:stretch>
        </p:blipFill>
        <p:spPr>
          <a:xfrm>
            <a:off x="6557711" y="3009839"/>
            <a:ext cx="289682" cy="289682"/>
          </a:xfrm>
          <a:prstGeom prst="rect">
            <a:avLst/>
          </a:prstGeom>
        </p:spPr>
      </p:pic>
      <p:sp>
        <p:nvSpPr>
          <p:cNvPr id="22" name="A2_t1"/>
          <p:cNvSpPr/>
          <p:nvPr/>
        </p:nvSpPr>
        <p:spPr>
          <a:xfrm>
            <a:off x="7178040" y="2724912"/>
            <a:ext cx="4297680" cy="868680"/>
          </a:xfrm>
          <a:prstGeom prst="rect">
            <a:avLst/>
          </a:prstGeom>
          <a:noFill/>
          <a:ln/>
        </p:spPr>
        <p:txBody>
          <a:bodyPr wrap="square" lIns="0" tIns="0" rIns="0" bIns="0" rtlCol="0" anchor="ctr"/>
          <a:lstStyle/>
          <a:p>
            <a:pPr marL="0" indent="0">
              <a:buNone/>
            </a:pPr>
            <a:r>
              <a:rPr lang="en-US" sz="1600" b="1" dirty="0">
                <a:solidFill>
                  <a:srgbClr val="14284B"/>
                </a:solidFill>
                <a:latin typeface="Cambria" pitchFamily="34" charset="0"/>
                <a:ea typeface="Cambria" pitchFamily="34" charset="-122"/>
                <a:cs typeface="Cambria" pitchFamily="34" charset="-120"/>
              </a:rPr>
              <a:t>Dữ liệu</a:t>
            </a:r>
            <a:endParaRPr lang="en-US" sz="1600" dirty="0"/>
          </a:p>
          <a:p>
            <a:pPr marL="0" indent="0">
              <a:buNone/>
            </a:pPr>
            <a:r>
              <a:rPr lang="en-US" sz="1550" dirty="0">
                <a:solidFill>
                  <a:srgbClr val="1F2937"/>
                </a:solidFill>
                <a:latin typeface="Calibri" pitchFamily="34" charset="0"/>
                <a:ea typeface="Calibri" pitchFamily="34" charset="-122"/>
                <a:cs typeface="Calibri" pitchFamily="34" charset="-120"/>
              </a:rPr>
              <a:t>MongoDB (nghiệp vụ), MinIO (tệp PDF)</a:t>
            </a:r>
            <a:endParaRPr lang="en-US" sz="1600" dirty="0"/>
          </a:p>
        </p:txBody>
      </p:sp>
      <p:sp>
        <p:nvSpPr>
          <p:cNvPr id="23" name="A3_bg0"/>
          <p:cNvSpPr/>
          <p:nvPr/>
        </p:nvSpPr>
        <p:spPr>
          <a:xfrm>
            <a:off x="548640" y="3840480"/>
            <a:ext cx="5440680" cy="1005840"/>
          </a:xfrm>
          <a:prstGeom prst="roundRect">
            <a:avLst>
              <a:gd name="adj" fmla="val 7273"/>
            </a:avLst>
          </a:prstGeom>
          <a:solidFill>
            <a:srgbClr val="FFFFFF"/>
          </a:solidFill>
          <a:ln w="12700">
            <a:solidFill>
              <a:srgbClr val="FFFFFF"/>
            </a:solidFill>
            <a:prstDash val="solid"/>
          </a:ln>
        </p:spPr>
      </p:sp>
      <p:sp>
        <p:nvSpPr>
          <p:cNvPr id="24" name="A3_b0_c"/>
          <p:cNvSpPr/>
          <p:nvPr/>
        </p:nvSpPr>
        <p:spPr>
          <a:xfrm>
            <a:off x="777240" y="4041648"/>
            <a:ext cx="603504" cy="603504"/>
          </a:xfrm>
          <a:prstGeom prst="ellipse">
            <a:avLst/>
          </a:prstGeom>
          <a:solidFill>
            <a:srgbClr val="14284B"/>
          </a:solidFill>
          <a:ln w="12700">
            <a:solidFill>
              <a:srgbClr val="14284B"/>
            </a:solidFill>
            <a:prstDash val="solid"/>
          </a:ln>
        </p:spPr>
      </p:sp>
      <p:pic>
        <p:nvPicPr>
          <p:cNvPr id="25" name="A3_b0_i" descr="preencoded.png"/>
          <p:cNvPicPr>
            <a:picLocks noChangeAspect="1"/>
          </p:cNvPicPr>
          <p:nvPr/>
        </p:nvPicPr>
        <p:blipFill>
          <a:blip r:embed="rId7"/>
          <a:stretch>
            <a:fillRect/>
          </a:stretch>
        </p:blipFill>
        <p:spPr>
          <a:xfrm>
            <a:off x="934151" y="4198559"/>
            <a:ext cx="289682" cy="289682"/>
          </a:xfrm>
          <a:prstGeom prst="rect">
            <a:avLst/>
          </a:prstGeom>
        </p:spPr>
      </p:pic>
      <p:sp>
        <p:nvSpPr>
          <p:cNvPr id="26" name="A3_t0"/>
          <p:cNvSpPr/>
          <p:nvPr/>
        </p:nvSpPr>
        <p:spPr>
          <a:xfrm>
            <a:off x="1554480" y="3913632"/>
            <a:ext cx="4297680" cy="868680"/>
          </a:xfrm>
          <a:prstGeom prst="rect">
            <a:avLst/>
          </a:prstGeom>
          <a:noFill/>
          <a:ln/>
        </p:spPr>
        <p:txBody>
          <a:bodyPr wrap="square" lIns="0" tIns="0" rIns="0" bIns="0" rtlCol="0" anchor="ctr"/>
          <a:lstStyle/>
          <a:p>
            <a:pPr marL="0" indent="0">
              <a:buNone/>
            </a:pPr>
            <a:r>
              <a:rPr lang="en-US" sz="1600" b="1" dirty="0">
                <a:solidFill>
                  <a:srgbClr val="14284B"/>
                </a:solidFill>
                <a:latin typeface="Cambria" pitchFamily="34" charset="0"/>
                <a:ea typeface="Cambria" pitchFamily="34" charset="-122"/>
                <a:cs typeface="Cambria" pitchFamily="34" charset="-120"/>
              </a:rPr>
              <a:t>Blockchain</a:t>
            </a:r>
            <a:endParaRPr lang="en-US" sz="1600" dirty="0"/>
          </a:p>
          <a:p>
            <a:pPr marL="0" indent="0">
              <a:buNone/>
            </a:pPr>
            <a:r>
              <a:rPr lang="en-US" sz="1550" dirty="0">
                <a:solidFill>
                  <a:srgbClr val="1F2937"/>
                </a:solidFill>
                <a:latin typeface="Calibri" pitchFamily="34" charset="0"/>
                <a:ea typeface="Calibri" pitchFamily="34" charset="-122"/>
                <a:cs typeface="Calibri" pitchFamily="34" charset="-120"/>
              </a:rPr>
              <a:t>Hyperledger Fabric 3.1 (ChainLaunch), chaincode Go</a:t>
            </a:r>
            <a:endParaRPr lang="en-US" sz="1600" dirty="0"/>
          </a:p>
        </p:txBody>
      </p:sp>
      <p:sp>
        <p:nvSpPr>
          <p:cNvPr id="27" name="A3_bg1"/>
          <p:cNvSpPr/>
          <p:nvPr/>
        </p:nvSpPr>
        <p:spPr>
          <a:xfrm>
            <a:off x="6172200" y="3840480"/>
            <a:ext cx="5440680" cy="1005840"/>
          </a:xfrm>
          <a:prstGeom prst="roundRect">
            <a:avLst>
              <a:gd name="adj" fmla="val 7273"/>
            </a:avLst>
          </a:prstGeom>
          <a:solidFill>
            <a:srgbClr val="FFFFFF"/>
          </a:solidFill>
          <a:ln w="12700">
            <a:solidFill>
              <a:srgbClr val="FFFFFF"/>
            </a:solidFill>
            <a:prstDash val="solid"/>
          </a:ln>
        </p:spPr>
      </p:sp>
      <p:sp>
        <p:nvSpPr>
          <p:cNvPr id="28" name="A3_b1_c"/>
          <p:cNvSpPr/>
          <p:nvPr/>
        </p:nvSpPr>
        <p:spPr>
          <a:xfrm>
            <a:off x="6400800" y="4041648"/>
            <a:ext cx="603504" cy="603504"/>
          </a:xfrm>
          <a:prstGeom prst="ellipse">
            <a:avLst/>
          </a:prstGeom>
          <a:solidFill>
            <a:srgbClr val="14284B"/>
          </a:solidFill>
          <a:ln w="12700">
            <a:solidFill>
              <a:srgbClr val="14284B"/>
            </a:solidFill>
            <a:prstDash val="solid"/>
          </a:ln>
        </p:spPr>
      </p:sp>
      <p:pic>
        <p:nvPicPr>
          <p:cNvPr id="29" name="A3_b1_i" descr="preencoded.png"/>
          <p:cNvPicPr>
            <a:picLocks noChangeAspect="1"/>
          </p:cNvPicPr>
          <p:nvPr/>
        </p:nvPicPr>
        <p:blipFill>
          <a:blip r:embed="rId8"/>
          <a:stretch>
            <a:fillRect/>
          </a:stretch>
        </p:blipFill>
        <p:spPr>
          <a:xfrm>
            <a:off x="6557711" y="4198559"/>
            <a:ext cx="289682" cy="289682"/>
          </a:xfrm>
          <a:prstGeom prst="rect">
            <a:avLst/>
          </a:prstGeom>
        </p:spPr>
      </p:pic>
      <p:sp>
        <p:nvSpPr>
          <p:cNvPr id="30" name="A3_t1"/>
          <p:cNvSpPr/>
          <p:nvPr/>
        </p:nvSpPr>
        <p:spPr>
          <a:xfrm>
            <a:off x="7178040" y="3913632"/>
            <a:ext cx="4297680" cy="868680"/>
          </a:xfrm>
          <a:prstGeom prst="rect">
            <a:avLst/>
          </a:prstGeom>
          <a:noFill/>
          <a:ln/>
        </p:spPr>
        <p:txBody>
          <a:bodyPr wrap="square" lIns="0" tIns="0" rIns="0" bIns="0" rtlCol="0" anchor="ctr"/>
          <a:lstStyle/>
          <a:p>
            <a:pPr marL="0" indent="0">
              <a:buNone/>
            </a:pPr>
            <a:r>
              <a:rPr lang="en-US" sz="1600" b="1" dirty="0">
                <a:solidFill>
                  <a:srgbClr val="14284B"/>
                </a:solidFill>
                <a:latin typeface="Cambria" pitchFamily="34" charset="0"/>
                <a:ea typeface="Cambria" pitchFamily="34" charset="-122"/>
                <a:cs typeface="Cambria" pitchFamily="34" charset="-120"/>
              </a:rPr>
              <a:t>Mật mã</a:t>
            </a:r>
            <a:endParaRPr lang="en-US" sz="1600" dirty="0"/>
          </a:p>
          <a:p>
            <a:pPr marL="0" indent="0">
              <a:buNone/>
            </a:pPr>
            <a:r>
              <a:rPr lang="en-US" sz="1550" dirty="0">
                <a:solidFill>
                  <a:srgbClr val="1F2937"/>
                </a:solidFill>
                <a:latin typeface="Calibri" pitchFamily="34" charset="0"/>
                <a:ea typeface="Calibri" pitchFamily="34" charset="-122"/>
                <a:cs typeface="Calibri" pitchFamily="34" charset="-120"/>
              </a:rPr>
              <a:t>ML-DSA (Cloudflare CIRCL), SHA-256, AES-256-GCM</a:t>
            </a:r>
            <a:endParaRPr lang="en-US" sz="1600" dirty="0"/>
          </a:p>
        </p:txBody>
      </p:sp>
      <p:sp>
        <p:nvSpPr>
          <p:cNvPr id="31" name="A4_bg0"/>
          <p:cNvSpPr/>
          <p:nvPr/>
        </p:nvSpPr>
        <p:spPr>
          <a:xfrm>
            <a:off x="548640" y="5029200"/>
            <a:ext cx="5440680" cy="1005840"/>
          </a:xfrm>
          <a:prstGeom prst="roundRect">
            <a:avLst>
              <a:gd name="adj" fmla="val 7273"/>
            </a:avLst>
          </a:prstGeom>
          <a:solidFill>
            <a:srgbClr val="FFFFFF"/>
          </a:solidFill>
          <a:ln w="12700">
            <a:solidFill>
              <a:srgbClr val="FFFFFF"/>
            </a:solidFill>
            <a:prstDash val="solid"/>
          </a:ln>
        </p:spPr>
      </p:sp>
      <p:sp>
        <p:nvSpPr>
          <p:cNvPr id="32" name="A4_b0_c"/>
          <p:cNvSpPr/>
          <p:nvPr/>
        </p:nvSpPr>
        <p:spPr>
          <a:xfrm>
            <a:off x="777240" y="5230368"/>
            <a:ext cx="603504" cy="603504"/>
          </a:xfrm>
          <a:prstGeom prst="ellipse">
            <a:avLst/>
          </a:prstGeom>
          <a:solidFill>
            <a:srgbClr val="14284B"/>
          </a:solidFill>
          <a:ln w="12700">
            <a:solidFill>
              <a:srgbClr val="14284B"/>
            </a:solidFill>
            <a:prstDash val="solid"/>
          </a:ln>
        </p:spPr>
      </p:sp>
      <p:pic>
        <p:nvPicPr>
          <p:cNvPr id="33" name="A4_b0_i" descr="preencoded.png"/>
          <p:cNvPicPr>
            <a:picLocks noChangeAspect="1"/>
          </p:cNvPicPr>
          <p:nvPr/>
        </p:nvPicPr>
        <p:blipFill>
          <a:blip r:embed="rId9"/>
          <a:stretch>
            <a:fillRect/>
          </a:stretch>
        </p:blipFill>
        <p:spPr>
          <a:xfrm>
            <a:off x="934151" y="5387279"/>
            <a:ext cx="289682" cy="289682"/>
          </a:xfrm>
          <a:prstGeom prst="rect">
            <a:avLst/>
          </a:prstGeom>
        </p:spPr>
      </p:pic>
      <p:sp>
        <p:nvSpPr>
          <p:cNvPr id="34" name="A4_t0"/>
          <p:cNvSpPr/>
          <p:nvPr/>
        </p:nvSpPr>
        <p:spPr>
          <a:xfrm>
            <a:off x="1554480" y="5102352"/>
            <a:ext cx="4297680" cy="868680"/>
          </a:xfrm>
          <a:prstGeom prst="rect">
            <a:avLst/>
          </a:prstGeom>
          <a:noFill/>
          <a:ln/>
        </p:spPr>
        <p:txBody>
          <a:bodyPr wrap="square" lIns="0" tIns="0" rIns="0" bIns="0" rtlCol="0" anchor="ctr"/>
          <a:lstStyle/>
          <a:p>
            <a:pPr marL="0" indent="0">
              <a:buNone/>
            </a:pPr>
            <a:r>
              <a:rPr lang="en-US" sz="1600" b="1" dirty="0">
                <a:solidFill>
                  <a:srgbClr val="14284B"/>
                </a:solidFill>
                <a:latin typeface="Cambria" pitchFamily="34" charset="0"/>
                <a:ea typeface="Cambria" pitchFamily="34" charset="-122"/>
                <a:cs typeface="Cambria" pitchFamily="34" charset="-120"/>
              </a:rPr>
              <a:t>Sinh PDF</a:t>
            </a:r>
            <a:endParaRPr lang="en-US" sz="1600" dirty="0"/>
          </a:p>
          <a:p>
            <a:pPr marL="0" indent="0">
              <a:buNone/>
            </a:pPr>
            <a:r>
              <a:rPr lang="en-US" sz="1550" dirty="0">
                <a:solidFill>
                  <a:srgbClr val="1F2937"/>
                </a:solidFill>
                <a:latin typeface="Calibri" pitchFamily="34" charset="0"/>
                <a:ea typeface="Calibri" pitchFamily="34" charset="-122"/>
                <a:cs typeface="Calibri" pitchFamily="34" charset="-120"/>
              </a:rPr>
              <a:t>Google Chrome headless hoặc wkhtmltopdf</a:t>
            </a:r>
            <a:endParaRPr lang="en-US" sz="1600" dirty="0"/>
          </a:p>
        </p:txBody>
      </p:sp>
      <p:sp>
        <p:nvSpPr>
          <p:cNvPr id="35" name="A4_bg1"/>
          <p:cNvSpPr/>
          <p:nvPr/>
        </p:nvSpPr>
        <p:spPr>
          <a:xfrm>
            <a:off x="6172200" y="5029200"/>
            <a:ext cx="5440680" cy="1005840"/>
          </a:xfrm>
          <a:prstGeom prst="roundRect">
            <a:avLst>
              <a:gd name="adj" fmla="val 7273"/>
            </a:avLst>
          </a:prstGeom>
          <a:solidFill>
            <a:srgbClr val="FFFFFF"/>
          </a:solidFill>
          <a:ln w="12700">
            <a:solidFill>
              <a:srgbClr val="FFFFFF"/>
            </a:solidFill>
            <a:prstDash val="solid"/>
          </a:ln>
        </p:spPr>
      </p:sp>
      <p:sp>
        <p:nvSpPr>
          <p:cNvPr id="36" name="A4_b1_c"/>
          <p:cNvSpPr/>
          <p:nvPr/>
        </p:nvSpPr>
        <p:spPr>
          <a:xfrm>
            <a:off x="6400800" y="5230368"/>
            <a:ext cx="603504" cy="603504"/>
          </a:xfrm>
          <a:prstGeom prst="ellipse">
            <a:avLst/>
          </a:prstGeom>
          <a:solidFill>
            <a:srgbClr val="14284B"/>
          </a:solidFill>
          <a:ln w="12700">
            <a:solidFill>
              <a:srgbClr val="14284B"/>
            </a:solidFill>
            <a:prstDash val="solid"/>
          </a:ln>
        </p:spPr>
      </p:sp>
      <p:pic>
        <p:nvPicPr>
          <p:cNvPr id="37" name="A4_b1_i" descr="preencoded.png"/>
          <p:cNvPicPr>
            <a:picLocks noChangeAspect="1"/>
          </p:cNvPicPr>
          <p:nvPr/>
        </p:nvPicPr>
        <p:blipFill>
          <a:blip r:embed="rId10"/>
          <a:stretch>
            <a:fillRect/>
          </a:stretch>
        </p:blipFill>
        <p:spPr>
          <a:xfrm>
            <a:off x="6557711" y="5387279"/>
            <a:ext cx="289682" cy="289682"/>
          </a:xfrm>
          <a:prstGeom prst="rect">
            <a:avLst/>
          </a:prstGeom>
        </p:spPr>
      </p:pic>
      <p:sp>
        <p:nvSpPr>
          <p:cNvPr id="38" name="A4_t1"/>
          <p:cNvSpPr/>
          <p:nvPr/>
        </p:nvSpPr>
        <p:spPr>
          <a:xfrm>
            <a:off x="7178040" y="5102352"/>
            <a:ext cx="4297680" cy="868680"/>
          </a:xfrm>
          <a:prstGeom prst="rect">
            <a:avLst/>
          </a:prstGeom>
          <a:noFill/>
          <a:ln/>
        </p:spPr>
        <p:txBody>
          <a:bodyPr wrap="square" lIns="0" tIns="0" rIns="0" bIns="0" rtlCol="0" anchor="ctr"/>
          <a:lstStyle/>
          <a:p>
            <a:pPr marL="0" indent="0">
              <a:buNone/>
            </a:pPr>
            <a:r>
              <a:rPr lang="en-US" sz="1600" b="1" dirty="0">
                <a:solidFill>
                  <a:srgbClr val="14284B"/>
                </a:solidFill>
                <a:latin typeface="Cambria" pitchFamily="34" charset="0"/>
                <a:ea typeface="Cambria" pitchFamily="34" charset="-122"/>
                <a:cs typeface="Cambria" pitchFamily="34" charset="-120"/>
              </a:rPr>
              <a:t>Triển khai</a:t>
            </a:r>
            <a:endParaRPr lang="en-US" sz="1600" dirty="0"/>
          </a:p>
          <a:p>
            <a:pPr marL="0" indent="0">
              <a:buNone/>
            </a:pPr>
            <a:r>
              <a:rPr lang="en-US" sz="1550" dirty="0">
                <a:solidFill>
                  <a:srgbClr val="1F2937"/>
                </a:solidFill>
                <a:latin typeface="Calibri" pitchFamily="34" charset="0"/>
                <a:ea typeface="Calibri" pitchFamily="34" charset="-122"/>
                <a:cs typeface="Calibri" pitchFamily="34" charset="-120"/>
              </a:rPr>
              <a:t>nginx (HTTPS), systemd, Docker Compose</a:t>
            </a:r>
            <a:endParaRPr lang="en-US" sz="16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00"/>
                                        <p:tgtEl>
                                          <p:spTgt spid="12"/>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par>
                                <p:cTn id="34" presetID="10" presetClass="entr" presetSubtype="0"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par>
                                <p:cTn id="37" presetID="10" presetClass="entr" presetSubtype="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400"/>
                                        <p:tgtEl>
                                          <p:spTgt spid="18"/>
                                        </p:tgtEl>
                                      </p:cBhvr>
                                    </p:animEffect>
                                  </p:childTnLst>
                                </p:cTn>
                              </p:par>
                              <p:par>
                                <p:cTn id="43" presetID="10" presetClass="entr" presetSubtype="0" fill="hold"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400"/>
                                        <p:tgtEl>
                                          <p:spTgt spid="19"/>
                                        </p:tgtEl>
                                      </p:cBhvr>
                                    </p:animEffect>
                                  </p:childTnLst>
                                </p:cTn>
                              </p:par>
                              <p:par>
                                <p:cTn id="46" presetID="10" presetClass="entr" presetSubtype="0" fill="hold"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400"/>
                                        <p:tgtEl>
                                          <p:spTgt spid="20"/>
                                        </p:tgtEl>
                                      </p:cBhvr>
                                    </p:animEffect>
                                  </p:childTnLst>
                                </p:cTn>
                              </p:par>
                              <p:par>
                                <p:cTn id="49" presetID="10" presetClass="entr" presetSubtype="0"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400"/>
                                        <p:tgtEl>
                                          <p:spTgt spid="2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400"/>
                                        <p:tgtEl>
                                          <p:spTgt spid="22"/>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400"/>
                                        <p:tgtEl>
                                          <p:spTgt spid="23"/>
                                        </p:tgtEl>
                                      </p:cBhvr>
                                    </p:animEffect>
                                  </p:childTnLst>
                                </p:cTn>
                              </p:par>
                              <p:par>
                                <p:cTn id="60" presetID="10" presetClass="entr" presetSubtype="0" fill="hold"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400"/>
                                        <p:tgtEl>
                                          <p:spTgt spid="24"/>
                                        </p:tgtEl>
                                      </p:cBhvr>
                                    </p:animEffect>
                                  </p:childTnLst>
                                </p:cTn>
                              </p:par>
                              <p:par>
                                <p:cTn id="63" presetID="10" presetClass="entr" presetSubtype="0" fill="hold"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400"/>
                                        <p:tgtEl>
                                          <p:spTgt spid="2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400"/>
                                        <p:tgtEl>
                                          <p:spTgt spid="26"/>
                                        </p:tgtEl>
                                      </p:cBhvr>
                                    </p:animEffect>
                                  </p:childTnLst>
                                </p:cTn>
                              </p:par>
                              <p:par>
                                <p:cTn id="69" presetID="10" presetClass="entr" presetSubtype="0" fill="hold" nodeType="with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400"/>
                                        <p:tgtEl>
                                          <p:spTgt spid="27"/>
                                        </p:tgtEl>
                                      </p:cBhvr>
                                    </p:animEffect>
                                  </p:childTnLst>
                                </p:cTn>
                              </p:par>
                              <p:par>
                                <p:cTn id="72" presetID="10" presetClass="entr" presetSubtype="0" fill="hold" nodeType="with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par>
                                <p:cTn id="75" presetID="10" presetClass="entr" presetSubtype="0" fill="hold"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400"/>
                                        <p:tgtEl>
                                          <p:spTgt spid="2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400"/>
                                        <p:tgtEl>
                                          <p:spTgt spid="30"/>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400"/>
                                        <p:tgtEl>
                                          <p:spTgt spid="31"/>
                                        </p:tgtEl>
                                      </p:cBhvr>
                                    </p:animEffect>
                                  </p:childTnLst>
                                </p:cTn>
                              </p:par>
                              <p:par>
                                <p:cTn id="86" presetID="10" presetClass="entr" presetSubtype="0" fill="hold" nodeType="with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400"/>
                                        <p:tgtEl>
                                          <p:spTgt spid="32"/>
                                        </p:tgtEl>
                                      </p:cBhvr>
                                    </p:animEffect>
                                  </p:childTnLst>
                                </p:cTn>
                              </p:par>
                              <p:par>
                                <p:cTn id="89" presetID="10" presetClass="entr" presetSubtype="0" fill="hold" nodeType="with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400"/>
                                        <p:tgtEl>
                                          <p:spTgt spid="33"/>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400"/>
                                        <p:tgtEl>
                                          <p:spTgt spid="34"/>
                                        </p:tgtEl>
                                      </p:cBhvr>
                                    </p:animEffect>
                                  </p:childTnLst>
                                </p:cTn>
                              </p:par>
                              <p:par>
                                <p:cTn id="95" presetID="10" presetClass="entr" presetSubtype="0" fill="hold" nodeType="withEffect">
                                  <p:stCondLst>
                                    <p:cond delay="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400"/>
                                        <p:tgtEl>
                                          <p:spTgt spid="35"/>
                                        </p:tgtEl>
                                      </p:cBhvr>
                                    </p:animEffect>
                                  </p:childTnLst>
                                </p:cTn>
                              </p:par>
                              <p:par>
                                <p:cTn id="98" presetID="10" presetClass="entr" presetSubtype="0" fill="hold" nodeType="withEffect">
                                  <p:stCondLst>
                                    <p:cond delay="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400"/>
                                        <p:tgtEl>
                                          <p:spTgt spid="36"/>
                                        </p:tgtEl>
                                      </p:cBhvr>
                                    </p:animEffect>
                                  </p:childTnLst>
                                </p:cTn>
                              </p:par>
                              <p:par>
                                <p:cTn id="101" presetID="10" presetClass="entr" presetSubtype="0" fill="hold" nodeType="withEffect">
                                  <p:stCondLst>
                                    <p:cond delay="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400"/>
                                        <p:tgtEl>
                                          <p:spTgt spid="37"/>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8" grpId="0" animBg="1"/>
      <p:bldP spid="22" grpId="0" animBg="1"/>
      <p:bldP spid="26" grpId="0" animBg="1"/>
      <p:bldP spid="30" grpId="0" animBg="1"/>
      <p:bldP spid="34" grpId="0" animBg="1"/>
      <p:bldP spid="3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6EDF5"/>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150" dirty="0">
                <a:solidFill>
                  <a:srgbClr val="0E7C86"/>
                </a:solidFill>
                <a:latin typeface="Calibri" pitchFamily="34" charset="0"/>
                <a:ea typeface="Calibri" pitchFamily="34" charset="-122"/>
                <a:cs typeface="Calibri" pitchFamily="34" charset="-120"/>
              </a:rPr>
              <a:t>PHẦN 3 · PHÂN TÍCH, THIẾT KẾ</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14284B"/>
                </a:solidFill>
                <a:latin typeface="Cambria" pitchFamily="34" charset="0"/>
                <a:ea typeface="Cambria" pitchFamily="34" charset="-122"/>
                <a:cs typeface="Cambria" pitchFamily="34" charset="-120"/>
              </a:rPr>
              <a:t>Tác nhân và yêu cầu hệ thống</a:t>
            </a:r>
            <a:endParaRPr lang="en-US" sz="28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Đặng Kim Khánh · CT060318 · Hệ thống quản lý bằng số sử dụng ký số hậu lượng tử</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6 / 25</a:t>
            </a:r>
            <a:endParaRPr lang="en-US" sz="1000" dirty="0"/>
          </a:p>
        </p:txBody>
      </p:sp>
      <p:sp>
        <p:nvSpPr>
          <p:cNvPr id="7" name="Text 4"/>
          <p:cNvSpPr txBox="1"/>
          <p:nvPr/>
        </p:nvSpPr>
        <p:spPr>
          <a:xfrm>
            <a:off x="548640" y="1371600"/>
            <a:ext cx="6400800" cy="365760"/>
          </a:xfrm>
          <a:prstGeom prst="rect">
            <a:avLst/>
          </a:prstGeom>
          <a:noFill/>
          <a:ln/>
        </p:spPr>
        <p:txBody>
          <a:bodyPr wrap="square" lIns="0" tIns="0" rIns="0" bIns="0" rtlCol="0" anchor="ctr"/>
          <a:lstStyle/>
          <a:p>
            <a:pPr marL="0" indent="0">
              <a:buNone/>
            </a:pPr>
            <a:r>
              <a:rPr lang="en-US" sz="1600" b="1" dirty="0">
                <a:solidFill>
                  <a:srgbClr val="14284B"/>
                </a:solidFill>
                <a:latin typeface="Cambria" pitchFamily="34" charset="0"/>
                <a:ea typeface="Cambria" pitchFamily="34" charset="-122"/>
                <a:cs typeface="Cambria" pitchFamily="34" charset="-120"/>
              </a:rPr>
              <a:t>Yêu cầu chức năng theo tác nhân</a:t>
            </a:r>
            <a:endParaRPr lang="en-US" sz="1600" dirty="0"/>
          </a:p>
        </p:txBody>
      </p:sp>
      <p:sp>
        <p:nvSpPr>
          <p:cNvPr id="8" name="A1_bg"/>
          <p:cNvSpPr/>
          <p:nvPr/>
        </p:nvSpPr>
        <p:spPr>
          <a:xfrm>
            <a:off x="548640" y="1828800"/>
            <a:ext cx="6583680" cy="932688"/>
          </a:xfrm>
          <a:prstGeom prst="roundRect">
            <a:avLst>
              <a:gd name="adj" fmla="val 7843"/>
            </a:avLst>
          </a:prstGeom>
          <a:solidFill>
            <a:srgbClr val="FFFFFF"/>
          </a:solidFill>
          <a:ln w="12700">
            <a:solidFill>
              <a:srgbClr val="FFFFFF"/>
            </a:solidFill>
            <a:prstDash val="solid"/>
          </a:ln>
        </p:spPr>
      </p:sp>
      <p:sp>
        <p:nvSpPr>
          <p:cNvPr id="9" name="A1_c"/>
          <p:cNvSpPr/>
          <p:nvPr/>
        </p:nvSpPr>
        <p:spPr>
          <a:xfrm>
            <a:off x="749808" y="2011680"/>
            <a:ext cx="566928" cy="566928"/>
          </a:xfrm>
          <a:prstGeom prst="ellipse">
            <a:avLst/>
          </a:prstGeom>
          <a:solidFill>
            <a:srgbClr val="14284B"/>
          </a:solidFill>
          <a:ln w="12700">
            <a:solidFill>
              <a:srgbClr val="14284B"/>
            </a:solidFill>
            <a:prstDash val="solid"/>
          </a:ln>
        </p:spPr>
      </p:sp>
      <p:pic>
        <p:nvPicPr>
          <p:cNvPr id="10" name="A1_i" descr="preencoded.png"/>
          <p:cNvPicPr>
            <a:picLocks noChangeAspect="1"/>
          </p:cNvPicPr>
          <p:nvPr/>
        </p:nvPicPr>
        <p:blipFill>
          <a:blip r:embed="rId3"/>
          <a:stretch>
            <a:fillRect/>
          </a:stretch>
        </p:blipFill>
        <p:spPr>
          <a:xfrm>
            <a:off x="897209" y="2159081"/>
            <a:ext cx="272125" cy="272125"/>
          </a:xfrm>
          <a:prstGeom prst="rect">
            <a:avLst/>
          </a:prstGeom>
        </p:spPr>
      </p:pic>
      <p:sp>
        <p:nvSpPr>
          <p:cNvPr id="11" name="A1_t"/>
          <p:cNvSpPr/>
          <p:nvPr/>
        </p:nvSpPr>
        <p:spPr>
          <a:xfrm>
            <a:off x="1508760" y="1883664"/>
            <a:ext cx="5486400" cy="822960"/>
          </a:xfrm>
          <a:prstGeom prst="rect">
            <a:avLst/>
          </a:prstGeom>
          <a:noFill/>
          <a:ln/>
        </p:spPr>
        <p:txBody>
          <a:bodyPr wrap="square" lIns="0" tIns="0" rIns="0" bIns="0" rtlCol="0" anchor="ctr"/>
          <a:lstStyle/>
          <a:p>
            <a:pPr marL="0" indent="0">
              <a:buNone/>
            </a:pPr>
            <a:r>
              <a:rPr lang="en-US" sz="1500" b="1" dirty="0">
                <a:solidFill>
                  <a:srgbClr val="14284B"/>
                </a:solidFill>
                <a:latin typeface="Cambria" pitchFamily="34" charset="0"/>
                <a:ea typeface="Cambria" pitchFamily="34" charset="-122"/>
                <a:cs typeface="Cambria" pitchFamily="34" charset="-120"/>
              </a:rPr>
              <a:t>Quản trị viên hệ thống</a:t>
            </a:r>
            <a:endParaRPr lang="en-US" sz="1500" dirty="0"/>
          </a:p>
          <a:p>
            <a:pPr marL="0" indent="0">
              <a:buNone/>
            </a:pPr>
            <a:r>
              <a:rPr lang="en-US" sz="1500" dirty="0">
                <a:solidFill>
                  <a:srgbClr val="1F2937"/>
                </a:solidFill>
                <a:latin typeface="Calibri" pitchFamily="34" charset="0"/>
                <a:ea typeface="Calibri" pitchFamily="34" charset="-122"/>
                <a:cs typeface="Calibri" pitchFamily="34" charset="-120"/>
              </a:rPr>
              <a:t>Tạo, cập nhật, khóa trường; gửi liên kết kích hoạt; xem tổng quan</a:t>
            </a:r>
            <a:endParaRPr lang="en-US" sz="1500" dirty="0"/>
          </a:p>
        </p:txBody>
      </p:sp>
      <p:sp>
        <p:nvSpPr>
          <p:cNvPr id="12" name="A2_bg"/>
          <p:cNvSpPr/>
          <p:nvPr/>
        </p:nvSpPr>
        <p:spPr>
          <a:xfrm>
            <a:off x="548640" y="2907792"/>
            <a:ext cx="6583680" cy="932688"/>
          </a:xfrm>
          <a:prstGeom prst="roundRect">
            <a:avLst>
              <a:gd name="adj" fmla="val 7843"/>
            </a:avLst>
          </a:prstGeom>
          <a:solidFill>
            <a:srgbClr val="FFFFFF"/>
          </a:solidFill>
          <a:ln w="12700">
            <a:solidFill>
              <a:srgbClr val="FFFFFF"/>
            </a:solidFill>
            <a:prstDash val="solid"/>
          </a:ln>
        </p:spPr>
      </p:sp>
      <p:sp>
        <p:nvSpPr>
          <p:cNvPr id="13" name="A2_c"/>
          <p:cNvSpPr/>
          <p:nvPr/>
        </p:nvSpPr>
        <p:spPr>
          <a:xfrm>
            <a:off x="749808" y="3090672"/>
            <a:ext cx="566928" cy="566928"/>
          </a:xfrm>
          <a:prstGeom prst="ellipse">
            <a:avLst/>
          </a:prstGeom>
          <a:solidFill>
            <a:srgbClr val="14284B"/>
          </a:solidFill>
          <a:ln w="12700">
            <a:solidFill>
              <a:srgbClr val="14284B"/>
            </a:solidFill>
            <a:prstDash val="solid"/>
          </a:ln>
        </p:spPr>
      </p:sp>
      <p:pic>
        <p:nvPicPr>
          <p:cNvPr id="14" name="A2_i" descr="preencoded.png"/>
          <p:cNvPicPr>
            <a:picLocks noChangeAspect="1"/>
          </p:cNvPicPr>
          <p:nvPr/>
        </p:nvPicPr>
        <p:blipFill>
          <a:blip r:embed="rId4"/>
          <a:stretch>
            <a:fillRect/>
          </a:stretch>
        </p:blipFill>
        <p:spPr>
          <a:xfrm>
            <a:off x="897209" y="3238073"/>
            <a:ext cx="272125" cy="272125"/>
          </a:xfrm>
          <a:prstGeom prst="rect">
            <a:avLst/>
          </a:prstGeom>
        </p:spPr>
      </p:pic>
      <p:sp>
        <p:nvSpPr>
          <p:cNvPr id="15" name="A2_t"/>
          <p:cNvSpPr/>
          <p:nvPr/>
        </p:nvSpPr>
        <p:spPr>
          <a:xfrm>
            <a:off x="1508760" y="2962656"/>
            <a:ext cx="5486400" cy="822960"/>
          </a:xfrm>
          <a:prstGeom prst="rect">
            <a:avLst/>
          </a:prstGeom>
          <a:noFill/>
          <a:ln/>
        </p:spPr>
        <p:txBody>
          <a:bodyPr wrap="square" lIns="0" tIns="0" rIns="0" bIns="0" rtlCol="0" anchor="ctr"/>
          <a:lstStyle/>
          <a:p>
            <a:pPr marL="0" indent="0">
              <a:buNone/>
            </a:pPr>
            <a:r>
              <a:rPr lang="en-US" sz="1500" b="1" dirty="0">
                <a:solidFill>
                  <a:srgbClr val="14284B"/>
                </a:solidFill>
                <a:latin typeface="Cambria" pitchFamily="34" charset="0"/>
                <a:ea typeface="Cambria" pitchFamily="34" charset="-122"/>
                <a:cs typeface="Cambria" pitchFamily="34" charset="-120"/>
              </a:rPr>
              <a:t>Quản trị viên trường</a:t>
            </a:r>
            <a:endParaRPr lang="en-US" sz="1500" dirty="0"/>
          </a:p>
          <a:p>
            <a:pPr marL="0" indent="0">
              <a:buNone/>
            </a:pPr>
            <a:r>
              <a:rPr lang="en-US" sz="1500" dirty="0">
                <a:solidFill>
                  <a:srgbClr val="1F2937"/>
                </a:solidFill>
                <a:latin typeface="Calibri" pitchFamily="34" charset="0"/>
                <a:ea typeface="Calibri" pitchFamily="34" charset="-122"/>
                <a:cs typeface="Calibri" pitchFamily="34" charset="-120"/>
              </a:rPr>
              <a:t>Chuyên ngành, sinh viên, mẫu bằng, khóa ký; cấp, ký, ghi lô, thu hồi theo đợt</a:t>
            </a:r>
            <a:endParaRPr lang="en-US" sz="1500" dirty="0"/>
          </a:p>
        </p:txBody>
      </p:sp>
      <p:sp>
        <p:nvSpPr>
          <p:cNvPr id="16" name="A3_bg"/>
          <p:cNvSpPr/>
          <p:nvPr/>
        </p:nvSpPr>
        <p:spPr>
          <a:xfrm>
            <a:off x="548640" y="3986784"/>
            <a:ext cx="6583680" cy="932688"/>
          </a:xfrm>
          <a:prstGeom prst="roundRect">
            <a:avLst>
              <a:gd name="adj" fmla="val 7843"/>
            </a:avLst>
          </a:prstGeom>
          <a:solidFill>
            <a:srgbClr val="FFFFFF"/>
          </a:solidFill>
          <a:ln w="12700">
            <a:solidFill>
              <a:srgbClr val="FFFFFF"/>
            </a:solidFill>
            <a:prstDash val="solid"/>
          </a:ln>
        </p:spPr>
      </p:sp>
      <p:sp>
        <p:nvSpPr>
          <p:cNvPr id="17" name="A3_c"/>
          <p:cNvSpPr/>
          <p:nvPr/>
        </p:nvSpPr>
        <p:spPr>
          <a:xfrm>
            <a:off x="749808" y="4169664"/>
            <a:ext cx="566928" cy="566928"/>
          </a:xfrm>
          <a:prstGeom prst="ellipse">
            <a:avLst/>
          </a:prstGeom>
          <a:solidFill>
            <a:srgbClr val="14284B"/>
          </a:solidFill>
          <a:ln w="12700">
            <a:solidFill>
              <a:srgbClr val="14284B"/>
            </a:solidFill>
            <a:prstDash val="solid"/>
          </a:ln>
        </p:spPr>
      </p:sp>
      <p:pic>
        <p:nvPicPr>
          <p:cNvPr id="18" name="A3_i" descr="preencoded.png"/>
          <p:cNvPicPr>
            <a:picLocks noChangeAspect="1"/>
          </p:cNvPicPr>
          <p:nvPr/>
        </p:nvPicPr>
        <p:blipFill>
          <a:blip r:embed="rId5"/>
          <a:stretch>
            <a:fillRect/>
          </a:stretch>
        </p:blipFill>
        <p:spPr>
          <a:xfrm>
            <a:off x="897209" y="4317065"/>
            <a:ext cx="272125" cy="272125"/>
          </a:xfrm>
          <a:prstGeom prst="rect">
            <a:avLst/>
          </a:prstGeom>
        </p:spPr>
      </p:pic>
      <p:sp>
        <p:nvSpPr>
          <p:cNvPr id="19" name="A3_t"/>
          <p:cNvSpPr/>
          <p:nvPr/>
        </p:nvSpPr>
        <p:spPr>
          <a:xfrm>
            <a:off x="1508760" y="4041648"/>
            <a:ext cx="5486400" cy="822960"/>
          </a:xfrm>
          <a:prstGeom prst="rect">
            <a:avLst/>
          </a:prstGeom>
          <a:noFill/>
          <a:ln/>
        </p:spPr>
        <p:txBody>
          <a:bodyPr wrap="square" lIns="0" tIns="0" rIns="0" bIns="0" rtlCol="0" anchor="ctr"/>
          <a:lstStyle/>
          <a:p>
            <a:pPr marL="0" indent="0">
              <a:buNone/>
            </a:pPr>
            <a:r>
              <a:rPr lang="en-US" sz="1500" b="1" dirty="0">
                <a:solidFill>
                  <a:srgbClr val="14284B"/>
                </a:solidFill>
                <a:latin typeface="Cambria" pitchFamily="34" charset="0"/>
                <a:ea typeface="Cambria" pitchFamily="34" charset="-122"/>
                <a:cs typeface="Cambria" pitchFamily="34" charset="-120"/>
              </a:rPr>
              <a:t>Sinh viên</a:t>
            </a:r>
            <a:endParaRPr lang="en-US" sz="1500" dirty="0"/>
          </a:p>
          <a:p>
            <a:pPr marL="0" indent="0">
              <a:buNone/>
            </a:pPr>
            <a:r>
              <a:rPr lang="en-US" sz="1500" dirty="0">
                <a:solidFill>
                  <a:srgbClr val="1F2937"/>
                </a:solidFill>
                <a:latin typeface="Calibri" pitchFamily="34" charset="0"/>
                <a:ea typeface="Calibri" pitchFamily="34" charset="-122"/>
                <a:cs typeface="Calibri" pitchFamily="34" charset="-120"/>
              </a:rPr>
              <a:t>Kích hoạt tài khoản bằng OTP; xem văn bằng và mã QR của mình</a:t>
            </a:r>
            <a:endParaRPr lang="en-US" sz="1500" dirty="0"/>
          </a:p>
        </p:txBody>
      </p:sp>
      <p:sp>
        <p:nvSpPr>
          <p:cNvPr id="20" name="A4_bg"/>
          <p:cNvSpPr/>
          <p:nvPr/>
        </p:nvSpPr>
        <p:spPr>
          <a:xfrm>
            <a:off x="548640" y="5065776"/>
            <a:ext cx="6583680" cy="932688"/>
          </a:xfrm>
          <a:prstGeom prst="roundRect">
            <a:avLst>
              <a:gd name="adj" fmla="val 7843"/>
            </a:avLst>
          </a:prstGeom>
          <a:solidFill>
            <a:srgbClr val="FFFFFF"/>
          </a:solidFill>
          <a:ln w="12700">
            <a:solidFill>
              <a:srgbClr val="FFFFFF"/>
            </a:solidFill>
            <a:prstDash val="solid"/>
          </a:ln>
        </p:spPr>
      </p:sp>
      <p:sp>
        <p:nvSpPr>
          <p:cNvPr id="21" name="A4_c"/>
          <p:cNvSpPr/>
          <p:nvPr/>
        </p:nvSpPr>
        <p:spPr>
          <a:xfrm>
            <a:off x="749808" y="5248656"/>
            <a:ext cx="566928" cy="566928"/>
          </a:xfrm>
          <a:prstGeom prst="ellipse">
            <a:avLst/>
          </a:prstGeom>
          <a:solidFill>
            <a:srgbClr val="14284B"/>
          </a:solidFill>
          <a:ln w="12700">
            <a:solidFill>
              <a:srgbClr val="14284B"/>
            </a:solidFill>
            <a:prstDash val="solid"/>
          </a:ln>
        </p:spPr>
      </p:sp>
      <p:pic>
        <p:nvPicPr>
          <p:cNvPr id="22" name="A4_i" descr="preencoded.png"/>
          <p:cNvPicPr>
            <a:picLocks noChangeAspect="1"/>
          </p:cNvPicPr>
          <p:nvPr/>
        </p:nvPicPr>
        <p:blipFill>
          <a:blip r:embed="rId6"/>
          <a:stretch>
            <a:fillRect/>
          </a:stretch>
        </p:blipFill>
        <p:spPr>
          <a:xfrm>
            <a:off x="897209" y="5396057"/>
            <a:ext cx="272125" cy="272125"/>
          </a:xfrm>
          <a:prstGeom prst="rect">
            <a:avLst/>
          </a:prstGeom>
        </p:spPr>
      </p:pic>
      <p:sp>
        <p:nvSpPr>
          <p:cNvPr id="23" name="A4_t"/>
          <p:cNvSpPr/>
          <p:nvPr/>
        </p:nvSpPr>
        <p:spPr>
          <a:xfrm>
            <a:off x="1508760" y="5120640"/>
            <a:ext cx="5486400" cy="822960"/>
          </a:xfrm>
          <a:prstGeom prst="rect">
            <a:avLst/>
          </a:prstGeom>
          <a:noFill/>
          <a:ln/>
        </p:spPr>
        <p:txBody>
          <a:bodyPr wrap="square" lIns="0" tIns="0" rIns="0" bIns="0" rtlCol="0" anchor="ctr"/>
          <a:lstStyle/>
          <a:p>
            <a:pPr marL="0" indent="0">
              <a:buNone/>
            </a:pPr>
            <a:r>
              <a:rPr lang="en-US" sz="1500" b="1" dirty="0">
                <a:solidFill>
                  <a:srgbClr val="14284B"/>
                </a:solidFill>
                <a:latin typeface="Cambria" pitchFamily="34" charset="0"/>
                <a:ea typeface="Cambria" pitchFamily="34" charset="-122"/>
                <a:cs typeface="Cambria" pitchFamily="34" charset="-120"/>
              </a:rPr>
              <a:t>Người xác minh</a:t>
            </a:r>
            <a:endParaRPr lang="en-US" sz="1500" dirty="0"/>
          </a:p>
          <a:p>
            <a:pPr marL="0" indent="0">
              <a:buNone/>
            </a:pPr>
            <a:r>
              <a:rPr lang="en-US" sz="1500" dirty="0">
                <a:solidFill>
                  <a:srgbClr val="1F2937"/>
                </a:solidFill>
                <a:latin typeface="Calibri" pitchFamily="34" charset="0"/>
                <a:ea typeface="Calibri" pitchFamily="34" charset="-122"/>
                <a:cs typeface="Calibri" pitchFamily="34" charset="-120"/>
              </a:rPr>
              <a:t>Xác minh công khai trên web hoặc ứng dụng di động</a:t>
            </a:r>
            <a:endParaRPr lang="en-US" sz="1500" dirty="0"/>
          </a:p>
        </p:txBody>
      </p:sp>
      <p:sp>
        <p:nvSpPr>
          <p:cNvPr id="24" name="A5_bg"/>
          <p:cNvSpPr/>
          <p:nvPr/>
        </p:nvSpPr>
        <p:spPr>
          <a:xfrm>
            <a:off x="7406640" y="1371600"/>
            <a:ext cx="4242816" cy="4754880"/>
          </a:xfrm>
          <a:prstGeom prst="roundRect">
            <a:avLst>
              <a:gd name="adj" fmla="val 1724"/>
            </a:avLst>
          </a:prstGeom>
          <a:solidFill>
            <a:srgbClr val="FFFFFF"/>
          </a:solidFill>
          <a:ln w="12700">
            <a:solidFill>
              <a:srgbClr val="FFFFFF"/>
            </a:solidFill>
            <a:prstDash val="solid"/>
          </a:ln>
        </p:spPr>
      </p:sp>
      <p:sp>
        <p:nvSpPr>
          <p:cNvPr id="25" name="A5_c"/>
          <p:cNvSpPr/>
          <p:nvPr/>
        </p:nvSpPr>
        <p:spPr>
          <a:xfrm>
            <a:off x="7635240" y="1600200"/>
            <a:ext cx="502920" cy="502920"/>
          </a:xfrm>
          <a:prstGeom prst="ellipse">
            <a:avLst/>
          </a:prstGeom>
          <a:solidFill>
            <a:srgbClr val="14284B"/>
          </a:solidFill>
          <a:ln w="12700">
            <a:solidFill>
              <a:srgbClr val="14284B"/>
            </a:solidFill>
            <a:prstDash val="solid"/>
          </a:ln>
        </p:spPr>
      </p:sp>
      <p:pic>
        <p:nvPicPr>
          <p:cNvPr id="26" name="A5_i" descr="preencoded.png"/>
          <p:cNvPicPr>
            <a:picLocks noChangeAspect="1"/>
          </p:cNvPicPr>
          <p:nvPr/>
        </p:nvPicPr>
        <p:blipFill>
          <a:blip r:embed="rId7"/>
          <a:stretch>
            <a:fillRect/>
          </a:stretch>
        </p:blipFill>
        <p:spPr>
          <a:xfrm>
            <a:off x="7765999" y="1730959"/>
            <a:ext cx="241402" cy="241402"/>
          </a:xfrm>
          <a:prstGeom prst="rect">
            <a:avLst/>
          </a:prstGeom>
        </p:spPr>
      </p:pic>
      <p:sp>
        <p:nvSpPr>
          <p:cNvPr id="27" name="A5_h"/>
          <p:cNvSpPr/>
          <p:nvPr/>
        </p:nvSpPr>
        <p:spPr>
          <a:xfrm>
            <a:off x="8275320" y="1600200"/>
            <a:ext cx="3191256" cy="502920"/>
          </a:xfrm>
          <a:prstGeom prst="rect">
            <a:avLst/>
          </a:prstGeom>
          <a:noFill/>
          <a:ln/>
        </p:spPr>
        <p:txBody>
          <a:bodyPr wrap="square" lIns="0" tIns="0" rIns="0" bIns="0" rtlCol="0" anchor="ctr"/>
          <a:lstStyle/>
          <a:p>
            <a:pPr marL="0" indent="0">
              <a:buNone/>
            </a:pPr>
            <a:r>
              <a:rPr lang="en-US" sz="1700" b="1" dirty="0">
                <a:solidFill>
                  <a:srgbClr val="14284B"/>
                </a:solidFill>
                <a:latin typeface="Cambria" pitchFamily="34" charset="0"/>
                <a:ea typeface="Cambria" pitchFamily="34" charset="-122"/>
                <a:cs typeface="Cambria" pitchFamily="34" charset="-120"/>
              </a:rPr>
              <a:t>Yêu cầu phi chức năng</a:t>
            </a:r>
            <a:endParaRPr lang="en-US" sz="1700" dirty="0"/>
          </a:p>
        </p:txBody>
      </p:sp>
      <p:sp>
        <p:nvSpPr>
          <p:cNvPr id="28" name="A5_t"/>
          <p:cNvSpPr/>
          <p:nvPr/>
        </p:nvSpPr>
        <p:spPr>
          <a:xfrm>
            <a:off x="7635240" y="2240280"/>
            <a:ext cx="3831336" cy="3749040"/>
          </a:xfrm>
          <a:prstGeom prst="rect">
            <a:avLst/>
          </a:prstGeom>
          <a:noFill/>
          <a:ln/>
        </p:spPr>
        <p:txBody>
          <a:bodyPr wrap="square" lIns="0" tIns="0" rIns="0" bIns="0" rtlCol="0" anchor="t"/>
          <a:lstStyle/>
          <a:p>
            <a:pPr marL="177800" indent="-177800">
              <a:spcAft>
                <a:spcPts val="500"/>
              </a:spcAft>
              <a:buSzPct val="100000"/>
              <a:buChar char="•"/>
            </a:pPr>
            <a:r>
              <a:rPr lang="en-US" sz="1550" dirty="0">
                <a:solidFill>
                  <a:srgbClr val="1F2937"/>
                </a:solidFill>
                <a:latin typeface="Calibri" pitchFamily="34" charset="0"/>
                <a:ea typeface="Calibri" pitchFamily="34" charset="-122"/>
                <a:cs typeface="Calibri" pitchFamily="34" charset="-120"/>
              </a:rPr>
              <a:t>Bảo mật: khóa bí mật được mã hóa, khóa chủ tách khỏi khóa JWT</a:t>
            </a:r>
            <a:endParaRPr lang="en-US" sz="1550" dirty="0"/>
          </a:p>
          <a:p>
            <a:pPr marL="177800" indent="-177800">
              <a:spcAft>
                <a:spcPts val="500"/>
              </a:spcAft>
              <a:buSzPct val="100000"/>
              <a:buChar char="•"/>
            </a:pPr>
            <a:r>
              <a:rPr lang="en-US" sz="1550" dirty="0">
                <a:solidFill>
                  <a:srgbClr val="1F2937"/>
                </a:solidFill>
                <a:latin typeface="Calibri" pitchFamily="34" charset="0"/>
                <a:ea typeface="Calibri" pitchFamily="34" charset="-122"/>
                <a:cs typeface="Calibri" pitchFamily="34" charset="-120"/>
              </a:rPr>
              <a:t>Toàn vẹn: mọi thay đổi PDF, manifest, proof đều bị phát hiện</a:t>
            </a:r>
            <a:endParaRPr lang="en-US" sz="1550" dirty="0"/>
          </a:p>
          <a:p>
            <a:pPr marL="177800" indent="-177800">
              <a:spcAft>
                <a:spcPts val="500"/>
              </a:spcAft>
              <a:buSzPct val="100000"/>
              <a:buChar char="•"/>
            </a:pPr>
            <a:r>
              <a:rPr lang="en-US" sz="1550" dirty="0">
                <a:solidFill>
                  <a:srgbClr val="1F2937"/>
                </a:solidFill>
                <a:latin typeface="Calibri" pitchFamily="34" charset="0"/>
                <a:ea typeface="Calibri" pitchFamily="34" charset="-122"/>
                <a:cs typeface="Calibri" pitchFamily="34" charset="-120"/>
              </a:rPr>
              <a:t>Xác thực: xác định được khóa và đơn vị phát hành</a:t>
            </a:r>
            <a:endParaRPr lang="en-US" sz="1550" dirty="0"/>
          </a:p>
          <a:p>
            <a:pPr marL="177800" indent="-177800">
              <a:spcAft>
                <a:spcPts val="500"/>
              </a:spcAft>
              <a:buSzPct val="100000"/>
              <a:buChar char="•"/>
            </a:pPr>
            <a:r>
              <a:rPr lang="en-US" sz="1550" dirty="0">
                <a:solidFill>
                  <a:srgbClr val="1F2937"/>
                </a:solidFill>
                <a:latin typeface="Calibri" pitchFamily="34" charset="0"/>
                <a:ea typeface="Calibri" pitchFamily="34" charset="-122"/>
                <a:cs typeface="Calibri" pitchFamily="34" charset="-120"/>
              </a:rPr>
              <a:t>Minh bạch: lô có mã, Merkle root, thời điểm giao dịch</a:t>
            </a:r>
            <a:endParaRPr lang="en-US" sz="1550" dirty="0"/>
          </a:p>
          <a:p>
            <a:pPr marL="177800" indent="-177800">
              <a:spcAft>
                <a:spcPts val="500"/>
              </a:spcAft>
              <a:buSzPct val="100000"/>
              <a:buChar char="•"/>
            </a:pPr>
            <a:r>
              <a:rPr lang="en-US" sz="1550" dirty="0">
                <a:solidFill>
                  <a:srgbClr val="1F2937"/>
                </a:solidFill>
                <a:latin typeface="Calibri" pitchFamily="34" charset="0"/>
                <a:ea typeface="Calibri" pitchFamily="34" charset="-122"/>
                <a:cs typeface="Calibri" pitchFamily="34" charset="-120"/>
              </a:rPr>
              <a:t>Mở rộng: thay lớp lưu khóa bằng KMS hoặc HSM</a:t>
            </a:r>
            <a:endParaRPr lang="en-US" sz="155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0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0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0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0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00"/>
                                        <p:tgtEl>
                                          <p:spTgt spid="24"/>
                                        </p:tgtEl>
                                      </p:cBhvr>
                                    </p:animEffect>
                                  </p:childTnLst>
                                </p:cTn>
                              </p:par>
                              <p:par>
                                <p:cTn id="64" presetID="10" presetClass="entr" presetSubtype="0" fill="hold"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00"/>
                                        <p:tgtEl>
                                          <p:spTgt spid="25"/>
                                        </p:tgtEl>
                                      </p:cBhvr>
                                    </p:animEffect>
                                  </p:childTnLst>
                                </p:cTn>
                              </p:par>
                              <p:par>
                                <p:cTn id="67" presetID="10" presetClass="entr" presetSubtype="0"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0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400"/>
                                        <p:tgtEl>
                                          <p:spTgt spid="2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P spid="19" grpId="0" animBg="1"/>
      <p:bldP spid="23" grpId="0" animBg="1"/>
      <p:bldP spid="27" grpId="0" animBg="1"/>
      <p:bldP spid="2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6EDF5"/>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150" dirty="0">
                <a:solidFill>
                  <a:srgbClr val="0E7C86"/>
                </a:solidFill>
                <a:latin typeface="Calibri" pitchFamily="34" charset="0"/>
                <a:ea typeface="Calibri" pitchFamily="34" charset="-122"/>
                <a:cs typeface="Calibri" pitchFamily="34" charset="-120"/>
              </a:rPr>
              <a:t>PHẦN 3 · PHÂN TÍCH, THIẾT KẾ</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14284B"/>
                </a:solidFill>
                <a:latin typeface="Cambria" pitchFamily="34" charset="0"/>
                <a:ea typeface="Cambria" pitchFamily="34" charset="-122"/>
                <a:cs typeface="Cambria" pitchFamily="34" charset="-120"/>
              </a:rPr>
              <a:t>Biểu đồ use case tổng quát</a:t>
            </a:r>
            <a:endParaRPr lang="en-US" sz="28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Đặng Kim Khánh · CT060318 · Hệ thống quản lý bằng số sử dụng ký số hậu lượng tử</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7 / 25</a:t>
            </a:r>
            <a:endParaRPr lang="en-US" sz="1000" dirty="0"/>
          </a:p>
        </p:txBody>
      </p:sp>
      <p:pic>
        <p:nvPicPr>
          <p:cNvPr id="7" name="Image 0" descr="C:\Users\admin\AppData\Local\Temp\claude\c--VBS-PQC\c16daadc-5363-4aed-8ec4-1ba9efe31d52\scratchpad\report\png\uc_tong_quat.png"/>
          <p:cNvPicPr>
            <a:picLocks noChangeAspect="1"/>
          </p:cNvPicPr>
          <p:nvPr/>
        </p:nvPicPr>
        <p:blipFill>
          <a:blip r:embed="rId3"/>
          <a:stretch>
            <a:fillRect/>
          </a:stretch>
        </p:blipFill>
        <p:spPr>
          <a:xfrm>
            <a:off x="1358334" y="1325880"/>
            <a:ext cx="3501251" cy="4983480"/>
          </a:xfrm>
          <a:prstGeom prst="rect">
            <a:avLst/>
          </a:prstGeom>
        </p:spPr>
      </p:pic>
      <p:sp>
        <p:nvSpPr>
          <p:cNvPr id="8" name="A1_bg"/>
          <p:cNvSpPr/>
          <p:nvPr/>
        </p:nvSpPr>
        <p:spPr>
          <a:xfrm>
            <a:off x="6126480" y="1554480"/>
            <a:ext cx="5522976" cy="4480560"/>
          </a:xfrm>
          <a:prstGeom prst="roundRect">
            <a:avLst>
              <a:gd name="adj" fmla="val 1633"/>
            </a:avLst>
          </a:prstGeom>
          <a:solidFill>
            <a:srgbClr val="FFFFFF"/>
          </a:solidFill>
          <a:ln w="12700">
            <a:solidFill>
              <a:srgbClr val="FFFFFF"/>
            </a:solidFill>
            <a:prstDash val="solid"/>
          </a:ln>
        </p:spPr>
      </p:sp>
      <p:sp>
        <p:nvSpPr>
          <p:cNvPr id="9" name="A1_c"/>
          <p:cNvSpPr/>
          <p:nvPr/>
        </p:nvSpPr>
        <p:spPr>
          <a:xfrm>
            <a:off x="6355080" y="1783080"/>
            <a:ext cx="502920" cy="502920"/>
          </a:xfrm>
          <a:prstGeom prst="ellipse">
            <a:avLst/>
          </a:prstGeom>
          <a:solidFill>
            <a:srgbClr val="14284B"/>
          </a:solidFill>
          <a:ln w="12700">
            <a:solidFill>
              <a:srgbClr val="14284B"/>
            </a:solidFill>
            <a:prstDash val="solid"/>
          </a:ln>
        </p:spPr>
      </p:sp>
      <p:pic>
        <p:nvPicPr>
          <p:cNvPr id="10" name="A1_i" descr="preencoded.png"/>
          <p:cNvPicPr>
            <a:picLocks noChangeAspect="1"/>
          </p:cNvPicPr>
          <p:nvPr/>
        </p:nvPicPr>
        <p:blipFill>
          <a:blip r:embed="rId4"/>
          <a:stretch>
            <a:fillRect/>
          </a:stretch>
        </p:blipFill>
        <p:spPr>
          <a:xfrm>
            <a:off x="6485839" y="1913839"/>
            <a:ext cx="241402" cy="241402"/>
          </a:xfrm>
          <a:prstGeom prst="rect">
            <a:avLst/>
          </a:prstGeom>
        </p:spPr>
      </p:pic>
      <p:sp>
        <p:nvSpPr>
          <p:cNvPr id="11" name="A1_h"/>
          <p:cNvSpPr/>
          <p:nvPr/>
        </p:nvSpPr>
        <p:spPr>
          <a:xfrm>
            <a:off x="6995160" y="1783080"/>
            <a:ext cx="4471416" cy="502920"/>
          </a:xfrm>
          <a:prstGeom prst="rect">
            <a:avLst/>
          </a:prstGeom>
          <a:noFill/>
          <a:ln/>
        </p:spPr>
        <p:txBody>
          <a:bodyPr wrap="square" lIns="0" tIns="0" rIns="0" bIns="0" rtlCol="0" anchor="ctr"/>
          <a:lstStyle/>
          <a:p>
            <a:pPr marL="0" indent="0">
              <a:buNone/>
            </a:pPr>
            <a:r>
              <a:rPr lang="en-US" sz="1700" b="1" dirty="0">
                <a:solidFill>
                  <a:srgbClr val="14284B"/>
                </a:solidFill>
                <a:latin typeface="Cambria" pitchFamily="34" charset="0"/>
                <a:ea typeface="Cambria" pitchFamily="34" charset="-122"/>
                <a:cs typeface="Cambria" pitchFamily="34" charset="-120"/>
              </a:rPr>
              <a:t>Các nhóm chức năng</a:t>
            </a:r>
            <a:endParaRPr lang="en-US" sz="1700" dirty="0"/>
          </a:p>
        </p:txBody>
      </p:sp>
      <p:sp>
        <p:nvSpPr>
          <p:cNvPr id="12" name="A1_t"/>
          <p:cNvSpPr/>
          <p:nvPr/>
        </p:nvSpPr>
        <p:spPr>
          <a:xfrm>
            <a:off x="6355080" y="2423160"/>
            <a:ext cx="5111496" cy="347472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Xác thực tài khoản: dùng chung cho các vai trò có tài khoản</a:t>
            </a:r>
            <a:endParaRPr lang="en-US" sz="1600" dirty="0"/>
          </a:p>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Quản lý trường: quản trị viên hệ thống</a:t>
            </a:r>
            <a:endParaRPr lang="en-US" sz="1600" dirty="0"/>
          </a:p>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Quản lý dữ liệu đào tạo, khóa ký ML-DSA, phát hành văn bằng: quản trị viên trường</a:t>
            </a:r>
            <a:endParaRPr lang="en-US" sz="1600" dirty="0"/>
          </a:p>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Tra cứu văn bằng của sinh viên</a:t>
            </a:r>
            <a:endParaRPr lang="en-US" sz="1600" dirty="0"/>
          </a:p>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Xác minh công khai: không cần tài khoản</a:t>
            </a:r>
            <a:endParaRPr lang="en-US" sz="1600" dirty="0"/>
          </a:p>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Tác nhân hệ thống: Hyperledger Fabric, dịch vụ email</a:t>
            </a:r>
            <a:endParaRPr lang="en-US" sz="16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6EDF5"/>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150" dirty="0">
                <a:solidFill>
                  <a:srgbClr val="0E7C86"/>
                </a:solidFill>
                <a:latin typeface="Calibri" pitchFamily="34" charset="0"/>
                <a:ea typeface="Calibri" pitchFamily="34" charset="-122"/>
                <a:cs typeface="Calibri" pitchFamily="34" charset="-120"/>
              </a:rPr>
              <a:t>PHẦN 3 · PHÂN TÍCH, THIẾT KẾ</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14284B"/>
                </a:solidFill>
                <a:latin typeface="Cambria" pitchFamily="34" charset="0"/>
                <a:ea typeface="Cambria" pitchFamily="34" charset="-122"/>
                <a:cs typeface="Cambria" pitchFamily="34" charset="-120"/>
              </a:rPr>
              <a:t>Biểu đồ tuần tự cấp và ký văn bằng</a:t>
            </a:r>
            <a:endParaRPr lang="en-US" sz="28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Đặng Kim Khánh · CT060318 · Hệ thống quản lý bằng số sử dụng ký số hậu lượng tử</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8 / 25</a:t>
            </a:r>
            <a:endParaRPr lang="en-US" sz="1000" dirty="0"/>
          </a:p>
        </p:txBody>
      </p:sp>
      <p:pic>
        <p:nvPicPr>
          <p:cNvPr id="7" name="Image 0" descr="C:\Users\admin\AppData\Local\Temp\claude\c--VBS-PQC\c16daadc-5363-4aed-8ec4-1ba9efe31d52\scratchpad\report\png\sd_cap_ky.png"/>
          <p:cNvPicPr>
            <a:picLocks noChangeAspect="1"/>
          </p:cNvPicPr>
          <p:nvPr/>
        </p:nvPicPr>
        <p:blipFill>
          <a:blip r:embed="rId3"/>
          <a:stretch>
            <a:fillRect/>
          </a:stretch>
        </p:blipFill>
        <p:spPr>
          <a:xfrm>
            <a:off x="958147" y="1325880"/>
            <a:ext cx="5216026" cy="4983480"/>
          </a:xfrm>
          <a:prstGeom prst="rect">
            <a:avLst/>
          </a:prstGeom>
        </p:spPr>
      </p:pic>
      <p:sp>
        <p:nvSpPr>
          <p:cNvPr id="8" name="A1_bg"/>
          <p:cNvSpPr/>
          <p:nvPr/>
        </p:nvSpPr>
        <p:spPr>
          <a:xfrm>
            <a:off x="6903720" y="1554480"/>
            <a:ext cx="4745736" cy="1325880"/>
          </a:xfrm>
          <a:prstGeom prst="roundRect">
            <a:avLst>
              <a:gd name="adj" fmla="val 5517"/>
            </a:avLst>
          </a:prstGeom>
          <a:solidFill>
            <a:srgbClr val="FFFFFF"/>
          </a:solidFill>
          <a:ln w="12700">
            <a:solidFill>
              <a:srgbClr val="FFFFFF"/>
            </a:solidFill>
            <a:prstDash val="solid"/>
          </a:ln>
        </p:spPr>
      </p:sp>
      <p:sp>
        <p:nvSpPr>
          <p:cNvPr id="9" name="A1_n"/>
          <p:cNvSpPr/>
          <p:nvPr/>
        </p:nvSpPr>
        <p:spPr>
          <a:xfrm>
            <a:off x="7114032" y="1920240"/>
            <a:ext cx="566928" cy="566928"/>
          </a:xfrm>
          <a:prstGeom prst="ellipse">
            <a:avLst/>
          </a:prstGeom>
          <a:solidFill>
            <a:srgbClr val="14284B"/>
          </a:solidFill>
          <a:ln>
            <a:solidFill>
              <a:srgbClr val="14284B"/>
            </a:solid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A1_t"/>
          <p:cNvSpPr/>
          <p:nvPr/>
        </p:nvSpPr>
        <p:spPr>
          <a:xfrm>
            <a:off x="7863840" y="1627632"/>
            <a:ext cx="3657600" cy="1188720"/>
          </a:xfrm>
          <a:prstGeom prst="rect">
            <a:avLst/>
          </a:prstGeom>
          <a:noFill/>
          <a:ln/>
        </p:spPr>
        <p:txBody>
          <a:bodyPr wrap="square" lIns="0" tIns="0" rIns="0" bIns="0" rtlCol="0" anchor="ctr"/>
          <a:lstStyle/>
          <a:p>
            <a:pPr marL="0" indent="0">
              <a:buNone/>
            </a:pPr>
            <a:r>
              <a:rPr lang="en-US" sz="1500" b="1" dirty="0">
                <a:solidFill>
                  <a:srgbClr val="14284B"/>
                </a:solidFill>
                <a:latin typeface="Cambria" pitchFamily="34" charset="0"/>
                <a:ea typeface="Cambria" pitchFamily="34" charset="-122"/>
                <a:cs typeface="Cambria" pitchFamily="34" charset="-120"/>
              </a:rPr>
              <a:t>Kiểm tra khóa</a:t>
            </a:r>
            <a:endParaRPr lang="en-US" sz="1500" dirty="0"/>
          </a:p>
          <a:p>
            <a:pPr marL="0" indent="0">
              <a:buNone/>
            </a:pPr>
            <a:r>
              <a:rPr lang="en-US" sz="1500" dirty="0">
                <a:solidFill>
                  <a:srgbClr val="1F2937"/>
                </a:solidFill>
                <a:latin typeface="Calibri" pitchFamily="34" charset="0"/>
                <a:ea typeface="Calibri" pitchFamily="34" charset="-122"/>
                <a:cs typeface="Calibri" pitchFamily="34" charset="-120"/>
              </a:rPr>
              <a:t>Trường chưa có khóa active thì từ chối, không sinh PDF</a:t>
            </a:r>
            <a:endParaRPr lang="en-US" sz="1500" dirty="0"/>
          </a:p>
        </p:txBody>
      </p:sp>
      <p:sp>
        <p:nvSpPr>
          <p:cNvPr id="11" name="A2_bg"/>
          <p:cNvSpPr/>
          <p:nvPr/>
        </p:nvSpPr>
        <p:spPr>
          <a:xfrm>
            <a:off x="6903720" y="3063240"/>
            <a:ext cx="4745736" cy="1325880"/>
          </a:xfrm>
          <a:prstGeom prst="roundRect">
            <a:avLst>
              <a:gd name="adj" fmla="val 5517"/>
            </a:avLst>
          </a:prstGeom>
          <a:solidFill>
            <a:srgbClr val="FFFFFF"/>
          </a:solidFill>
          <a:ln w="12700">
            <a:solidFill>
              <a:srgbClr val="FFFFFF"/>
            </a:solidFill>
            <a:prstDash val="solid"/>
          </a:ln>
        </p:spPr>
      </p:sp>
      <p:sp>
        <p:nvSpPr>
          <p:cNvPr id="12" name="A2_n"/>
          <p:cNvSpPr/>
          <p:nvPr/>
        </p:nvSpPr>
        <p:spPr>
          <a:xfrm>
            <a:off x="7114032" y="3429000"/>
            <a:ext cx="566928" cy="566928"/>
          </a:xfrm>
          <a:prstGeom prst="ellipse">
            <a:avLst/>
          </a:prstGeom>
          <a:solidFill>
            <a:srgbClr val="14284B"/>
          </a:solidFill>
          <a:ln>
            <a:solidFill>
              <a:srgbClr val="14284B"/>
            </a:solid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A2_t"/>
          <p:cNvSpPr/>
          <p:nvPr/>
        </p:nvSpPr>
        <p:spPr>
          <a:xfrm>
            <a:off x="7863840" y="3136392"/>
            <a:ext cx="3657600" cy="1188720"/>
          </a:xfrm>
          <a:prstGeom prst="rect">
            <a:avLst/>
          </a:prstGeom>
          <a:noFill/>
          <a:ln/>
        </p:spPr>
        <p:txBody>
          <a:bodyPr wrap="square" lIns="0" tIns="0" rIns="0" bIns="0" rtlCol="0" anchor="ctr"/>
          <a:lstStyle/>
          <a:p>
            <a:pPr marL="0" indent="0">
              <a:buNone/>
            </a:pPr>
            <a:r>
              <a:rPr lang="en-US" sz="1500" b="1" dirty="0">
                <a:solidFill>
                  <a:srgbClr val="14284B"/>
                </a:solidFill>
                <a:latin typeface="Cambria" pitchFamily="34" charset="0"/>
                <a:ea typeface="Cambria" pitchFamily="34" charset="-122"/>
                <a:cs typeface="Cambria" pitchFamily="34" charset="-120"/>
              </a:rPr>
              <a:t>Sinh PDF</a:t>
            </a:r>
            <a:endParaRPr lang="en-US" sz="1500" dirty="0"/>
          </a:p>
          <a:p>
            <a:pPr marL="0" indent="0">
              <a:buNone/>
            </a:pPr>
            <a:r>
              <a:rPr lang="en-US" sz="1500" dirty="0">
                <a:solidFill>
                  <a:srgbClr val="1F2937"/>
                </a:solidFill>
                <a:latin typeface="Calibri" pitchFamily="34" charset="0"/>
                <a:ea typeface="Calibri" pitchFamily="34" charset="-122"/>
                <a:cs typeface="Calibri" pitchFamily="34" charset="-120"/>
              </a:rPr>
              <a:t>Điền mẫu HTML, vẽ dấu ký số (tên trường, bộ tham số), tính SHA-256, lưu MinIO</a:t>
            </a:r>
            <a:endParaRPr lang="en-US" sz="1500" dirty="0"/>
          </a:p>
        </p:txBody>
      </p:sp>
      <p:sp>
        <p:nvSpPr>
          <p:cNvPr id="14" name="A3_bg"/>
          <p:cNvSpPr/>
          <p:nvPr/>
        </p:nvSpPr>
        <p:spPr>
          <a:xfrm>
            <a:off x="6903720" y="4572000"/>
            <a:ext cx="4745736" cy="1325880"/>
          </a:xfrm>
          <a:prstGeom prst="roundRect">
            <a:avLst>
              <a:gd name="adj" fmla="val 5517"/>
            </a:avLst>
          </a:prstGeom>
          <a:solidFill>
            <a:srgbClr val="FFFFFF"/>
          </a:solidFill>
          <a:ln w="12700">
            <a:solidFill>
              <a:srgbClr val="FFFFFF"/>
            </a:solidFill>
            <a:prstDash val="solid"/>
          </a:ln>
        </p:spPr>
      </p:sp>
      <p:sp>
        <p:nvSpPr>
          <p:cNvPr id="15" name="A3_n"/>
          <p:cNvSpPr/>
          <p:nvPr/>
        </p:nvSpPr>
        <p:spPr>
          <a:xfrm>
            <a:off x="7114032" y="4937760"/>
            <a:ext cx="566928" cy="566928"/>
          </a:xfrm>
          <a:prstGeom prst="ellipse">
            <a:avLst/>
          </a:prstGeom>
          <a:solidFill>
            <a:srgbClr val="14284B"/>
          </a:solidFill>
          <a:ln>
            <a:solidFill>
              <a:srgbClr val="14284B"/>
            </a:solid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6" name="A3_t"/>
          <p:cNvSpPr/>
          <p:nvPr/>
        </p:nvSpPr>
        <p:spPr>
          <a:xfrm>
            <a:off x="7863840" y="4645152"/>
            <a:ext cx="3657600" cy="1188720"/>
          </a:xfrm>
          <a:prstGeom prst="rect">
            <a:avLst/>
          </a:prstGeom>
          <a:noFill/>
          <a:ln/>
        </p:spPr>
        <p:txBody>
          <a:bodyPr wrap="square" lIns="0" tIns="0" rIns="0" bIns="0" rtlCol="0" anchor="ctr"/>
          <a:lstStyle/>
          <a:p>
            <a:pPr marL="0" indent="0">
              <a:buNone/>
            </a:pPr>
            <a:r>
              <a:rPr lang="en-US" sz="1500" b="1" dirty="0">
                <a:solidFill>
                  <a:srgbClr val="14284B"/>
                </a:solidFill>
                <a:latin typeface="Cambria" pitchFamily="34" charset="0"/>
                <a:ea typeface="Cambria" pitchFamily="34" charset="-122"/>
                <a:cs typeface="Cambria" pitchFamily="34" charset="-120"/>
              </a:rPr>
              <a:t>Ký văn bằng</a:t>
            </a:r>
            <a:endParaRPr lang="en-US" sz="1500" dirty="0"/>
          </a:p>
          <a:p>
            <a:pPr marL="0" indent="0">
              <a:buNone/>
            </a:pPr>
            <a:r>
              <a:rPr lang="en-US" sz="1500" dirty="0">
                <a:solidFill>
                  <a:srgbClr val="1F2937"/>
                </a:solidFill>
                <a:latin typeface="Calibri" pitchFamily="34" charset="0"/>
                <a:ea typeface="Calibri" pitchFamily="34" charset="-122"/>
                <a:cs typeface="Calibri" pitchFamily="34" charset="-120"/>
              </a:rPr>
              <a:t>Khóa phải khớp bộ tham số trên dấu; ký manifest với ngữ cảnh PQC-EDIPLOMA-V1</a:t>
            </a:r>
            <a:endParaRPr lang="en-US" sz="15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3" grpId="0" animBg="1"/>
      <p:bldP spid="15"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6EDF5"/>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150" dirty="0">
                <a:solidFill>
                  <a:srgbClr val="0E7C86"/>
                </a:solidFill>
                <a:latin typeface="Calibri" pitchFamily="34" charset="0"/>
                <a:ea typeface="Calibri" pitchFamily="34" charset="-122"/>
                <a:cs typeface="Calibri" pitchFamily="34" charset="-120"/>
              </a:rPr>
              <a:t>PHẦN 3 · PHÂN TÍCH, THIẾT KẾ</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14284B"/>
                </a:solidFill>
                <a:latin typeface="Cambria" pitchFamily="34" charset="0"/>
                <a:ea typeface="Cambria" pitchFamily="34" charset="-122"/>
                <a:cs typeface="Cambria" pitchFamily="34" charset="-120"/>
              </a:rPr>
              <a:t>Biểu đồ tuần tự ghi lô văn bằng lên Blockchain</a:t>
            </a:r>
            <a:endParaRPr lang="en-US" sz="28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Đặng Kim Khánh · CT060318 · Hệ thống quản lý bằng số sử dụng ký số hậu lượng tử</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9 / 25</a:t>
            </a:r>
            <a:endParaRPr lang="en-US" sz="1000" dirty="0"/>
          </a:p>
        </p:txBody>
      </p:sp>
      <p:pic>
        <p:nvPicPr>
          <p:cNvPr id="7" name="Image 0" descr="C:\Users\admin\AppData\Local\Temp\claude\c--VBS-PQC\c16daadc-5363-4aed-8ec4-1ba9efe31d52\scratchpad\report\png\sd_ghi_blockchain.png"/>
          <p:cNvPicPr>
            <a:picLocks noChangeAspect="1"/>
          </p:cNvPicPr>
          <p:nvPr/>
        </p:nvPicPr>
        <p:blipFill>
          <a:blip r:embed="rId3"/>
          <a:stretch>
            <a:fillRect/>
          </a:stretch>
        </p:blipFill>
        <p:spPr>
          <a:xfrm>
            <a:off x="548640" y="1541832"/>
            <a:ext cx="7680960" cy="4551577"/>
          </a:xfrm>
          <a:prstGeom prst="rect">
            <a:avLst/>
          </a:prstGeom>
        </p:spPr>
      </p:pic>
      <p:sp>
        <p:nvSpPr>
          <p:cNvPr id="8" name="A1_bg"/>
          <p:cNvSpPr/>
          <p:nvPr/>
        </p:nvSpPr>
        <p:spPr>
          <a:xfrm>
            <a:off x="8503920" y="1554480"/>
            <a:ext cx="3145536" cy="4526280"/>
          </a:xfrm>
          <a:prstGeom prst="roundRect">
            <a:avLst>
              <a:gd name="adj" fmla="val 2326"/>
            </a:avLst>
          </a:prstGeom>
          <a:solidFill>
            <a:srgbClr val="FFFFFF"/>
          </a:solidFill>
          <a:ln w="12700">
            <a:solidFill>
              <a:srgbClr val="FFFFFF"/>
            </a:solidFill>
            <a:prstDash val="solid"/>
          </a:ln>
        </p:spPr>
      </p:sp>
      <p:sp>
        <p:nvSpPr>
          <p:cNvPr id="9" name="A1_c"/>
          <p:cNvSpPr/>
          <p:nvPr/>
        </p:nvSpPr>
        <p:spPr>
          <a:xfrm>
            <a:off x="8732520" y="1783080"/>
            <a:ext cx="502920" cy="502920"/>
          </a:xfrm>
          <a:prstGeom prst="ellipse">
            <a:avLst/>
          </a:prstGeom>
          <a:solidFill>
            <a:srgbClr val="14284B"/>
          </a:solidFill>
          <a:ln w="12700">
            <a:solidFill>
              <a:srgbClr val="14284B"/>
            </a:solidFill>
            <a:prstDash val="solid"/>
          </a:ln>
        </p:spPr>
      </p:sp>
      <p:pic>
        <p:nvPicPr>
          <p:cNvPr id="10" name="A1_i" descr="preencoded.png"/>
          <p:cNvPicPr>
            <a:picLocks noChangeAspect="1"/>
          </p:cNvPicPr>
          <p:nvPr/>
        </p:nvPicPr>
        <p:blipFill>
          <a:blip r:embed="rId4"/>
          <a:stretch>
            <a:fillRect/>
          </a:stretch>
        </p:blipFill>
        <p:spPr>
          <a:xfrm>
            <a:off x="8863279" y="1913839"/>
            <a:ext cx="241402" cy="241402"/>
          </a:xfrm>
          <a:prstGeom prst="rect">
            <a:avLst/>
          </a:prstGeom>
        </p:spPr>
      </p:pic>
      <p:sp>
        <p:nvSpPr>
          <p:cNvPr id="11" name="A1_h"/>
          <p:cNvSpPr/>
          <p:nvPr/>
        </p:nvSpPr>
        <p:spPr>
          <a:xfrm>
            <a:off x="9372600" y="1783080"/>
            <a:ext cx="2093976" cy="502920"/>
          </a:xfrm>
          <a:prstGeom prst="rect">
            <a:avLst/>
          </a:prstGeom>
          <a:noFill/>
          <a:ln/>
        </p:spPr>
        <p:txBody>
          <a:bodyPr wrap="square" lIns="0" tIns="0" rIns="0" bIns="0" rtlCol="0" anchor="ctr"/>
          <a:lstStyle/>
          <a:p>
            <a:pPr marL="0" indent="0">
              <a:buNone/>
            </a:pPr>
            <a:r>
              <a:rPr lang="en-US" sz="1700" b="1" dirty="0">
                <a:solidFill>
                  <a:srgbClr val="14284B"/>
                </a:solidFill>
                <a:latin typeface="Cambria" pitchFamily="34" charset="0"/>
                <a:ea typeface="Cambria" pitchFamily="34" charset="-122"/>
                <a:cs typeface="Cambria" pitchFamily="34" charset="-120"/>
              </a:rPr>
              <a:t>Điểm chính</a:t>
            </a:r>
            <a:endParaRPr lang="en-US" sz="1700" dirty="0"/>
          </a:p>
        </p:txBody>
      </p:sp>
      <p:sp>
        <p:nvSpPr>
          <p:cNvPr id="12" name="A1_t"/>
          <p:cNvSpPr/>
          <p:nvPr/>
        </p:nvSpPr>
        <p:spPr>
          <a:xfrm>
            <a:off x="8732520" y="2423160"/>
            <a:ext cx="2734056" cy="352044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Theo đợt cấp: một hoặc tất cả chuyên ngành; chỉ lấy văn bằng đã ký, chưa ghi, chưa thu hồi</a:t>
            </a:r>
            <a:endParaRPr lang="en-US" sz="1500" dirty="0"/>
          </a:p>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Mã lô EDIP-&lt;trường&gt;-&lt;Merkle root&gt;</a:t>
            </a:r>
            <a:endParaRPr lang="en-US" sz="1500" dirty="0"/>
          </a:p>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Phong bì giao dịch ký ML-DSA, ngữ cảnh riêng</a:t>
            </a:r>
            <a:endParaRPr lang="en-US" sz="1500" dirty="0"/>
          </a:p>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Chaincode kiểm tra chữ ký, không cho ghi đè lô</a:t>
            </a:r>
            <a:endParaRPr lang="en-US" sz="1500" dirty="0"/>
          </a:p>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Sau khi ghi: lưu proof, email báo sinh viên</a:t>
            </a:r>
            <a:endParaRPr lang="en-US" sz="15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6EDF5"/>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150" dirty="0">
                <a:solidFill>
                  <a:srgbClr val="0E7C86"/>
                </a:solidFill>
                <a:latin typeface="Calibri" pitchFamily="34" charset="0"/>
                <a:ea typeface="Calibri" pitchFamily="34" charset="-122"/>
                <a:cs typeface="Calibri" pitchFamily="34" charset="-120"/>
              </a:rPr>
              <a:t>PHẦN 3 · PHÂN TÍCH, THIẾT KẾ</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14284B"/>
                </a:solidFill>
                <a:latin typeface="Cambria" pitchFamily="34" charset="0"/>
                <a:ea typeface="Cambria" pitchFamily="34" charset="-122"/>
                <a:cs typeface="Cambria" pitchFamily="34" charset="-120"/>
              </a:rPr>
              <a:t>Thiết kế cơ sở dữ liệu</a:t>
            </a:r>
            <a:endParaRPr lang="en-US" sz="28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Đặng Kim Khánh · CT060318 · Hệ thống quản lý bằng số sử dụng ký số hậu lượng tử</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10 / 25</a:t>
            </a:r>
            <a:endParaRPr lang="en-US" sz="1000" dirty="0"/>
          </a:p>
        </p:txBody>
      </p:sp>
      <p:pic>
        <p:nvPicPr>
          <p:cNvPr id="7" name="Image 0" descr="C:\Users\admin\AppData\Local\Temp\claude\c--VBS-PQC\c16daadc-5363-4aed-8ec4-1ba9efe31d52\scratchpad\report\png\erd.png"/>
          <p:cNvPicPr>
            <a:picLocks noChangeAspect="1"/>
          </p:cNvPicPr>
          <p:nvPr/>
        </p:nvPicPr>
        <p:blipFill>
          <a:blip r:embed="rId3"/>
          <a:stretch>
            <a:fillRect/>
          </a:stretch>
        </p:blipFill>
        <p:spPr>
          <a:xfrm>
            <a:off x="702034" y="1371600"/>
            <a:ext cx="7831372" cy="4846320"/>
          </a:xfrm>
          <a:prstGeom prst="rect">
            <a:avLst/>
          </a:prstGeom>
        </p:spPr>
      </p:pic>
      <p:sp>
        <p:nvSpPr>
          <p:cNvPr id="8" name="A1_bg"/>
          <p:cNvSpPr/>
          <p:nvPr/>
        </p:nvSpPr>
        <p:spPr>
          <a:xfrm>
            <a:off x="8961120" y="1554480"/>
            <a:ext cx="2688336" cy="4526280"/>
          </a:xfrm>
          <a:prstGeom prst="roundRect">
            <a:avLst>
              <a:gd name="adj" fmla="val 2721"/>
            </a:avLst>
          </a:prstGeom>
          <a:solidFill>
            <a:srgbClr val="FFFFFF"/>
          </a:solidFill>
          <a:ln w="12700">
            <a:solidFill>
              <a:srgbClr val="FFFFFF"/>
            </a:solidFill>
            <a:prstDash val="solid"/>
          </a:ln>
        </p:spPr>
      </p:sp>
      <p:sp>
        <p:nvSpPr>
          <p:cNvPr id="9" name="A1_c"/>
          <p:cNvSpPr/>
          <p:nvPr/>
        </p:nvSpPr>
        <p:spPr>
          <a:xfrm>
            <a:off x="9189720" y="1783080"/>
            <a:ext cx="502920" cy="502920"/>
          </a:xfrm>
          <a:prstGeom prst="ellipse">
            <a:avLst/>
          </a:prstGeom>
          <a:solidFill>
            <a:srgbClr val="14284B"/>
          </a:solidFill>
          <a:ln w="12700">
            <a:solidFill>
              <a:srgbClr val="14284B"/>
            </a:solidFill>
            <a:prstDash val="solid"/>
          </a:ln>
        </p:spPr>
      </p:sp>
      <p:pic>
        <p:nvPicPr>
          <p:cNvPr id="10" name="A1_i" descr="preencoded.png"/>
          <p:cNvPicPr>
            <a:picLocks noChangeAspect="1"/>
          </p:cNvPicPr>
          <p:nvPr/>
        </p:nvPicPr>
        <p:blipFill>
          <a:blip r:embed="rId4"/>
          <a:stretch>
            <a:fillRect/>
          </a:stretch>
        </p:blipFill>
        <p:spPr>
          <a:xfrm>
            <a:off x="9320479" y="1913839"/>
            <a:ext cx="241402" cy="241402"/>
          </a:xfrm>
          <a:prstGeom prst="rect">
            <a:avLst/>
          </a:prstGeom>
        </p:spPr>
      </p:pic>
      <p:sp>
        <p:nvSpPr>
          <p:cNvPr id="11" name="A1_h"/>
          <p:cNvSpPr/>
          <p:nvPr/>
        </p:nvSpPr>
        <p:spPr>
          <a:xfrm>
            <a:off x="9829800" y="1783080"/>
            <a:ext cx="1636776" cy="502920"/>
          </a:xfrm>
          <a:prstGeom prst="rect">
            <a:avLst/>
          </a:prstGeom>
          <a:noFill/>
          <a:ln/>
        </p:spPr>
        <p:txBody>
          <a:bodyPr wrap="square" lIns="0" tIns="0" rIns="0" bIns="0" rtlCol="0" anchor="ctr"/>
          <a:lstStyle/>
          <a:p>
            <a:pPr marL="0" indent="0">
              <a:buNone/>
            </a:pPr>
            <a:r>
              <a:rPr lang="en-US" sz="1700" b="1" dirty="0">
                <a:solidFill>
                  <a:srgbClr val="14284B"/>
                </a:solidFill>
                <a:latin typeface="Cambria" pitchFamily="34" charset="0"/>
                <a:ea typeface="Cambria" pitchFamily="34" charset="-122"/>
                <a:cs typeface="Cambria" pitchFamily="34" charset="-120"/>
              </a:rPr>
              <a:t>MongoDB</a:t>
            </a:r>
            <a:endParaRPr lang="en-US" sz="1700" dirty="0"/>
          </a:p>
        </p:txBody>
      </p:sp>
      <p:sp>
        <p:nvSpPr>
          <p:cNvPr id="12" name="A1_t"/>
          <p:cNvSpPr/>
          <p:nvPr/>
        </p:nvSpPr>
        <p:spPr>
          <a:xfrm>
            <a:off x="9189720" y="2423160"/>
            <a:ext cx="2276856" cy="352044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10 collection nghiệp vụ</a:t>
            </a:r>
            <a:endParaRPr lang="en-US" sz="1500" dirty="0"/>
          </a:p>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ediplomas chứa tài liệu con pqc_proof</a:t>
            </a:r>
            <a:endParaRPr lang="en-US" sz="1500" dirty="0"/>
          </a:p>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pqc_signing_keys lưu khóa công khai và khóa bí mật đã mã hóa</a:t>
            </a:r>
            <a:endParaRPr lang="en-US" sz="1500" dirty="0"/>
          </a:p>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Tệp PDF ở MinIO; bằng chứng lô trên Fabric</a:t>
            </a:r>
            <a:endParaRPr lang="en-US" sz="15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6EDF5"/>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150" dirty="0">
                <a:solidFill>
                  <a:srgbClr val="0E7C86"/>
                </a:solidFill>
                <a:latin typeface="Calibri" pitchFamily="34" charset="0"/>
                <a:ea typeface="Calibri" pitchFamily="34" charset="-122"/>
                <a:cs typeface="Calibri" pitchFamily="34" charset="-120"/>
              </a:rPr>
              <a:t>PHẦN 3 · PHÂN TÍCH, THIẾT KẾ</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14284B"/>
                </a:solidFill>
                <a:latin typeface="Cambria" pitchFamily="34" charset="0"/>
                <a:ea typeface="Cambria" pitchFamily="34" charset="-122"/>
                <a:cs typeface="Cambria" pitchFamily="34" charset="-120"/>
              </a:rPr>
              <a:t>Kiến trúc hệ thống</a:t>
            </a:r>
            <a:endParaRPr lang="en-US" sz="28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Đặng Kim Khánh · CT060318 · Hệ thống quản lý bằng số sử dụng ký số hậu lượng tử</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11 / 25</a:t>
            </a:r>
            <a:endParaRPr lang="en-US" sz="1000" dirty="0"/>
          </a:p>
        </p:txBody>
      </p:sp>
      <p:pic>
        <p:nvPicPr>
          <p:cNvPr id="7" name="Image 0" descr="C:\Users\admin\AppData\Local\Temp\claude\c--VBS-PQC\c16daadc-5363-4aed-8ec4-1ba9efe31d52\scratchpad\report\png\kien_truc.png"/>
          <p:cNvPicPr>
            <a:picLocks noChangeAspect="1"/>
          </p:cNvPicPr>
          <p:nvPr/>
        </p:nvPicPr>
        <p:blipFill>
          <a:blip r:embed="rId3"/>
          <a:stretch>
            <a:fillRect/>
          </a:stretch>
        </p:blipFill>
        <p:spPr>
          <a:xfrm>
            <a:off x="853889" y="1325880"/>
            <a:ext cx="5150222" cy="4983480"/>
          </a:xfrm>
          <a:prstGeom prst="rect">
            <a:avLst/>
          </a:prstGeom>
        </p:spPr>
      </p:pic>
      <p:sp>
        <p:nvSpPr>
          <p:cNvPr id="8" name="A1_bg"/>
          <p:cNvSpPr/>
          <p:nvPr/>
        </p:nvSpPr>
        <p:spPr>
          <a:xfrm>
            <a:off x="6583680" y="1417320"/>
            <a:ext cx="5065776" cy="1078992"/>
          </a:xfrm>
          <a:prstGeom prst="roundRect">
            <a:avLst>
              <a:gd name="adj" fmla="val 6780"/>
            </a:avLst>
          </a:prstGeom>
          <a:solidFill>
            <a:srgbClr val="FFFFFF"/>
          </a:solidFill>
          <a:ln w="12700">
            <a:solidFill>
              <a:srgbClr val="FFFFFF"/>
            </a:solidFill>
            <a:prstDash val="solid"/>
          </a:ln>
        </p:spPr>
      </p:sp>
      <p:sp>
        <p:nvSpPr>
          <p:cNvPr id="9" name="A1_c"/>
          <p:cNvSpPr/>
          <p:nvPr/>
        </p:nvSpPr>
        <p:spPr>
          <a:xfrm>
            <a:off x="6784848" y="1664208"/>
            <a:ext cx="566928" cy="566928"/>
          </a:xfrm>
          <a:prstGeom prst="ellipse">
            <a:avLst/>
          </a:prstGeom>
          <a:solidFill>
            <a:srgbClr val="14284B"/>
          </a:solidFill>
          <a:ln w="12700">
            <a:solidFill>
              <a:srgbClr val="14284B"/>
            </a:solidFill>
            <a:prstDash val="solid"/>
          </a:ln>
        </p:spPr>
      </p:sp>
      <p:pic>
        <p:nvPicPr>
          <p:cNvPr id="10" name="A1_i" descr="preencoded.png"/>
          <p:cNvPicPr>
            <a:picLocks noChangeAspect="1"/>
          </p:cNvPicPr>
          <p:nvPr/>
        </p:nvPicPr>
        <p:blipFill>
          <a:blip r:embed="rId4"/>
          <a:stretch>
            <a:fillRect/>
          </a:stretch>
        </p:blipFill>
        <p:spPr>
          <a:xfrm>
            <a:off x="6932249" y="1811609"/>
            <a:ext cx="272125" cy="272125"/>
          </a:xfrm>
          <a:prstGeom prst="rect">
            <a:avLst/>
          </a:prstGeom>
        </p:spPr>
      </p:pic>
      <p:sp>
        <p:nvSpPr>
          <p:cNvPr id="11" name="A1_t"/>
          <p:cNvSpPr/>
          <p:nvPr/>
        </p:nvSpPr>
        <p:spPr>
          <a:xfrm>
            <a:off x="7543800" y="1472184"/>
            <a:ext cx="3977640" cy="969264"/>
          </a:xfrm>
          <a:prstGeom prst="rect">
            <a:avLst/>
          </a:prstGeom>
          <a:noFill/>
          <a:ln/>
        </p:spPr>
        <p:txBody>
          <a:bodyPr wrap="square" lIns="0" tIns="0" rIns="0" bIns="0" rtlCol="0" anchor="ctr"/>
          <a:lstStyle/>
          <a:p>
            <a:pPr marL="0" indent="0">
              <a:buNone/>
            </a:pPr>
            <a:r>
              <a:rPr lang="en-US" sz="1500" b="1" dirty="0">
                <a:solidFill>
                  <a:srgbClr val="14284B"/>
                </a:solidFill>
                <a:latin typeface="Cambria" pitchFamily="34" charset="0"/>
                <a:ea typeface="Cambria" pitchFamily="34" charset="-122"/>
                <a:cs typeface="Cambria" pitchFamily="34" charset="-120"/>
              </a:rPr>
              <a:t>Client</a:t>
            </a:r>
            <a:endParaRPr lang="en-US" sz="1500" dirty="0"/>
          </a:p>
          <a:p>
            <a:pPr marL="0" indent="0">
              <a:buNone/>
            </a:pPr>
            <a:r>
              <a:rPr lang="en-US" sz="1500" dirty="0">
                <a:solidFill>
                  <a:srgbClr val="1F2937"/>
                </a:solidFill>
                <a:latin typeface="Calibri" pitchFamily="34" charset="0"/>
                <a:ea typeface="Calibri" pitchFamily="34" charset="-122"/>
                <a:cs typeface="Calibri" pitchFamily="34" charset="-120"/>
              </a:rPr>
              <a:t>Ứng dụng web Next.js và ứng dụng di động Flutter, giao tiếp qua REST API</a:t>
            </a:r>
            <a:endParaRPr lang="en-US" sz="1500" dirty="0"/>
          </a:p>
        </p:txBody>
      </p:sp>
      <p:sp>
        <p:nvSpPr>
          <p:cNvPr id="12" name="A2_bg"/>
          <p:cNvSpPr/>
          <p:nvPr/>
        </p:nvSpPr>
        <p:spPr>
          <a:xfrm>
            <a:off x="6583680" y="2633472"/>
            <a:ext cx="5065776" cy="1078992"/>
          </a:xfrm>
          <a:prstGeom prst="roundRect">
            <a:avLst>
              <a:gd name="adj" fmla="val 6780"/>
            </a:avLst>
          </a:prstGeom>
          <a:solidFill>
            <a:srgbClr val="FFFFFF"/>
          </a:solidFill>
          <a:ln w="12700">
            <a:solidFill>
              <a:srgbClr val="FFFFFF"/>
            </a:solidFill>
            <a:prstDash val="solid"/>
          </a:ln>
        </p:spPr>
      </p:sp>
      <p:sp>
        <p:nvSpPr>
          <p:cNvPr id="13" name="A2_c"/>
          <p:cNvSpPr/>
          <p:nvPr/>
        </p:nvSpPr>
        <p:spPr>
          <a:xfrm>
            <a:off x="6784848" y="2880360"/>
            <a:ext cx="566928" cy="566928"/>
          </a:xfrm>
          <a:prstGeom prst="ellipse">
            <a:avLst/>
          </a:prstGeom>
          <a:solidFill>
            <a:srgbClr val="14284B"/>
          </a:solidFill>
          <a:ln w="12700">
            <a:solidFill>
              <a:srgbClr val="14284B"/>
            </a:solidFill>
            <a:prstDash val="solid"/>
          </a:ln>
        </p:spPr>
      </p:sp>
      <p:pic>
        <p:nvPicPr>
          <p:cNvPr id="14" name="A2_i" descr="preencoded.png"/>
          <p:cNvPicPr>
            <a:picLocks noChangeAspect="1"/>
          </p:cNvPicPr>
          <p:nvPr/>
        </p:nvPicPr>
        <p:blipFill>
          <a:blip r:embed="rId5"/>
          <a:stretch>
            <a:fillRect/>
          </a:stretch>
        </p:blipFill>
        <p:spPr>
          <a:xfrm>
            <a:off x="6932249" y="3027761"/>
            <a:ext cx="272125" cy="272125"/>
          </a:xfrm>
          <a:prstGeom prst="rect">
            <a:avLst/>
          </a:prstGeom>
        </p:spPr>
      </p:pic>
      <p:sp>
        <p:nvSpPr>
          <p:cNvPr id="15" name="A2_t"/>
          <p:cNvSpPr/>
          <p:nvPr/>
        </p:nvSpPr>
        <p:spPr>
          <a:xfrm>
            <a:off x="7543800" y="2688336"/>
            <a:ext cx="3977640" cy="969264"/>
          </a:xfrm>
          <a:prstGeom prst="rect">
            <a:avLst/>
          </a:prstGeom>
          <a:noFill/>
          <a:ln/>
        </p:spPr>
        <p:txBody>
          <a:bodyPr wrap="square" lIns="0" tIns="0" rIns="0" bIns="0" rtlCol="0" anchor="ctr"/>
          <a:lstStyle/>
          <a:p>
            <a:pPr marL="0" indent="0">
              <a:buNone/>
            </a:pPr>
            <a:r>
              <a:rPr lang="en-US" sz="1500" b="1" dirty="0">
                <a:solidFill>
                  <a:srgbClr val="14284B"/>
                </a:solidFill>
                <a:latin typeface="Cambria" pitchFamily="34" charset="0"/>
                <a:ea typeface="Cambria" pitchFamily="34" charset="-122"/>
                <a:cs typeface="Cambria" pitchFamily="34" charset="-120"/>
              </a:rPr>
              <a:t>Middleware</a:t>
            </a:r>
            <a:endParaRPr lang="en-US" sz="1500" dirty="0"/>
          </a:p>
          <a:p>
            <a:pPr marL="0" indent="0">
              <a:buNone/>
            </a:pPr>
            <a:r>
              <a:rPr lang="en-US" sz="1500" dirty="0">
                <a:solidFill>
                  <a:srgbClr val="1F2937"/>
                </a:solidFill>
                <a:latin typeface="Calibri" pitchFamily="34" charset="0"/>
                <a:ea typeface="Calibri" pitchFamily="34" charset="-122"/>
                <a:cs typeface="Calibri" pitchFamily="34" charset="-120"/>
              </a:rPr>
              <a:t>JWT, trạng thái phiên, vai trò, quyền sở hữu dữ liệu, giới hạn tần suất</a:t>
            </a:r>
            <a:endParaRPr lang="en-US" sz="1500" dirty="0"/>
          </a:p>
        </p:txBody>
      </p:sp>
      <p:sp>
        <p:nvSpPr>
          <p:cNvPr id="16" name="A3_bg"/>
          <p:cNvSpPr/>
          <p:nvPr/>
        </p:nvSpPr>
        <p:spPr>
          <a:xfrm>
            <a:off x="6583680" y="3849624"/>
            <a:ext cx="5065776" cy="1078992"/>
          </a:xfrm>
          <a:prstGeom prst="roundRect">
            <a:avLst>
              <a:gd name="adj" fmla="val 6780"/>
            </a:avLst>
          </a:prstGeom>
          <a:solidFill>
            <a:srgbClr val="FFFFFF"/>
          </a:solidFill>
          <a:ln w="12700">
            <a:solidFill>
              <a:srgbClr val="FFFFFF"/>
            </a:solidFill>
            <a:prstDash val="solid"/>
          </a:ln>
        </p:spPr>
      </p:sp>
      <p:sp>
        <p:nvSpPr>
          <p:cNvPr id="17" name="A3_c"/>
          <p:cNvSpPr/>
          <p:nvPr/>
        </p:nvSpPr>
        <p:spPr>
          <a:xfrm>
            <a:off x="6784848" y="4096512"/>
            <a:ext cx="566928" cy="566928"/>
          </a:xfrm>
          <a:prstGeom prst="ellipse">
            <a:avLst/>
          </a:prstGeom>
          <a:solidFill>
            <a:srgbClr val="14284B"/>
          </a:solidFill>
          <a:ln w="12700">
            <a:solidFill>
              <a:srgbClr val="14284B"/>
            </a:solidFill>
            <a:prstDash val="solid"/>
          </a:ln>
        </p:spPr>
      </p:sp>
      <p:pic>
        <p:nvPicPr>
          <p:cNvPr id="18" name="A3_i" descr="preencoded.png"/>
          <p:cNvPicPr>
            <a:picLocks noChangeAspect="1"/>
          </p:cNvPicPr>
          <p:nvPr/>
        </p:nvPicPr>
        <p:blipFill>
          <a:blip r:embed="rId6"/>
          <a:stretch>
            <a:fillRect/>
          </a:stretch>
        </p:blipFill>
        <p:spPr>
          <a:xfrm>
            <a:off x="6932249" y="4243913"/>
            <a:ext cx="272125" cy="272125"/>
          </a:xfrm>
          <a:prstGeom prst="rect">
            <a:avLst/>
          </a:prstGeom>
        </p:spPr>
      </p:pic>
      <p:sp>
        <p:nvSpPr>
          <p:cNvPr id="19" name="A3_t"/>
          <p:cNvSpPr/>
          <p:nvPr/>
        </p:nvSpPr>
        <p:spPr>
          <a:xfrm>
            <a:off x="7543800" y="3904488"/>
            <a:ext cx="3977640" cy="969264"/>
          </a:xfrm>
          <a:prstGeom prst="rect">
            <a:avLst/>
          </a:prstGeom>
          <a:noFill/>
          <a:ln/>
        </p:spPr>
        <p:txBody>
          <a:bodyPr wrap="square" lIns="0" tIns="0" rIns="0" bIns="0" rtlCol="0" anchor="ctr"/>
          <a:lstStyle/>
          <a:p>
            <a:pPr marL="0" indent="0">
              <a:buNone/>
            </a:pPr>
            <a:r>
              <a:rPr lang="en-US" sz="1500" b="1" dirty="0">
                <a:solidFill>
                  <a:srgbClr val="14284B"/>
                </a:solidFill>
                <a:latin typeface="Cambria" pitchFamily="34" charset="0"/>
                <a:ea typeface="Cambria" pitchFamily="34" charset="-122"/>
                <a:cs typeface="Cambria" pitchFamily="34" charset="-120"/>
              </a:rPr>
              <a:t>Service – Repository</a:t>
            </a:r>
            <a:endParaRPr lang="en-US" sz="1500" dirty="0"/>
          </a:p>
          <a:p>
            <a:pPr marL="0" indent="0">
              <a:buNone/>
            </a:pPr>
            <a:r>
              <a:rPr lang="en-US" sz="1500" dirty="0">
                <a:solidFill>
                  <a:srgbClr val="1F2937"/>
                </a:solidFill>
                <a:latin typeface="Calibri" pitchFamily="34" charset="0"/>
                <a:ea typeface="Calibri" pitchFamily="34" charset="-122"/>
                <a:cs typeface="Calibri" pitchFamily="34" charset="-120"/>
              </a:rPr>
              <a:t>Nghiệp vụ văn bằng, khóa PQC, Blockchain; truy cập MongoDB</a:t>
            </a:r>
            <a:endParaRPr lang="en-US" sz="1500" dirty="0"/>
          </a:p>
        </p:txBody>
      </p:sp>
      <p:sp>
        <p:nvSpPr>
          <p:cNvPr id="20" name="A4_bg"/>
          <p:cNvSpPr/>
          <p:nvPr/>
        </p:nvSpPr>
        <p:spPr>
          <a:xfrm>
            <a:off x="6583680" y="5065776"/>
            <a:ext cx="5065776" cy="1078992"/>
          </a:xfrm>
          <a:prstGeom prst="roundRect">
            <a:avLst>
              <a:gd name="adj" fmla="val 6780"/>
            </a:avLst>
          </a:prstGeom>
          <a:solidFill>
            <a:srgbClr val="FFFFFF"/>
          </a:solidFill>
          <a:ln w="12700">
            <a:solidFill>
              <a:srgbClr val="FFFFFF"/>
            </a:solidFill>
            <a:prstDash val="solid"/>
          </a:ln>
        </p:spPr>
      </p:sp>
      <p:sp>
        <p:nvSpPr>
          <p:cNvPr id="21" name="A4_c"/>
          <p:cNvSpPr/>
          <p:nvPr/>
        </p:nvSpPr>
        <p:spPr>
          <a:xfrm>
            <a:off x="6784848" y="5312664"/>
            <a:ext cx="566928" cy="566928"/>
          </a:xfrm>
          <a:prstGeom prst="ellipse">
            <a:avLst/>
          </a:prstGeom>
          <a:solidFill>
            <a:srgbClr val="14284B"/>
          </a:solidFill>
          <a:ln w="12700">
            <a:solidFill>
              <a:srgbClr val="14284B"/>
            </a:solidFill>
            <a:prstDash val="solid"/>
          </a:ln>
        </p:spPr>
      </p:sp>
      <p:pic>
        <p:nvPicPr>
          <p:cNvPr id="22" name="A4_i" descr="preencoded.png"/>
          <p:cNvPicPr>
            <a:picLocks noChangeAspect="1"/>
          </p:cNvPicPr>
          <p:nvPr/>
        </p:nvPicPr>
        <p:blipFill>
          <a:blip r:embed="rId7"/>
          <a:stretch>
            <a:fillRect/>
          </a:stretch>
        </p:blipFill>
        <p:spPr>
          <a:xfrm>
            <a:off x="6932249" y="5460065"/>
            <a:ext cx="272125" cy="272125"/>
          </a:xfrm>
          <a:prstGeom prst="rect">
            <a:avLst/>
          </a:prstGeom>
        </p:spPr>
      </p:pic>
      <p:sp>
        <p:nvSpPr>
          <p:cNvPr id="23" name="A4_t"/>
          <p:cNvSpPr/>
          <p:nvPr/>
        </p:nvSpPr>
        <p:spPr>
          <a:xfrm>
            <a:off x="7543800" y="5120640"/>
            <a:ext cx="3977640" cy="969264"/>
          </a:xfrm>
          <a:prstGeom prst="rect">
            <a:avLst/>
          </a:prstGeom>
          <a:noFill/>
          <a:ln/>
        </p:spPr>
        <p:txBody>
          <a:bodyPr wrap="square" lIns="0" tIns="0" rIns="0" bIns="0" rtlCol="0" anchor="ctr"/>
          <a:lstStyle/>
          <a:p>
            <a:pPr marL="0" indent="0">
              <a:buNone/>
            </a:pPr>
            <a:r>
              <a:rPr lang="en-US" sz="1500" b="1" dirty="0">
                <a:solidFill>
                  <a:srgbClr val="14284B"/>
                </a:solidFill>
                <a:latin typeface="Cambria" pitchFamily="34" charset="0"/>
                <a:ea typeface="Cambria" pitchFamily="34" charset="-122"/>
                <a:cs typeface="Cambria" pitchFamily="34" charset="-120"/>
              </a:rPr>
              <a:t>Kết nối ngoài</a:t>
            </a:r>
            <a:endParaRPr lang="en-US" sz="1500" dirty="0"/>
          </a:p>
          <a:p>
            <a:pPr marL="0" indent="0">
              <a:buNone/>
            </a:pPr>
            <a:r>
              <a:rPr lang="en-US" sz="1500" dirty="0">
                <a:solidFill>
                  <a:srgbClr val="1F2937"/>
                </a:solidFill>
                <a:latin typeface="Calibri" pitchFamily="34" charset="0"/>
                <a:ea typeface="Calibri" pitchFamily="34" charset="-122"/>
                <a:cs typeface="Calibri" pitchFamily="34" charset="-120"/>
              </a:rPr>
              <a:t>MinIO, dịch vụ email, mạng Fabric qua Fabric Gateway</a:t>
            </a:r>
            <a:endParaRPr lang="en-US" sz="15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0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0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0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P spid="19" grpId="0" animBg="1"/>
      <p:bldP spid="2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6EDF5"/>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150" dirty="0">
                <a:solidFill>
                  <a:srgbClr val="0E7C86"/>
                </a:solidFill>
                <a:latin typeface="Calibri" pitchFamily="34" charset="0"/>
                <a:ea typeface="Calibri" pitchFamily="34" charset="-122"/>
                <a:cs typeface="Calibri" pitchFamily="34" charset="-120"/>
              </a:rPr>
              <a:t>PHẦN 4 · KÝ SỐ HẬU LƯỢNG TỬ</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14284B"/>
                </a:solidFill>
                <a:latin typeface="Cambria" pitchFamily="34" charset="0"/>
                <a:ea typeface="Cambria" pitchFamily="34" charset="-122"/>
                <a:cs typeface="Cambria" pitchFamily="34" charset="-120"/>
              </a:rPr>
              <a:t>Thuật toán ML-DSA (FIPS 204)</a:t>
            </a:r>
            <a:endParaRPr lang="en-US" sz="28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Đặng Kim Khánh · CT060318 · Hệ thống quản lý bằng số sử dụng ký số hậu lượng tử</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12 / 25</a:t>
            </a:r>
            <a:endParaRPr lang="en-US" sz="1000" dirty="0"/>
          </a:p>
        </p:txBody>
      </p:sp>
      <p:sp>
        <p:nvSpPr>
          <p:cNvPr id="7" name="A1_bg"/>
          <p:cNvSpPr/>
          <p:nvPr/>
        </p:nvSpPr>
        <p:spPr>
          <a:xfrm>
            <a:off x="548640" y="1463040"/>
            <a:ext cx="4572000" cy="4663440"/>
          </a:xfrm>
          <a:prstGeom prst="roundRect">
            <a:avLst>
              <a:gd name="adj" fmla="val 1600"/>
            </a:avLst>
          </a:prstGeom>
          <a:solidFill>
            <a:srgbClr val="FFFFFF"/>
          </a:solidFill>
          <a:ln w="12700">
            <a:solidFill>
              <a:srgbClr val="FFFFFF"/>
            </a:solidFill>
            <a:prstDash val="solid"/>
          </a:ln>
        </p:spPr>
      </p:sp>
      <p:sp>
        <p:nvSpPr>
          <p:cNvPr id="8" name="A1_c"/>
          <p:cNvSpPr/>
          <p:nvPr/>
        </p:nvSpPr>
        <p:spPr>
          <a:xfrm>
            <a:off x="777240" y="1691640"/>
            <a:ext cx="502920" cy="502920"/>
          </a:xfrm>
          <a:prstGeom prst="ellipse">
            <a:avLst/>
          </a:prstGeom>
          <a:solidFill>
            <a:srgbClr val="14284B"/>
          </a:solidFill>
          <a:ln w="12700">
            <a:solidFill>
              <a:srgbClr val="14284B"/>
            </a:solidFill>
            <a:prstDash val="solid"/>
          </a:ln>
        </p:spPr>
      </p:sp>
      <p:pic>
        <p:nvPicPr>
          <p:cNvPr id="9" name="A1_i" descr="preencoded.png"/>
          <p:cNvPicPr>
            <a:picLocks noChangeAspect="1"/>
          </p:cNvPicPr>
          <p:nvPr/>
        </p:nvPicPr>
        <p:blipFill>
          <a:blip r:embed="rId3"/>
          <a:stretch>
            <a:fillRect/>
          </a:stretch>
        </p:blipFill>
        <p:spPr>
          <a:xfrm>
            <a:off x="907999" y="1822399"/>
            <a:ext cx="241402" cy="241402"/>
          </a:xfrm>
          <a:prstGeom prst="rect">
            <a:avLst/>
          </a:prstGeom>
        </p:spPr>
      </p:pic>
      <p:sp>
        <p:nvSpPr>
          <p:cNvPr id="10" name="A1_h"/>
          <p:cNvSpPr/>
          <p:nvPr/>
        </p:nvSpPr>
        <p:spPr>
          <a:xfrm>
            <a:off x="1417320" y="1691640"/>
            <a:ext cx="3520440" cy="502920"/>
          </a:xfrm>
          <a:prstGeom prst="rect">
            <a:avLst/>
          </a:prstGeom>
          <a:noFill/>
          <a:ln/>
        </p:spPr>
        <p:txBody>
          <a:bodyPr wrap="square" lIns="0" tIns="0" rIns="0" bIns="0" rtlCol="0" anchor="ctr"/>
          <a:lstStyle/>
          <a:p>
            <a:pPr marL="0" indent="0">
              <a:buNone/>
            </a:pPr>
            <a:r>
              <a:rPr lang="en-US" sz="1700" b="1" dirty="0">
                <a:solidFill>
                  <a:srgbClr val="14284B"/>
                </a:solidFill>
                <a:latin typeface="Cambria" pitchFamily="34" charset="0"/>
                <a:ea typeface="Cambria" pitchFamily="34" charset="-122"/>
                <a:cs typeface="Cambria" pitchFamily="34" charset="-120"/>
              </a:rPr>
              <a:t>Vì sao cần hậu lượng tử</a:t>
            </a:r>
            <a:endParaRPr lang="en-US" sz="1700" dirty="0"/>
          </a:p>
        </p:txBody>
      </p:sp>
      <p:sp>
        <p:nvSpPr>
          <p:cNvPr id="11" name="A1_t"/>
          <p:cNvSpPr/>
          <p:nvPr/>
        </p:nvSpPr>
        <p:spPr>
          <a:xfrm>
            <a:off x="777240" y="2331720"/>
            <a:ext cx="4160520" cy="365760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Thuật toán Shor phá RSA, ECDSA trên máy tính lượng tử đủ lớn</a:t>
            </a:r>
            <a:endParaRPr lang="en-US" sz="1600" dirty="0"/>
          </a:p>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Văn bằng cần xác minh được trong nhiều năm</a:t>
            </a:r>
            <a:endParaRPr lang="en-US" sz="1600" dirty="0"/>
          </a:p>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NIST ban hành FIPS 204 (8/2024) chuẩn hóa ML-DSA</a:t>
            </a:r>
            <a:endParaRPr lang="en-US" sz="1600" dirty="0"/>
          </a:p>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ML-DSA dựa trên bài toán lưới Module-LWE, Module-SIS</a:t>
            </a:r>
            <a:endParaRPr lang="en-US" sz="1600" dirty="0"/>
          </a:p>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Hệ thống dùng thư viện Cloudflare CIRCL</a:t>
            </a:r>
            <a:endParaRPr lang="en-US" sz="1600" dirty="0"/>
          </a:p>
        </p:txBody>
      </p:sp>
      <p:graphicFrame>
        <p:nvGraphicFramePr>
          <p:cNvPr id="13" name="A2_tbl"/>
          <p:cNvGraphicFramePr>
            <a:graphicFrameLocks noGrp="1"/>
          </p:cNvGraphicFramePr>
          <p:nvPr>
            <p:extLst>
              <p:ext uri="{D42A27DB-BD31-4B8C-83A1-F6EECF244321}">
                <p14:modId xmlns:p14="http://schemas.microsoft.com/office/powerpoint/2010/main" val="1579011935"/>
              </p:ext>
            </p:extLst>
          </p:nvPr>
        </p:nvGraphicFramePr>
        <p:xfrm>
          <a:off x="5440680" y="1600200"/>
          <a:ext cx="6208776" cy="2267712"/>
        </p:xfrm>
        <a:graphic>
          <a:graphicData uri="http://schemas.openxmlformats.org/drawingml/2006/table">
            <a:tbl>
              <a:tblPr/>
              <a:tblGrid>
                <a:gridCol w="224028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078992">
                  <a:extLst>
                    <a:ext uri="{9D8B030D-6E8A-4147-A177-3AD203B41FA5}">
                      <a16:colId xmlns:a16="http://schemas.microsoft.com/office/drawing/2014/main" val="20002"/>
                    </a:ext>
                  </a:extLst>
                </a:gridCol>
                <a:gridCol w="1033272">
                  <a:extLst>
                    <a:ext uri="{9D8B030D-6E8A-4147-A177-3AD203B41FA5}">
                      <a16:colId xmlns:a16="http://schemas.microsoft.com/office/drawing/2014/main" val="20003"/>
                    </a:ext>
                  </a:extLst>
                </a:gridCol>
                <a:gridCol w="1033272">
                  <a:extLst>
                    <a:ext uri="{9D8B030D-6E8A-4147-A177-3AD203B41FA5}">
                      <a16:colId xmlns:a16="http://schemas.microsoft.com/office/drawing/2014/main" val="20004"/>
                    </a:ext>
                  </a:extLst>
                </a:gridCol>
              </a:tblGrid>
              <a:tr h="566928">
                <a:tc>
                  <a:txBody>
                    <a:bodyPr/>
                    <a:lstStyle/>
                    <a:p>
                      <a:pPr marL="0" indent="0" algn="ctr">
                        <a:buNone/>
                      </a:pPr>
                      <a:r>
                        <a:rPr lang="en-US" sz="1550" b="1" dirty="0">
                          <a:solidFill>
                            <a:srgbClr val="FFFFFF"/>
                          </a:solidFill>
                          <a:latin typeface="Calibri" pitchFamily="34" charset="0"/>
                          <a:ea typeface="Calibri" pitchFamily="34" charset="-122"/>
                          <a:cs typeface="Calibri" pitchFamily="34" charset="-120"/>
                        </a:rPr>
                        <a:t>Bộ tham số</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14284B"/>
                    </a:solidFill>
                  </a:tcPr>
                </a:tc>
                <a:tc>
                  <a:txBody>
                    <a:bodyPr/>
                    <a:lstStyle/>
                    <a:p>
                      <a:pPr marL="0" indent="0" algn="ctr">
                        <a:buNone/>
                      </a:pPr>
                      <a:r>
                        <a:rPr lang="en-US" sz="1550" b="1" dirty="0">
                          <a:solidFill>
                            <a:srgbClr val="FFFFFF"/>
                          </a:solidFill>
                          <a:latin typeface="Calibri" pitchFamily="34" charset="0"/>
                          <a:ea typeface="Calibri" pitchFamily="34" charset="-122"/>
                          <a:cs typeface="Calibri" pitchFamily="34" charset="-120"/>
                        </a:rPr>
                        <a:t>Mức NIST</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14284B"/>
                    </a:solidFill>
                  </a:tcPr>
                </a:tc>
                <a:tc>
                  <a:txBody>
                    <a:bodyPr/>
                    <a:lstStyle/>
                    <a:p>
                      <a:pPr marL="0" indent="0" algn="ctr">
                        <a:buNone/>
                      </a:pPr>
                      <a:r>
                        <a:rPr lang="en-US" sz="1550" b="1" dirty="0">
                          <a:solidFill>
                            <a:srgbClr val="FFFFFF"/>
                          </a:solidFill>
                          <a:latin typeface="Calibri" pitchFamily="34" charset="0"/>
                          <a:ea typeface="Calibri" pitchFamily="34" charset="-122"/>
                          <a:cs typeface="Calibri" pitchFamily="34" charset="-120"/>
                        </a:rPr>
                        <a:t>Khóa công khai</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14284B"/>
                    </a:solidFill>
                  </a:tcPr>
                </a:tc>
                <a:tc>
                  <a:txBody>
                    <a:bodyPr/>
                    <a:lstStyle/>
                    <a:p>
                      <a:pPr marL="0" indent="0" algn="ctr">
                        <a:buNone/>
                      </a:pPr>
                      <a:r>
                        <a:rPr lang="en-US" sz="1550" b="1" dirty="0">
                          <a:solidFill>
                            <a:srgbClr val="FFFFFF"/>
                          </a:solidFill>
                          <a:latin typeface="Calibri" pitchFamily="34" charset="0"/>
                          <a:ea typeface="Calibri" pitchFamily="34" charset="-122"/>
                          <a:cs typeface="Calibri" pitchFamily="34" charset="-120"/>
                        </a:rPr>
                        <a:t>Khóa bí mật</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14284B"/>
                    </a:solidFill>
                  </a:tcPr>
                </a:tc>
                <a:tc>
                  <a:txBody>
                    <a:bodyPr/>
                    <a:lstStyle/>
                    <a:p>
                      <a:pPr marL="0" indent="0" algn="ctr">
                        <a:buNone/>
                      </a:pPr>
                      <a:r>
                        <a:rPr lang="en-US" sz="1550" b="1" dirty="0">
                          <a:solidFill>
                            <a:srgbClr val="FFFFFF"/>
                          </a:solidFill>
                          <a:latin typeface="Calibri" pitchFamily="34" charset="0"/>
                          <a:ea typeface="Calibri" pitchFamily="34" charset="-122"/>
                          <a:cs typeface="Calibri" pitchFamily="34" charset="-120"/>
                        </a:rPr>
                        <a:t>Chữ ký</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14284B"/>
                    </a:solidFill>
                  </a:tcPr>
                </a:tc>
                <a:extLst>
                  <a:ext uri="{0D108BD9-81ED-4DB2-BD59-A6C34878D82A}">
                    <a16:rowId xmlns:a16="http://schemas.microsoft.com/office/drawing/2014/main" val="10000"/>
                  </a:ext>
                </a:extLst>
              </a:tr>
              <a:tr h="566928">
                <a:tc>
                  <a:txBody>
                    <a:bodyPr/>
                    <a:lstStyle/>
                    <a:p>
                      <a:pPr marL="0" indent="0" algn="ctr">
                        <a:buNone/>
                      </a:pPr>
                      <a:r>
                        <a:rPr lang="en-US" sz="1550" b="1" dirty="0">
                          <a:solidFill>
                            <a:srgbClr val="1F2937"/>
                          </a:solidFill>
                          <a:latin typeface="Calibri" pitchFamily="34" charset="0"/>
                          <a:ea typeface="Calibri" pitchFamily="34" charset="-122"/>
                          <a:cs typeface="Calibri" pitchFamily="34" charset="-120"/>
                        </a:rPr>
                        <a:t>ML-DSA-44</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FFFFFF"/>
                    </a:solidFill>
                  </a:tcPr>
                </a:tc>
                <a:tc>
                  <a:txBody>
                    <a:bodyPr/>
                    <a:lstStyle/>
                    <a:p>
                      <a:pPr marL="0" indent="0" algn="ctr">
                        <a:buNone/>
                      </a:pPr>
                      <a:r>
                        <a:rPr lang="en-US" sz="1550" dirty="0">
                          <a:solidFill>
                            <a:srgbClr val="1F2937"/>
                          </a:solidFill>
                          <a:latin typeface="Calibri" pitchFamily="34" charset="0"/>
                          <a:ea typeface="Calibri" pitchFamily="34" charset="-122"/>
                          <a:cs typeface="Calibri" pitchFamily="34" charset="-120"/>
                        </a:rPr>
                        <a:t>2</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FFFFFF"/>
                    </a:solidFill>
                  </a:tcPr>
                </a:tc>
                <a:tc>
                  <a:txBody>
                    <a:bodyPr/>
                    <a:lstStyle/>
                    <a:p>
                      <a:pPr marL="0" indent="0" algn="ctr">
                        <a:buNone/>
                      </a:pPr>
                      <a:r>
                        <a:rPr lang="en-US" sz="1550" dirty="0">
                          <a:solidFill>
                            <a:srgbClr val="1F2937"/>
                          </a:solidFill>
                          <a:latin typeface="Calibri" pitchFamily="34" charset="0"/>
                          <a:ea typeface="Calibri" pitchFamily="34" charset="-122"/>
                          <a:cs typeface="Calibri" pitchFamily="34" charset="-120"/>
                        </a:rPr>
                        <a:t>1.312 B</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FFFFFF"/>
                    </a:solidFill>
                  </a:tcPr>
                </a:tc>
                <a:tc>
                  <a:txBody>
                    <a:bodyPr/>
                    <a:lstStyle/>
                    <a:p>
                      <a:pPr marL="0" indent="0" algn="ctr">
                        <a:buNone/>
                      </a:pPr>
                      <a:r>
                        <a:rPr lang="en-US" sz="1550" dirty="0">
                          <a:solidFill>
                            <a:srgbClr val="1F2937"/>
                          </a:solidFill>
                          <a:latin typeface="Calibri" pitchFamily="34" charset="0"/>
                          <a:ea typeface="Calibri" pitchFamily="34" charset="-122"/>
                          <a:cs typeface="Calibri" pitchFamily="34" charset="-120"/>
                        </a:rPr>
                        <a:t>2.560 B</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FFFFFF"/>
                    </a:solidFill>
                  </a:tcPr>
                </a:tc>
                <a:tc>
                  <a:txBody>
                    <a:bodyPr/>
                    <a:lstStyle/>
                    <a:p>
                      <a:pPr marL="0" indent="0" algn="ctr">
                        <a:buNone/>
                      </a:pPr>
                      <a:r>
                        <a:rPr lang="en-US" sz="1550" dirty="0">
                          <a:solidFill>
                            <a:srgbClr val="1F2937"/>
                          </a:solidFill>
                          <a:latin typeface="Calibri" pitchFamily="34" charset="0"/>
                          <a:ea typeface="Calibri" pitchFamily="34" charset="-122"/>
                          <a:cs typeface="Calibri" pitchFamily="34" charset="-120"/>
                        </a:rPr>
                        <a:t>2.420 B</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ctr">
                        <a:buNone/>
                      </a:pPr>
                      <a:r>
                        <a:rPr lang="en-US" sz="1550" b="1" dirty="0">
                          <a:solidFill>
                            <a:srgbClr val="0E7C86"/>
                          </a:solidFill>
                          <a:latin typeface="Calibri" pitchFamily="34" charset="0"/>
                          <a:ea typeface="Calibri" pitchFamily="34" charset="-122"/>
                          <a:cs typeface="Calibri" pitchFamily="34" charset="-120"/>
                        </a:rPr>
                        <a:t>ML-DSA-65 (mặc định)</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E3F1F2"/>
                    </a:solidFill>
                  </a:tcPr>
                </a:tc>
                <a:tc>
                  <a:txBody>
                    <a:bodyPr/>
                    <a:lstStyle/>
                    <a:p>
                      <a:pPr marL="0" indent="0" algn="ctr">
                        <a:buNone/>
                      </a:pPr>
                      <a:r>
                        <a:rPr lang="en-US" sz="1550" dirty="0">
                          <a:solidFill>
                            <a:srgbClr val="1F2937"/>
                          </a:solidFill>
                          <a:latin typeface="Calibri" pitchFamily="34" charset="0"/>
                          <a:ea typeface="Calibri" pitchFamily="34" charset="-122"/>
                          <a:cs typeface="Calibri" pitchFamily="34" charset="-120"/>
                        </a:rPr>
                        <a:t>3</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E3F1F2"/>
                    </a:solidFill>
                  </a:tcPr>
                </a:tc>
                <a:tc>
                  <a:txBody>
                    <a:bodyPr/>
                    <a:lstStyle/>
                    <a:p>
                      <a:pPr marL="0" indent="0" algn="ctr">
                        <a:buNone/>
                      </a:pPr>
                      <a:r>
                        <a:rPr lang="en-US" sz="1550" dirty="0">
                          <a:solidFill>
                            <a:srgbClr val="1F2937"/>
                          </a:solidFill>
                          <a:latin typeface="Calibri" pitchFamily="34" charset="0"/>
                          <a:ea typeface="Calibri" pitchFamily="34" charset="-122"/>
                          <a:cs typeface="Calibri" pitchFamily="34" charset="-120"/>
                        </a:rPr>
                        <a:t>1.952 B</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E3F1F2"/>
                    </a:solidFill>
                  </a:tcPr>
                </a:tc>
                <a:tc>
                  <a:txBody>
                    <a:bodyPr/>
                    <a:lstStyle/>
                    <a:p>
                      <a:pPr marL="0" indent="0" algn="ctr">
                        <a:buNone/>
                      </a:pPr>
                      <a:r>
                        <a:rPr lang="en-US" sz="1550" dirty="0">
                          <a:solidFill>
                            <a:srgbClr val="1F2937"/>
                          </a:solidFill>
                          <a:latin typeface="Calibri" pitchFamily="34" charset="0"/>
                          <a:ea typeface="Calibri" pitchFamily="34" charset="-122"/>
                          <a:cs typeface="Calibri" pitchFamily="34" charset="-120"/>
                        </a:rPr>
                        <a:t>4.032 B</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E3F1F2"/>
                    </a:solidFill>
                  </a:tcPr>
                </a:tc>
                <a:tc>
                  <a:txBody>
                    <a:bodyPr/>
                    <a:lstStyle/>
                    <a:p>
                      <a:pPr marL="0" indent="0" algn="ctr">
                        <a:buNone/>
                      </a:pPr>
                      <a:r>
                        <a:rPr lang="en-US" sz="1550" dirty="0">
                          <a:solidFill>
                            <a:srgbClr val="1F2937"/>
                          </a:solidFill>
                          <a:latin typeface="Calibri" pitchFamily="34" charset="0"/>
                          <a:ea typeface="Calibri" pitchFamily="34" charset="-122"/>
                          <a:cs typeface="Calibri" pitchFamily="34" charset="-120"/>
                        </a:rPr>
                        <a:t>3.309 B</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E3F1F2"/>
                    </a:solidFill>
                  </a:tcPr>
                </a:tc>
                <a:extLst>
                  <a:ext uri="{0D108BD9-81ED-4DB2-BD59-A6C34878D82A}">
                    <a16:rowId xmlns:a16="http://schemas.microsoft.com/office/drawing/2014/main" val="10002"/>
                  </a:ext>
                </a:extLst>
              </a:tr>
              <a:tr h="566928">
                <a:tc>
                  <a:txBody>
                    <a:bodyPr/>
                    <a:lstStyle/>
                    <a:p>
                      <a:pPr marL="0" indent="0" algn="ctr">
                        <a:buNone/>
                      </a:pPr>
                      <a:r>
                        <a:rPr lang="en-US" sz="1550" b="1" dirty="0">
                          <a:solidFill>
                            <a:srgbClr val="1F2937"/>
                          </a:solidFill>
                          <a:latin typeface="Calibri" pitchFamily="34" charset="0"/>
                          <a:ea typeface="Calibri" pitchFamily="34" charset="-122"/>
                          <a:cs typeface="Calibri" pitchFamily="34" charset="-120"/>
                        </a:rPr>
                        <a:t>ML-DSA-87</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FFFFFF"/>
                    </a:solidFill>
                  </a:tcPr>
                </a:tc>
                <a:tc>
                  <a:txBody>
                    <a:bodyPr/>
                    <a:lstStyle/>
                    <a:p>
                      <a:pPr marL="0" indent="0" algn="ctr">
                        <a:buNone/>
                      </a:pPr>
                      <a:r>
                        <a:rPr lang="en-US" sz="1550" dirty="0">
                          <a:solidFill>
                            <a:srgbClr val="1F2937"/>
                          </a:solidFill>
                          <a:latin typeface="Calibri" pitchFamily="34" charset="0"/>
                          <a:ea typeface="Calibri" pitchFamily="34" charset="-122"/>
                          <a:cs typeface="Calibri" pitchFamily="34" charset="-120"/>
                        </a:rPr>
                        <a:t>5</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FFFFFF"/>
                    </a:solidFill>
                  </a:tcPr>
                </a:tc>
                <a:tc>
                  <a:txBody>
                    <a:bodyPr/>
                    <a:lstStyle/>
                    <a:p>
                      <a:pPr marL="0" indent="0" algn="ctr">
                        <a:buNone/>
                      </a:pPr>
                      <a:r>
                        <a:rPr lang="en-US" sz="1550" dirty="0">
                          <a:solidFill>
                            <a:srgbClr val="1F2937"/>
                          </a:solidFill>
                          <a:latin typeface="Calibri" pitchFamily="34" charset="0"/>
                          <a:ea typeface="Calibri" pitchFamily="34" charset="-122"/>
                          <a:cs typeface="Calibri" pitchFamily="34" charset="-120"/>
                        </a:rPr>
                        <a:t>2.592 B</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FFFFFF"/>
                    </a:solidFill>
                  </a:tcPr>
                </a:tc>
                <a:tc>
                  <a:txBody>
                    <a:bodyPr/>
                    <a:lstStyle/>
                    <a:p>
                      <a:pPr marL="0" indent="0" algn="ctr">
                        <a:buNone/>
                      </a:pPr>
                      <a:r>
                        <a:rPr lang="en-US" sz="1550" dirty="0">
                          <a:solidFill>
                            <a:srgbClr val="1F2937"/>
                          </a:solidFill>
                          <a:latin typeface="Calibri" pitchFamily="34" charset="0"/>
                          <a:ea typeface="Calibri" pitchFamily="34" charset="-122"/>
                          <a:cs typeface="Calibri" pitchFamily="34" charset="-120"/>
                        </a:rPr>
                        <a:t>4.896 B</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FFFFFF"/>
                    </a:solidFill>
                  </a:tcPr>
                </a:tc>
                <a:tc>
                  <a:txBody>
                    <a:bodyPr/>
                    <a:lstStyle/>
                    <a:p>
                      <a:pPr marL="0" indent="0" algn="ctr">
                        <a:buNone/>
                      </a:pPr>
                      <a:r>
                        <a:rPr lang="en-US" sz="1550" dirty="0">
                          <a:solidFill>
                            <a:srgbClr val="1F2937"/>
                          </a:solidFill>
                          <a:latin typeface="Calibri" pitchFamily="34" charset="0"/>
                          <a:ea typeface="Calibri" pitchFamily="34" charset="-122"/>
                          <a:cs typeface="Calibri" pitchFamily="34" charset="-120"/>
                        </a:rPr>
                        <a:t>4.627 B</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A3_t"/>
          <p:cNvSpPr/>
          <p:nvPr/>
        </p:nvSpPr>
        <p:spPr>
          <a:xfrm>
            <a:off x="5440680" y="4114800"/>
            <a:ext cx="6208776" cy="1005840"/>
          </a:xfrm>
          <a:prstGeom prst="rect">
            <a:avLst/>
          </a:prstGeom>
          <a:noFill/>
          <a:ln/>
        </p:spPr>
        <p:txBody>
          <a:bodyPr wrap="square" lIns="0" tIns="0" rIns="0" bIns="0" rtlCol="0" anchor="t"/>
          <a:lstStyle/>
          <a:p>
            <a:pPr marL="0" indent="0">
              <a:buNone/>
            </a:pPr>
            <a:r>
              <a:rPr lang="en-US" sz="1400" b="1" dirty="0">
                <a:solidFill>
                  <a:srgbClr val="14284B"/>
                </a:solidFill>
                <a:latin typeface="Calibri" pitchFamily="34" charset="0"/>
                <a:ea typeface="Calibri" pitchFamily="34" charset="-122"/>
                <a:cs typeface="Calibri" pitchFamily="34" charset="-120"/>
              </a:rPr>
              <a:t>So sánh: </a:t>
            </a:r>
            <a:r>
              <a:rPr lang="en-US" sz="1400" dirty="0">
                <a:solidFill>
                  <a:srgbClr val="1F2937"/>
                </a:solidFill>
                <a:latin typeface="Calibri" pitchFamily="34" charset="0"/>
                <a:ea typeface="Calibri" pitchFamily="34" charset="-122"/>
                <a:cs typeface="Calibri" pitchFamily="34" charset="-120"/>
              </a:rPr>
              <a:t>chữ ký ECDSA P-256 chỉ 64 byte, nhưng không an toàn trước máy tính lượng tử. Với văn bằng, kích thước vài KB của ML-DSA là chấp nhận được.</a:t>
            </a:r>
            <a:endParaRPr lang="en-US" sz="1400" dirty="0"/>
          </a:p>
        </p:txBody>
      </p:sp>
      <p:sp>
        <p:nvSpPr>
          <p:cNvPr id="14" name="A3_n"/>
          <p:cNvSpPr/>
          <p:nvPr/>
        </p:nvSpPr>
        <p:spPr>
          <a:xfrm>
            <a:off x="5440680" y="5212080"/>
            <a:ext cx="6208776" cy="731520"/>
          </a:xfrm>
          <a:prstGeom prst="rect">
            <a:avLst/>
          </a:prstGeom>
          <a:noFill/>
          <a:ln/>
        </p:spPr>
        <p:txBody>
          <a:bodyPr wrap="square" lIns="0" tIns="0" rIns="0" bIns="0" rtlCol="0" anchor="t"/>
          <a:lstStyle/>
          <a:p>
            <a:pPr marL="0" indent="0">
              <a:buNone/>
            </a:pPr>
            <a:r>
              <a:rPr lang="en-US" sz="1400" i="1" dirty="0">
                <a:solidFill>
                  <a:srgbClr val="0E7C86"/>
                </a:solidFill>
                <a:latin typeface="Calibri" pitchFamily="34" charset="0"/>
                <a:ea typeface="Calibri" pitchFamily="34" charset="-122"/>
                <a:cs typeface="Calibri" pitchFamily="34" charset="-120"/>
              </a:rPr>
              <a:t>Ba thủ tục: sinh khóa – ký – xác minh; hệ thống hỗ trợ cả ba bộ tham số, người dùng chọn khi tạo khóa.</a:t>
            </a:r>
            <a:endParaRPr lang="en-US" sz="14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400"/>
                                        <p:tgtEl>
                                          <p:spTgt spid="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6" grpId="0" animBg="1"/>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6EDF5"/>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150" dirty="0">
                <a:solidFill>
                  <a:srgbClr val="0E7C86"/>
                </a:solidFill>
                <a:latin typeface="Calibri" pitchFamily="34" charset="0"/>
                <a:ea typeface="Calibri" pitchFamily="34" charset="-122"/>
                <a:cs typeface="Calibri" pitchFamily="34" charset="-120"/>
              </a:rPr>
              <a:t>PHẦN 4 · KÝ SỐ HẬU LƯỢNG TỬ</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14284B"/>
                </a:solidFill>
                <a:latin typeface="Cambria" pitchFamily="34" charset="0"/>
                <a:ea typeface="Cambria" pitchFamily="34" charset="-122"/>
                <a:cs typeface="Cambria" pitchFamily="34" charset="-120"/>
              </a:rPr>
              <a:t>Ký văn bằng và bảo vệ khóa bí mật</a:t>
            </a:r>
            <a:endParaRPr lang="en-US" sz="28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Đặng Kim Khánh · CT060318 · Hệ thống quản lý bằng số sử dụng ký số hậu lượng tử</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13 / 25</a:t>
            </a:r>
            <a:endParaRPr lang="en-US" sz="1000" dirty="0"/>
          </a:p>
        </p:txBody>
      </p:sp>
      <p:sp>
        <p:nvSpPr>
          <p:cNvPr id="7" name="A1_s0"/>
          <p:cNvSpPr/>
          <p:nvPr/>
        </p:nvSpPr>
        <p:spPr>
          <a:xfrm>
            <a:off x="548640" y="1508760"/>
            <a:ext cx="2011680" cy="1051560"/>
          </a:xfrm>
          <a:prstGeom prst="roundRect">
            <a:avLst>
              <a:gd name="adj" fmla="val 5217"/>
            </a:avLst>
          </a:prstGeom>
          <a:solidFill>
            <a:srgbClr val="FFFFFF"/>
          </a:solidFill>
          <a:ln>
            <a:solidFill>
              <a:srgbClr val="FFFFFF"/>
            </a:solidFill>
          </a:ln>
        </p:spPr>
        <p:txBody>
          <a:bodyPr wrap="square" lIns="63500" tIns="63500" rIns="63500" bIns="63500" rtlCol="0" anchor="ctr"/>
          <a:lstStyle/>
          <a:p>
            <a:pPr marL="0" indent="0" algn="ctr">
              <a:buNone/>
            </a:pPr>
            <a:r>
              <a:rPr lang="en-US" sz="1550" dirty="0">
                <a:solidFill>
                  <a:srgbClr val="1F2937"/>
                </a:solidFill>
                <a:latin typeface="Calibri" pitchFamily="34" charset="0"/>
                <a:ea typeface="Calibri" pitchFamily="34" charset="-122"/>
                <a:cs typeface="Calibri" pitchFamily="34" charset="-120"/>
              </a:rPr>
              <a:t>Dữ liệu văn bằng + SHA-256 của PDF</a:t>
            </a:r>
            <a:endParaRPr lang="en-US" sz="1550" dirty="0"/>
          </a:p>
        </p:txBody>
      </p:sp>
      <p:sp>
        <p:nvSpPr>
          <p:cNvPr id="8" name="A1_a0"/>
          <p:cNvSpPr/>
          <p:nvPr/>
        </p:nvSpPr>
        <p:spPr>
          <a:xfrm>
            <a:off x="2587752" y="2034540"/>
            <a:ext cx="201168" cy="0"/>
          </a:xfrm>
          <a:prstGeom prst="line">
            <a:avLst/>
          </a:prstGeom>
          <a:noFill/>
          <a:ln w="19050">
            <a:solidFill>
              <a:srgbClr val="0E7C86"/>
            </a:solidFill>
            <a:prstDash val="solid"/>
            <a:tailEnd type="triangle"/>
          </a:ln>
        </p:spPr>
      </p:sp>
      <p:sp>
        <p:nvSpPr>
          <p:cNvPr id="9" name="A1_s1"/>
          <p:cNvSpPr/>
          <p:nvPr/>
        </p:nvSpPr>
        <p:spPr>
          <a:xfrm>
            <a:off x="2816352" y="1508760"/>
            <a:ext cx="2011680" cy="1051560"/>
          </a:xfrm>
          <a:prstGeom prst="roundRect">
            <a:avLst>
              <a:gd name="adj" fmla="val 5217"/>
            </a:avLst>
          </a:prstGeom>
          <a:solidFill>
            <a:srgbClr val="FFFFFF"/>
          </a:solidFill>
          <a:ln>
            <a:solidFill>
              <a:srgbClr val="FFFFFF"/>
            </a:solidFill>
          </a:ln>
        </p:spPr>
        <p:txBody>
          <a:bodyPr wrap="square" lIns="63500" tIns="63500" rIns="63500" bIns="63500" rtlCol="0" anchor="ctr"/>
          <a:lstStyle/>
          <a:p>
            <a:pPr marL="0" indent="0" algn="ctr">
              <a:buNone/>
            </a:pPr>
            <a:r>
              <a:rPr lang="en-US" sz="1550" dirty="0">
                <a:solidFill>
                  <a:srgbClr val="1F2937"/>
                </a:solidFill>
                <a:latin typeface="Calibri" pitchFamily="34" charset="0"/>
                <a:ea typeface="Calibri" pitchFamily="34" charset="-122"/>
                <a:cs typeface="Calibri" pitchFamily="34" charset="-120"/>
              </a:rPr>
              <a:t>Manifest JSON thứ tự trường cố định</a:t>
            </a:r>
            <a:endParaRPr lang="en-US" sz="1550" dirty="0"/>
          </a:p>
        </p:txBody>
      </p:sp>
      <p:sp>
        <p:nvSpPr>
          <p:cNvPr id="10" name="A1_a1"/>
          <p:cNvSpPr/>
          <p:nvPr/>
        </p:nvSpPr>
        <p:spPr>
          <a:xfrm>
            <a:off x="4855464" y="2034540"/>
            <a:ext cx="201168" cy="0"/>
          </a:xfrm>
          <a:prstGeom prst="line">
            <a:avLst/>
          </a:prstGeom>
          <a:noFill/>
          <a:ln w="19050">
            <a:solidFill>
              <a:srgbClr val="0E7C86"/>
            </a:solidFill>
            <a:prstDash val="solid"/>
            <a:tailEnd type="triangle"/>
          </a:ln>
        </p:spPr>
      </p:sp>
      <p:sp>
        <p:nvSpPr>
          <p:cNvPr id="11" name="A1_s2"/>
          <p:cNvSpPr/>
          <p:nvPr/>
        </p:nvSpPr>
        <p:spPr>
          <a:xfrm>
            <a:off x="5084064" y="1508760"/>
            <a:ext cx="2011680" cy="1051560"/>
          </a:xfrm>
          <a:prstGeom prst="roundRect">
            <a:avLst>
              <a:gd name="adj" fmla="val 5217"/>
            </a:avLst>
          </a:prstGeom>
          <a:solidFill>
            <a:srgbClr val="FFFFFF"/>
          </a:solidFill>
          <a:ln>
            <a:solidFill>
              <a:srgbClr val="FFFFFF"/>
            </a:solidFill>
          </a:ln>
        </p:spPr>
        <p:txBody>
          <a:bodyPr wrap="square" lIns="63500" tIns="63500" rIns="63500" bIns="63500" rtlCol="0" anchor="ctr"/>
          <a:lstStyle/>
          <a:p>
            <a:pPr marL="0" indent="0" algn="ctr">
              <a:buNone/>
            </a:pPr>
            <a:r>
              <a:rPr lang="en-US" sz="1550" dirty="0">
                <a:solidFill>
                  <a:srgbClr val="1F2937"/>
                </a:solidFill>
                <a:latin typeface="Calibri" pitchFamily="34" charset="0"/>
                <a:ea typeface="Calibri" pitchFamily="34" charset="-122"/>
                <a:cs typeface="Calibri" pitchFamily="34" charset="-120"/>
              </a:rPr>
              <a:t>manifest_hash = SHA-256</a:t>
            </a:r>
            <a:endParaRPr lang="en-US" sz="1550" dirty="0"/>
          </a:p>
        </p:txBody>
      </p:sp>
      <p:sp>
        <p:nvSpPr>
          <p:cNvPr id="12" name="A1_a2"/>
          <p:cNvSpPr/>
          <p:nvPr/>
        </p:nvSpPr>
        <p:spPr>
          <a:xfrm>
            <a:off x="7123176" y="2034540"/>
            <a:ext cx="201168" cy="0"/>
          </a:xfrm>
          <a:prstGeom prst="line">
            <a:avLst/>
          </a:prstGeom>
          <a:noFill/>
          <a:ln w="19050">
            <a:solidFill>
              <a:srgbClr val="0E7C86"/>
            </a:solidFill>
            <a:prstDash val="solid"/>
            <a:tailEnd type="triangle"/>
          </a:ln>
        </p:spPr>
      </p:sp>
      <p:sp>
        <p:nvSpPr>
          <p:cNvPr id="13" name="A1_s3"/>
          <p:cNvSpPr/>
          <p:nvPr/>
        </p:nvSpPr>
        <p:spPr>
          <a:xfrm>
            <a:off x="7351776" y="1508760"/>
            <a:ext cx="2011680" cy="1051560"/>
          </a:xfrm>
          <a:prstGeom prst="roundRect">
            <a:avLst>
              <a:gd name="adj" fmla="val 5217"/>
            </a:avLst>
          </a:prstGeom>
          <a:solidFill>
            <a:srgbClr val="14284B"/>
          </a:solidFill>
          <a:ln>
            <a:solidFill>
              <a:srgbClr val="14284B"/>
            </a:solidFill>
          </a:ln>
        </p:spPr>
        <p:txBody>
          <a:bodyPr wrap="square" lIns="63500" tIns="63500" rIns="63500" bIns="63500"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Ký ML-DSA, ngữ cảnh PQC-EDIPLOMA-V1</a:t>
            </a:r>
            <a:endParaRPr lang="en-US" sz="1550" dirty="0"/>
          </a:p>
        </p:txBody>
      </p:sp>
      <p:sp>
        <p:nvSpPr>
          <p:cNvPr id="14" name="A1_a3"/>
          <p:cNvSpPr/>
          <p:nvPr/>
        </p:nvSpPr>
        <p:spPr>
          <a:xfrm>
            <a:off x="9390888" y="2034540"/>
            <a:ext cx="201168" cy="0"/>
          </a:xfrm>
          <a:prstGeom prst="line">
            <a:avLst/>
          </a:prstGeom>
          <a:noFill/>
          <a:ln w="19050">
            <a:solidFill>
              <a:srgbClr val="0E7C86"/>
            </a:solidFill>
            <a:prstDash val="solid"/>
            <a:tailEnd type="triangle"/>
          </a:ln>
        </p:spPr>
      </p:sp>
      <p:sp>
        <p:nvSpPr>
          <p:cNvPr id="15" name="A1_s4"/>
          <p:cNvSpPr/>
          <p:nvPr/>
        </p:nvSpPr>
        <p:spPr>
          <a:xfrm>
            <a:off x="9619488" y="1508760"/>
            <a:ext cx="2011680" cy="1051560"/>
          </a:xfrm>
          <a:prstGeom prst="roundRect">
            <a:avLst>
              <a:gd name="adj" fmla="val 5217"/>
            </a:avLst>
          </a:prstGeom>
          <a:solidFill>
            <a:srgbClr val="FFFFFF"/>
          </a:solidFill>
          <a:ln>
            <a:solidFill>
              <a:srgbClr val="FFFFFF"/>
            </a:solidFill>
          </a:ln>
        </p:spPr>
        <p:txBody>
          <a:bodyPr wrap="square" lIns="63500" tIns="63500" rIns="63500" bIns="63500" rtlCol="0" anchor="ctr"/>
          <a:lstStyle/>
          <a:p>
            <a:pPr marL="0" indent="0" algn="ctr">
              <a:buNone/>
            </a:pPr>
            <a:r>
              <a:rPr lang="en-US" sz="1550" dirty="0">
                <a:solidFill>
                  <a:srgbClr val="1F2937"/>
                </a:solidFill>
                <a:latin typeface="Calibri" pitchFamily="34" charset="0"/>
                <a:ea typeface="Calibri" pitchFamily="34" charset="-122"/>
                <a:cs typeface="Calibri" pitchFamily="34" charset="-120"/>
              </a:rPr>
              <a:t>Lưu pqc_proof cùng văn bằng</a:t>
            </a:r>
            <a:endParaRPr lang="en-US" sz="1550" dirty="0"/>
          </a:p>
        </p:txBody>
      </p:sp>
      <p:sp>
        <p:nvSpPr>
          <p:cNvPr id="16" name="A2_bg"/>
          <p:cNvSpPr/>
          <p:nvPr/>
        </p:nvSpPr>
        <p:spPr>
          <a:xfrm>
            <a:off x="548640" y="2880360"/>
            <a:ext cx="5440680" cy="3246120"/>
          </a:xfrm>
          <a:prstGeom prst="roundRect">
            <a:avLst>
              <a:gd name="adj" fmla="val 2254"/>
            </a:avLst>
          </a:prstGeom>
          <a:solidFill>
            <a:srgbClr val="FFFFFF"/>
          </a:solidFill>
          <a:ln w="12700">
            <a:solidFill>
              <a:srgbClr val="FFFFFF"/>
            </a:solidFill>
            <a:prstDash val="solid"/>
          </a:ln>
        </p:spPr>
      </p:sp>
      <p:sp>
        <p:nvSpPr>
          <p:cNvPr id="17" name="A2_c"/>
          <p:cNvSpPr/>
          <p:nvPr/>
        </p:nvSpPr>
        <p:spPr>
          <a:xfrm>
            <a:off x="777240" y="3108960"/>
            <a:ext cx="502920" cy="502920"/>
          </a:xfrm>
          <a:prstGeom prst="ellipse">
            <a:avLst/>
          </a:prstGeom>
          <a:solidFill>
            <a:srgbClr val="14284B"/>
          </a:solidFill>
          <a:ln w="12700">
            <a:solidFill>
              <a:srgbClr val="14284B"/>
            </a:solidFill>
            <a:prstDash val="solid"/>
          </a:ln>
        </p:spPr>
      </p:sp>
      <p:pic>
        <p:nvPicPr>
          <p:cNvPr id="18" name="A2_i" descr="preencoded.png"/>
          <p:cNvPicPr>
            <a:picLocks noChangeAspect="1"/>
          </p:cNvPicPr>
          <p:nvPr/>
        </p:nvPicPr>
        <p:blipFill>
          <a:blip r:embed="rId3"/>
          <a:stretch>
            <a:fillRect/>
          </a:stretch>
        </p:blipFill>
        <p:spPr>
          <a:xfrm>
            <a:off x="907999" y="3239719"/>
            <a:ext cx="241402" cy="241402"/>
          </a:xfrm>
          <a:prstGeom prst="rect">
            <a:avLst/>
          </a:prstGeom>
        </p:spPr>
      </p:pic>
      <p:sp>
        <p:nvSpPr>
          <p:cNvPr id="19" name="A2_h"/>
          <p:cNvSpPr/>
          <p:nvPr/>
        </p:nvSpPr>
        <p:spPr>
          <a:xfrm>
            <a:off x="1417320" y="3108960"/>
            <a:ext cx="4389120" cy="502920"/>
          </a:xfrm>
          <a:prstGeom prst="rect">
            <a:avLst/>
          </a:prstGeom>
          <a:noFill/>
          <a:ln/>
        </p:spPr>
        <p:txBody>
          <a:bodyPr wrap="square" lIns="0" tIns="0" rIns="0" bIns="0" rtlCol="0" anchor="ctr"/>
          <a:lstStyle/>
          <a:p>
            <a:pPr marL="0" indent="0">
              <a:buNone/>
            </a:pPr>
            <a:r>
              <a:rPr lang="en-US" sz="1700" b="1" dirty="0">
                <a:solidFill>
                  <a:srgbClr val="14284B"/>
                </a:solidFill>
                <a:latin typeface="Cambria" pitchFamily="34" charset="0"/>
                <a:ea typeface="Cambria" pitchFamily="34" charset="-122"/>
                <a:cs typeface="Cambria" pitchFamily="34" charset="-120"/>
              </a:rPr>
              <a:t>Bảo vệ khóa bí mật</a:t>
            </a:r>
            <a:endParaRPr lang="en-US" sz="1700" dirty="0"/>
          </a:p>
        </p:txBody>
      </p:sp>
      <p:sp>
        <p:nvSpPr>
          <p:cNvPr id="20" name="A2_t"/>
          <p:cNvSpPr/>
          <p:nvPr/>
        </p:nvSpPr>
        <p:spPr>
          <a:xfrm>
            <a:off x="777240" y="3749040"/>
            <a:ext cx="5029200" cy="224028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Mã hóa AES-256-GCM trước khi lưu MongoDB</a:t>
            </a:r>
            <a:endParaRPr lang="en-US" sz="1600" dirty="0"/>
          </a:p>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Khóa chủ PQC_MASTER_KEY 32 byte, tách khỏi JWT_SECRET</a:t>
            </a:r>
            <a:endParaRPr lang="en-US" sz="1600" dirty="0"/>
          </a:p>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AAD gắn bản mã với đúng trường và mã khóa</a:t>
            </a:r>
            <a:endParaRPr lang="en-US" sz="1600" dirty="0"/>
          </a:p>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Chỉ giải mã trong bộ nhớ lúc ký, xóa ngay sau khi ký</a:t>
            </a:r>
            <a:endParaRPr lang="en-US" sz="1600" dirty="0"/>
          </a:p>
        </p:txBody>
      </p:sp>
      <p:sp>
        <p:nvSpPr>
          <p:cNvPr id="21" name="A3_bg"/>
          <p:cNvSpPr/>
          <p:nvPr/>
        </p:nvSpPr>
        <p:spPr>
          <a:xfrm>
            <a:off x="6208776" y="2880360"/>
            <a:ext cx="5440680" cy="3246120"/>
          </a:xfrm>
          <a:prstGeom prst="roundRect">
            <a:avLst>
              <a:gd name="adj" fmla="val 2254"/>
            </a:avLst>
          </a:prstGeom>
          <a:solidFill>
            <a:srgbClr val="FFFFFF"/>
          </a:solidFill>
          <a:ln w="12700">
            <a:solidFill>
              <a:srgbClr val="FFFFFF"/>
            </a:solidFill>
            <a:prstDash val="solid"/>
          </a:ln>
        </p:spPr>
      </p:sp>
      <p:sp>
        <p:nvSpPr>
          <p:cNvPr id="22" name="A3_c"/>
          <p:cNvSpPr/>
          <p:nvPr/>
        </p:nvSpPr>
        <p:spPr>
          <a:xfrm>
            <a:off x="6437376" y="3108960"/>
            <a:ext cx="502920" cy="502920"/>
          </a:xfrm>
          <a:prstGeom prst="ellipse">
            <a:avLst/>
          </a:prstGeom>
          <a:solidFill>
            <a:srgbClr val="14284B"/>
          </a:solidFill>
          <a:ln w="12700">
            <a:solidFill>
              <a:srgbClr val="14284B"/>
            </a:solidFill>
            <a:prstDash val="solid"/>
          </a:ln>
        </p:spPr>
      </p:sp>
      <p:pic>
        <p:nvPicPr>
          <p:cNvPr id="23" name="A3_i" descr="preencoded.png"/>
          <p:cNvPicPr>
            <a:picLocks noChangeAspect="1"/>
          </p:cNvPicPr>
          <p:nvPr/>
        </p:nvPicPr>
        <p:blipFill>
          <a:blip r:embed="rId4"/>
          <a:stretch>
            <a:fillRect/>
          </a:stretch>
        </p:blipFill>
        <p:spPr>
          <a:xfrm>
            <a:off x="6568135" y="3239719"/>
            <a:ext cx="241402" cy="241402"/>
          </a:xfrm>
          <a:prstGeom prst="rect">
            <a:avLst/>
          </a:prstGeom>
        </p:spPr>
      </p:pic>
      <p:sp>
        <p:nvSpPr>
          <p:cNvPr id="24" name="A3_h"/>
          <p:cNvSpPr/>
          <p:nvPr/>
        </p:nvSpPr>
        <p:spPr>
          <a:xfrm>
            <a:off x="7077456" y="3108960"/>
            <a:ext cx="4389120" cy="502920"/>
          </a:xfrm>
          <a:prstGeom prst="rect">
            <a:avLst/>
          </a:prstGeom>
          <a:noFill/>
          <a:ln/>
        </p:spPr>
        <p:txBody>
          <a:bodyPr wrap="square" lIns="0" tIns="0" rIns="0" bIns="0" rtlCol="0" anchor="ctr"/>
          <a:lstStyle/>
          <a:p>
            <a:pPr marL="0" indent="0">
              <a:buNone/>
            </a:pPr>
            <a:r>
              <a:rPr lang="en-US" sz="1700" b="1" dirty="0">
                <a:solidFill>
                  <a:srgbClr val="14284B"/>
                </a:solidFill>
                <a:latin typeface="Cambria" pitchFamily="34" charset="0"/>
                <a:ea typeface="Cambria" pitchFamily="34" charset="-122"/>
                <a:cs typeface="Cambria" pitchFamily="34" charset="-120"/>
              </a:rPr>
              <a:t>Dấu ký số trên PDF</a:t>
            </a:r>
            <a:endParaRPr lang="en-US" sz="1700" dirty="0"/>
          </a:p>
        </p:txBody>
      </p:sp>
      <p:sp>
        <p:nvSpPr>
          <p:cNvPr id="25" name="A3_t"/>
          <p:cNvSpPr/>
          <p:nvPr/>
        </p:nvSpPr>
        <p:spPr>
          <a:xfrm>
            <a:off x="6437376" y="3749040"/>
            <a:ext cx="5029200" cy="224028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Hệ thống vẽ dấu ghi tên trường và bộ tham số ML-DSA</a:t>
            </a:r>
            <a:endParaRPr lang="en-US" sz="1600" dirty="0"/>
          </a:p>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Bộ tham số được lưu ở seal_algorithm khi sinh PDF</a:t>
            </a:r>
            <a:endParaRPr lang="en-US" sz="1600" dirty="0"/>
          </a:p>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Khóa đổi bộ tham số sau khi sinh PDF thì từ chối ký</a:t>
            </a:r>
            <a:endParaRPr lang="en-US" sz="1600" dirty="0"/>
          </a:p>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SHA-256 của PDF nằm trong manifest: sửa PDF là lộ</a:t>
            </a:r>
            <a:endParaRPr lang="en-US" sz="16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par>
                                <p:cTn id="37" presetID="10" presetClass="entr" presetSubtype="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par>
                                <p:cTn id="40" presetID="10" presetClass="entr" presetSubtype="0"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400"/>
                                        <p:tgtEl>
                                          <p:spTgt spid="1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400"/>
                                        <p:tgtEl>
                                          <p:spTgt spid="1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400"/>
                                        <p:tgtEl>
                                          <p:spTgt spid="20"/>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par>
                                <p:cTn id="54" presetID="10" presetClass="entr" presetSubtype="0" fill="hold"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00"/>
                                        <p:tgtEl>
                                          <p:spTgt spid="22"/>
                                        </p:tgtEl>
                                      </p:cBhvr>
                                    </p:animEffect>
                                  </p:childTnLst>
                                </p:cTn>
                              </p:par>
                              <p:par>
                                <p:cTn id="57" presetID="10" presetClass="entr" presetSubtype="0" fill="hold"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400"/>
                                        <p:tgtEl>
                                          <p:spTgt spid="2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400"/>
                                        <p:tgtEl>
                                          <p:spTgt spid="2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9" grpId="0" animBg="1"/>
      <p:bldP spid="20" grpId="0" animBg="1"/>
      <p:bldP spid="24" grpId="0" animBg="1"/>
      <p:bldP spid="2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6EDF5"/>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150" dirty="0">
                <a:solidFill>
                  <a:srgbClr val="0E7C86"/>
                </a:solidFill>
                <a:latin typeface="Calibri" pitchFamily="34" charset="0"/>
                <a:ea typeface="Calibri" pitchFamily="34" charset="-122"/>
                <a:cs typeface="Calibri" pitchFamily="34" charset="-120"/>
              </a:rPr>
              <a:t>PHẦN 4 · KÝ SỐ HẬU LƯỢNG TỬ</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14284B"/>
                </a:solidFill>
                <a:latin typeface="Cambria" pitchFamily="34" charset="0"/>
                <a:ea typeface="Cambria" pitchFamily="34" charset="-122"/>
                <a:cs typeface="Cambria" pitchFamily="34" charset="-120"/>
              </a:rPr>
              <a:t>Vòng đời khóa ký</a:t>
            </a:r>
            <a:endParaRPr lang="en-US" sz="28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Đặng Kim Khánh · CT060318 · Hệ thống quản lý bằng số sử dụng ký số hậu lượng tử</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14 / 25</a:t>
            </a:r>
            <a:endParaRPr lang="en-US" sz="1000" dirty="0"/>
          </a:p>
        </p:txBody>
      </p:sp>
      <p:pic>
        <p:nvPicPr>
          <p:cNvPr id="7" name="Image 0" descr="C:\Users\admin\AppData\Local\Temp\claude\c--VBS-PQC\c16daadc-5363-4aed-8ec4-1ba9efe31d52\scratchpad\report\png\st_khoa.png"/>
          <p:cNvPicPr>
            <a:picLocks noChangeAspect="1"/>
          </p:cNvPicPr>
          <p:nvPr/>
        </p:nvPicPr>
        <p:blipFill>
          <a:blip r:embed="rId3"/>
          <a:stretch>
            <a:fillRect/>
          </a:stretch>
        </p:blipFill>
        <p:spPr>
          <a:xfrm>
            <a:off x="878858" y="1325880"/>
            <a:ext cx="3545805" cy="4983480"/>
          </a:xfrm>
          <a:prstGeom prst="rect">
            <a:avLst/>
          </a:prstGeom>
        </p:spPr>
      </p:pic>
      <p:sp>
        <p:nvSpPr>
          <p:cNvPr id="8" name="A1_bg"/>
          <p:cNvSpPr/>
          <p:nvPr/>
        </p:nvSpPr>
        <p:spPr>
          <a:xfrm>
            <a:off x="5120640" y="1417320"/>
            <a:ext cx="6528816" cy="1078992"/>
          </a:xfrm>
          <a:prstGeom prst="roundRect">
            <a:avLst>
              <a:gd name="adj" fmla="val 6780"/>
            </a:avLst>
          </a:prstGeom>
          <a:solidFill>
            <a:srgbClr val="FFFFFF"/>
          </a:solidFill>
          <a:ln w="12700">
            <a:solidFill>
              <a:srgbClr val="FFFFFF"/>
            </a:solidFill>
            <a:prstDash val="solid"/>
          </a:ln>
        </p:spPr>
      </p:sp>
      <p:sp>
        <p:nvSpPr>
          <p:cNvPr id="9" name="A1_c"/>
          <p:cNvSpPr/>
          <p:nvPr/>
        </p:nvSpPr>
        <p:spPr>
          <a:xfrm>
            <a:off x="5321808" y="1664208"/>
            <a:ext cx="566928" cy="566928"/>
          </a:xfrm>
          <a:prstGeom prst="ellipse">
            <a:avLst/>
          </a:prstGeom>
          <a:solidFill>
            <a:srgbClr val="14284B"/>
          </a:solidFill>
          <a:ln w="12700">
            <a:solidFill>
              <a:srgbClr val="14284B"/>
            </a:solidFill>
            <a:prstDash val="solid"/>
          </a:ln>
        </p:spPr>
      </p:sp>
      <p:pic>
        <p:nvPicPr>
          <p:cNvPr id="10" name="A1_i" descr="preencoded.png"/>
          <p:cNvPicPr>
            <a:picLocks noChangeAspect="1"/>
          </p:cNvPicPr>
          <p:nvPr/>
        </p:nvPicPr>
        <p:blipFill>
          <a:blip r:embed="rId4"/>
          <a:stretch>
            <a:fillRect/>
          </a:stretch>
        </p:blipFill>
        <p:spPr>
          <a:xfrm>
            <a:off x="5469209" y="1811609"/>
            <a:ext cx="272125" cy="272125"/>
          </a:xfrm>
          <a:prstGeom prst="rect">
            <a:avLst/>
          </a:prstGeom>
        </p:spPr>
      </p:pic>
      <p:sp>
        <p:nvSpPr>
          <p:cNvPr id="11" name="A1_t"/>
          <p:cNvSpPr/>
          <p:nvPr/>
        </p:nvSpPr>
        <p:spPr>
          <a:xfrm>
            <a:off x="6080760" y="1472184"/>
            <a:ext cx="5440680" cy="969264"/>
          </a:xfrm>
          <a:prstGeom prst="rect">
            <a:avLst/>
          </a:prstGeom>
          <a:noFill/>
          <a:ln/>
        </p:spPr>
        <p:txBody>
          <a:bodyPr wrap="square" lIns="0" tIns="0" rIns="0" bIns="0" rtlCol="0" anchor="ctr"/>
          <a:lstStyle/>
          <a:p>
            <a:pPr marL="0" indent="0">
              <a:buNone/>
            </a:pPr>
            <a:r>
              <a:rPr lang="en-US" sz="1500" b="1" dirty="0">
                <a:solidFill>
                  <a:srgbClr val="14284B"/>
                </a:solidFill>
                <a:latin typeface="Cambria" pitchFamily="34" charset="0"/>
                <a:ea typeface="Cambria" pitchFamily="34" charset="-122"/>
                <a:cs typeface="Cambria" pitchFamily="34" charset="-120"/>
              </a:rPr>
              <a:t>Một khóa active</a:t>
            </a:r>
            <a:endParaRPr lang="en-US" sz="1500" dirty="0"/>
          </a:p>
          <a:p>
            <a:pPr marL="0" indent="0">
              <a:buNone/>
            </a:pPr>
            <a:r>
              <a:rPr lang="en-US" sz="1550" dirty="0">
                <a:solidFill>
                  <a:srgbClr val="1F2937"/>
                </a:solidFill>
                <a:latin typeface="Calibri" pitchFamily="34" charset="0"/>
                <a:ea typeface="Calibri" pitchFamily="34" charset="-122"/>
                <a:cs typeface="Calibri" pitchFamily="34" charset="-120"/>
              </a:rPr>
              <a:t>Mỗi trường chỉ có một khóa active, ràng buộc bằng chỉ mục duy nhất</a:t>
            </a:r>
            <a:endParaRPr lang="en-US" sz="1500" dirty="0"/>
          </a:p>
        </p:txBody>
      </p:sp>
      <p:sp>
        <p:nvSpPr>
          <p:cNvPr id="12" name="A2_bg"/>
          <p:cNvSpPr/>
          <p:nvPr/>
        </p:nvSpPr>
        <p:spPr>
          <a:xfrm>
            <a:off x="5120640" y="2633472"/>
            <a:ext cx="6528816" cy="1078992"/>
          </a:xfrm>
          <a:prstGeom prst="roundRect">
            <a:avLst>
              <a:gd name="adj" fmla="val 6780"/>
            </a:avLst>
          </a:prstGeom>
          <a:solidFill>
            <a:srgbClr val="FFFFFF"/>
          </a:solidFill>
          <a:ln w="12700">
            <a:solidFill>
              <a:srgbClr val="FFFFFF"/>
            </a:solidFill>
            <a:prstDash val="solid"/>
          </a:ln>
        </p:spPr>
      </p:sp>
      <p:sp>
        <p:nvSpPr>
          <p:cNvPr id="13" name="A2_c"/>
          <p:cNvSpPr/>
          <p:nvPr/>
        </p:nvSpPr>
        <p:spPr>
          <a:xfrm>
            <a:off x="5321808" y="2880360"/>
            <a:ext cx="566928" cy="566928"/>
          </a:xfrm>
          <a:prstGeom prst="ellipse">
            <a:avLst/>
          </a:prstGeom>
          <a:solidFill>
            <a:srgbClr val="14284B"/>
          </a:solidFill>
          <a:ln w="12700">
            <a:solidFill>
              <a:srgbClr val="14284B"/>
            </a:solidFill>
            <a:prstDash val="solid"/>
          </a:ln>
        </p:spPr>
      </p:sp>
      <p:pic>
        <p:nvPicPr>
          <p:cNvPr id="14" name="A2_i" descr="preencoded.png"/>
          <p:cNvPicPr>
            <a:picLocks noChangeAspect="1"/>
          </p:cNvPicPr>
          <p:nvPr/>
        </p:nvPicPr>
        <p:blipFill>
          <a:blip r:embed="rId5"/>
          <a:stretch>
            <a:fillRect/>
          </a:stretch>
        </p:blipFill>
        <p:spPr>
          <a:xfrm>
            <a:off x="5469209" y="3027761"/>
            <a:ext cx="272125" cy="272125"/>
          </a:xfrm>
          <a:prstGeom prst="rect">
            <a:avLst/>
          </a:prstGeom>
        </p:spPr>
      </p:pic>
      <p:sp>
        <p:nvSpPr>
          <p:cNvPr id="15" name="A2_t"/>
          <p:cNvSpPr/>
          <p:nvPr/>
        </p:nvSpPr>
        <p:spPr>
          <a:xfrm>
            <a:off x="6080760" y="2688336"/>
            <a:ext cx="5440680" cy="969264"/>
          </a:xfrm>
          <a:prstGeom prst="rect">
            <a:avLst/>
          </a:prstGeom>
          <a:noFill/>
          <a:ln/>
        </p:spPr>
        <p:txBody>
          <a:bodyPr wrap="square" lIns="0" tIns="0" rIns="0" bIns="0" rtlCol="0" anchor="ctr"/>
          <a:lstStyle/>
          <a:p>
            <a:pPr marL="0" indent="0">
              <a:buNone/>
            </a:pPr>
            <a:r>
              <a:rPr lang="en-US" sz="1500" b="1" dirty="0">
                <a:solidFill>
                  <a:srgbClr val="14284B"/>
                </a:solidFill>
                <a:latin typeface="Cambria" pitchFamily="34" charset="0"/>
                <a:ea typeface="Cambria" pitchFamily="34" charset="-122"/>
                <a:cs typeface="Cambria" pitchFamily="34" charset="-120"/>
              </a:rPr>
              <a:t>Luân chuyển khóa</a:t>
            </a:r>
            <a:endParaRPr lang="en-US" sz="1500" dirty="0"/>
          </a:p>
          <a:p>
            <a:pPr marL="0" indent="0">
              <a:buNone/>
            </a:pPr>
            <a:r>
              <a:rPr lang="en-US" sz="1550" dirty="0">
                <a:solidFill>
                  <a:srgbClr val="1F2937"/>
                </a:solidFill>
                <a:latin typeface="Calibri" pitchFamily="34" charset="0"/>
                <a:ea typeface="Calibri" pitchFamily="34" charset="-122"/>
                <a:cs typeface="Calibri" pitchFamily="34" charset="-120"/>
              </a:rPr>
              <a:t>Kích hoạt khóa mới thì khóa cũ chuyển sang retired, kể cả khác bộ tham số</a:t>
            </a:r>
            <a:endParaRPr lang="en-US" sz="1500" dirty="0"/>
          </a:p>
        </p:txBody>
      </p:sp>
      <p:sp>
        <p:nvSpPr>
          <p:cNvPr id="16" name="A3_bg"/>
          <p:cNvSpPr/>
          <p:nvPr/>
        </p:nvSpPr>
        <p:spPr>
          <a:xfrm>
            <a:off x="5120640" y="3849624"/>
            <a:ext cx="6528816" cy="1078992"/>
          </a:xfrm>
          <a:prstGeom prst="roundRect">
            <a:avLst>
              <a:gd name="adj" fmla="val 6780"/>
            </a:avLst>
          </a:prstGeom>
          <a:solidFill>
            <a:srgbClr val="FFFFFF"/>
          </a:solidFill>
          <a:ln w="12700">
            <a:solidFill>
              <a:srgbClr val="FFFFFF"/>
            </a:solidFill>
            <a:prstDash val="solid"/>
          </a:ln>
        </p:spPr>
      </p:sp>
      <p:sp>
        <p:nvSpPr>
          <p:cNvPr id="17" name="A3_c"/>
          <p:cNvSpPr/>
          <p:nvPr/>
        </p:nvSpPr>
        <p:spPr>
          <a:xfrm>
            <a:off x="5321808" y="4096512"/>
            <a:ext cx="566928" cy="566928"/>
          </a:xfrm>
          <a:prstGeom prst="ellipse">
            <a:avLst/>
          </a:prstGeom>
          <a:solidFill>
            <a:srgbClr val="14284B"/>
          </a:solidFill>
          <a:ln w="12700">
            <a:solidFill>
              <a:srgbClr val="14284B"/>
            </a:solidFill>
            <a:prstDash val="solid"/>
          </a:ln>
        </p:spPr>
      </p:sp>
      <p:pic>
        <p:nvPicPr>
          <p:cNvPr id="18" name="A3_i" descr="preencoded.png"/>
          <p:cNvPicPr>
            <a:picLocks noChangeAspect="1"/>
          </p:cNvPicPr>
          <p:nvPr/>
        </p:nvPicPr>
        <p:blipFill>
          <a:blip r:embed="rId6"/>
          <a:stretch>
            <a:fillRect/>
          </a:stretch>
        </p:blipFill>
        <p:spPr>
          <a:xfrm>
            <a:off x="5469209" y="4243913"/>
            <a:ext cx="272125" cy="272125"/>
          </a:xfrm>
          <a:prstGeom prst="rect">
            <a:avLst/>
          </a:prstGeom>
        </p:spPr>
      </p:pic>
      <p:sp>
        <p:nvSpPr>
          <p:cNvPr id="19" name="A3_t"/>
          <p:cNvSpPr/>
          <p:nvPr/>
        </p:nvSpPr>
        <p:spPr>
          <a:xfrm>
            <a:off x="6080760" y="3904488"/>
            <a:ext cx="5440680" cy="969264"/>
          </a:xfrm>
          <a:prstGeom prst="rect">
            <a:avLst/>
          </a:prstGeom>
          <a:noFill/>
          <a:ln/>
        </p:spPr>
        <p:txBody>
          <a:bodyPr wrap="square" lIns="0" tIns="0" rIns="0" bIns="0" rtlCol="0" anchor="ctr"/>
          <a:lstStyle/>
          <a:p>
            <a:pPr marL="0" indent="0">
              <a:buNone/>
            </a:pPr>
            <a:r>
              <a:rPr lang="en-US" sz="1500" b="1" dirty="0">
                <a:solidFill>
                  <a:srgbClr val="14284B"/>
                </a:solidFill>
                <a:latin typeface="Cambria" pitchFamily="34" charset="0"/>
                <a:ea typeface="Cambria" pitchFamily="34" charset="-122"/>
                <a:cs typeface="Cambria" pitchFamily="34" charset="-120"/>
              </a:rPr>
              <a:t>Hiệu lực tại thời điểm ký</a:t>
            </a:r>
            <a:endParaRPr lang="en-US" sz="1500" dirty="0"/>
          </a:p>
          <a:p>
            <a:pPr marL="0" indent="0">
              <a:buNone/>
            </a:pPr>
            <a:r>
              <a:rPr lang="en-US" sz="1550" dirty="0">
                <a:solidFill>
                  <a:srgbClr val="1F2937"/>
                </a:solidFill>
                <a:latin typeface="Calibri" pitchFamily="34" charset="0"/>
                <a:ea typeface="Calibri" pitchFamily="34" charset="-122"/>
                <a:cs typeface="Calibri" pitchFamily="34" charset="-120"/>
              </a:rPr>
              <a:t>Chữ ký hợp lệ nếu nằm giữa activated_at và retired_at, revoked_at, thời điểm lộ khóa</a:t>
            </a:r>
            <a:endParaRPr lang="en-US" sz="1500" dirty="0"/>
          </a:p>
        </p:txBody>
      </p:sp>
      <p:sp>
        <p:nvSpPr>
          <p:cNvPr id="20" name="A4_bg"/>
          <p:cNvSpPr/>
          <p:nvPr/>
        </p:nvSpPr>
        <p:spPr>
          <a:xfrm>
            <a:off x="5120640" y="5065776"/>
            <a:ext cx="6528816" cy="1078992"/>
          </a:xfrm>
          <a:prstGeom prst="roundRect">
            <a:avLst>
              <a:gd name="adj" fmla="val 6780"/>
            </a:avLst>
          </a:prstGeom>
          <a:solidFill>
            <a:srgbClr val="FFFFFF"/>
          </a:solidFill>
          <a:ln w="12700">
            <a:solidFill>
              <a:srgbClr val="FFFFFF"/>
            </a:solidFill>
            <a:prstDash val="solid"/>
          </a:ln>
        </p:spPr>
      </p:sp>
      <p:sp>
        <p:nvSpPr>
          <p:cNvPr id="21" name="A4_c"/>
          <p:cNvSpPr/>
          <p:nvPr/>
        </p:nvSpPr>
        <p:spPr>
          <a:xfrm>
            <a:off x="5321808" y="5312664"/>
            <a:ext cx="566928" cy="566928"/>
          </a:xfrm>
          <a:prstGeom prst="ellipse">
            <a:avLst/>
          </a:prstGeom>
          <a:solidFill>
            <a:srgbClr val="14284B"/>
          </a:solidFill>
          <a:ln w="12700">
            <a:solidFill>
              <a:srgbClr val="14284B"/>
            </a:solidFill>
            <a:prstDash val="solid"/>
          </a:ln>
        </p:spPr>
      </p:sp>
      <p:pic>
        <p:nvPicPr>
          <p:cNvPr id="22" name="A4_i" descr="preencoded.png"/>
          <p:cNvPicPr>
            <a:picLocks noChangeAspect="1"/>
          </p:cNvPicPr>
          <p:nvPr/>
        </p:nvPicPr>
        <p:blipFill>
          <a:blip r:embed="rId7"/>
          <a:stretch>
            <a:fillRect/>
          </a:stretch>
        </p:blipFill>
        <p:spPr>
          <a:xfrm>
            <a:off x="5469209" y="5460065"/>
            <a:ext cx="272125" cy="272125"/>
          </a:xfrm>
          <a:prstGeom prst="rect">
            <a:avLst/>
          </a:prstGeom>
        </p:spPr>
      </p:pic>
      <p:sp>
        <p:nvSpPr>
          <p:cNvPr id="23" name="A4_t"/>
          <p:cNvSpPr/>
          <p:nvPr/>
        </p:nvSpPr>
        <p:spPr>
          <a:xfrm>
            <a:off x="6080760" y="5120640"/>
            <a:ext cx="5440680" cy="969264"/>
          </a:xfrm>
          <a:prstGeom prst="rect">
            <a:avLst/>
          </a:prstGeom>
          <a:noFill/>
          <a:ln/>
        </p:spPr>
        <p:txBody>
          <a:bodyPr wrap="square" lIns="0" tIns="0" rIns="0" bIns="0" rtlCol="0" anchor="ctr"/>
          <a:lstStyle/>
          <a:p>
            <a:pPr marL="0" indent="0">
              <a:buNone/>
            </a:pPr>
            <a:r>
              <a:rPr lang="en-US" sz="1500" b="1" dirty="0">
                <a:solidFill>
                  <a:srgbClr val="14284B"/>
                </a:solidFill>
                <a:latin typeface="Cambria" pitchFamily="34" charset="0"/>
                <a:ea typeface="Cambria" pitchFamily="34" charset="-122"/>
                <a:cs typeface="Cambria" pitchFamily="34" charset="-120"/>
              </a:rPr>
              <a:t>Không xóa khóa công khai</a:t>
            </a:r>
            <a:endParaRPr lang="en-US" sz="1500" dirty="0"/>
          </a:p>
          <a:p>
            <a:pPr marL="0" indent="0">
              <a:buNone/>
            </a:pPr>
            <a:r>
              <a:rPr lang="en-US" sz="1550" dirty="0">
                <a:solidFill>
                  <a:srgbClr val="1F2937"/>
                </a:solidFill>
                <a:latin typeface="Calibri" pitchFamily="34" charset="0"/>
                <a:ea typeface="Calibri" pitchFamily="34" charset="-122"/>
                <a:cs typeface="Calibri" pitchFamily="34" charset="-120"/>
              </a:rPr>
              <a:t>Văn bằng cũ vẫn xác minh được sau khi luân chuyển hoặc thu hồi</a:t>
            </a:r>
            <a:endParaRPr lang="en-US" sz="15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0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0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0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P spid="19" grpId="0" animBg="1"/>
      <p:bldP spid="2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6EDF5"/>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150" dirty="0">
                <a:solidFill>
                  <a:srgbClr val="0E7C86"/>
                </a:solidFill>
                <a:latin typeface="Calibri" pitchFamily="34" charset="0"/>
                <a:ea typeface="Calibri" pitchFamily="34" charset="-122"/>
                <a:cs typeface="Calibri" pitchFamily="34" charset="-120"/>
              </a:rPr>
              <a:t>PHẦN 4 · KÝ SỐ HẬU LƯỢNG TỬ</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14284B"/>
                </a:solidFill>
                <a:latin typeface="Cambria" pitchFamily="34" charset="0"/>
                <a:ea typeface="Cambria" pitchFamily="34" charset="-122"/>
                <a:cs typeface="Cambria" pitchFamily="34" charset="-120"/>
              </a:rPr>
              <a:t>Neo lô văn bằng lên Hyperledger Fabric</a:t>
            </a:r>
            <a:endParaRPr lang="en-US" sz="28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Đặng Kim Khánh · CT060318 · Hệ thống quản lý bằng số sử dụng ký số hậu lượng tử</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15 / 25</a:t>
            </a:r>
            <a:endParaRPr lang="en-US" sz="1000" dirty="0"/>
          </a:p>
        </p:txBody>
      </p:sp>
      <p:pic>
        <p:nvPicPr>
          <p:cNvPr id="7" name="Image 0" descr="C:\Users\admin\AppData\Local\Temp\claude\c--VBS-PQC\c16daadc-5363-4aed-8ec4-1ba9efe31d52\scratchpad\report\png\merkle.png"/>
          <p:cNvPicPr>
            <a:picLocks noChangeAspect="1"/>
          </p:cNvPicPr>
          <p:nvPr/>
        </p:nvPicPr>
        <p:blipFill>
          <a:blip r:embed="rId3"/>
          <a:stretch>
            <a:fillRect/>
          </a:stretch>
        </p:blipFill>
        <p:spPr>
          <a:xfrm>
            <a:off x="932328" y="1371600"/>
            <a:ext cx="5084783" cy="3566160"/>
          </a:xfrm>
          <a:prstGeom prst="rect">
            <a:avLst/>
          </a:prstGeom>
        </p:spPr>
      </p:pic>
      <p:sp>
        <p:nvSpPr>
          <p:cNvPr id="8" name="Text 4"/>
          <p:cNvSpPr txBox="1"/>
          <p:nvPr/>
        </p:nvSpPr>
        <p:spPr>
          <a:xfrm>
            <a:off x="548640" y="4937760"/>
            <a:ext cx="5852160" cy="274320"/>
          </a:xfrm>
          <a:prstGeom prst="rect">
            <a:avLst/>
          </a:prstGeom>
          <a:noFill/>
          <a:ln/>
        </p:spPr>
        <p:txBody>
          <a:bodyPr wrap="square" lIns="0" tIns="0" rIns="0" bIns="0" rtlCol="0" anchor="ctr"/>
          <a:lstStyle/>
          <a:p>
            <a:pPr marL="0" indent="0" algn="ctr">
              <a:buNone/>
            </a:pPr>
            <a:r>
              <a:rPr lang="en-US" sz="1100" i="1" dirty="0">
                <a:solidFill>
                  <a:srgbClr val="5B6472"/>
                </a:solidFill>
                <a:latin typeface="Calibri" pitchFamily="34" charset="0"/>
                <a:ea typeface="Calibri" pitchFamily="34" charset="-122"/>
                <a:cs typeface="Calibri" pitchFamily="34" charset="-120"/>
              </a:rPr>
              <a:t>Cây Merkle của một lô bốn văn bằng</a:t>
            </a:r>
            <a:endParaRPr lang="en-US" sz="1100" dirty="0"/>
          </a:p>
        </p:txBody>
      </p:sp>
      <p:sp>
        <p:nvSpPr>
          <p:cNvPr id="9" name="A1_bg"/>
          <p:cNvSpPr/>
          <p:nvPr/>
        </p:nvSpPr>
        <p:spPr>
          <a:xfrm>
            <a:off x="6675120" y="1371600"/>
            <a:ext cx="4974336" cy="3840480"/>
          </a:xfrm>
          <a:prstGeom prst="roundRect">
            <a:avLst>
              <a:gd name="adj" fmla="val 1905"/>
            </a:avLst>
          </a:prstGeom>
          <a:solidFill>
            <a:srgbClr val="FFFFFF"/>
          </a:solidFill>
          <a:ln w="12700">
            <a:solidFill>
              <a:srgbClr val="FFFFFF"/>
            </a:solidFill>
            <a:prstDash val="solid"/>
          </a:ln>
        </p:spPr>
      </p:sp>
      <p:sp>
        <p:nvSpPr>
          <p:cNvPr id="10" name="A1_c"/>
          <p:cNvSpPr/>
          <p:nvPr/>
        </p:nvSpPr>
        <p:spPr>
          <a:xfrm>
            <a:off x="6903720" y="1600200"/>
            <a:ext cx="502920" cy="502920"/>
          </a:xfrm>
          <a:prstGeom prst="ellipse">
            <a:avLst/>
          </a:prstGeom>
          <a:solidFill>
            <a:srgbClr val="14284B"/>
          </a:solidFill>
          <a:ln w="12700">
            <a:solidFill>
              <a:srgbClr val="14284B"/>
            </a:solidFill>
            <a:prstDash val="solid"/>
          </a:ln>
        </p:spPr>
      </p:sp>
      <p:pic>
        <p:nvPicPr>
          <p:cNvPr id="11" name="A1_i" descr="preencoded.png"/>
          <p:cNvPicPr>
            <a:picLocks noChangeAspect="1"/>
          </p:cNvPicPr>
          <p:nvPr/>
        </p:nvPicPr>
        <p:blipFill>
          <a:blip r:embed="rId4"/>
          <a:stretch>
            <a:fillRect/>
          </a:stretch>
        </p:blipFill>
        <p:spPr>
          <a:xfrm>
            <a:off x="7034479" y="1730959"/>
            <a:ext cx="241402" cy="241402"/>
          </a:xfrm>
          <a:prstGeom prst="rect">
            <a:avLst/>
          </a:prstGeom>
        </p:spPr>
      </p:pic>
      <p:sp>
        <p:nvSpPr>
          <p:cNvPr id="12" name="A1_h"/>
          <p:cNvSpPr/>
          <p:nvPr/>
        </p:nvSpPr>
        <p:spPr>
          <a:xfrm>
            <a:off x="7543800" y="1600200"/>
            <a:ext cx="3922776" cy="502920"/>
          </a:xfrm>
          <a:prstGeom prst="rect">
            <a:avLst/>
          </a:prstGeom>
          <a:noFill/>
          <a:ln/>
        </p:spPr>
        <p:txBody>
          <a:bodyPr wrap="square" lIns="0" tIns="0" rIns="0" bIns="0" rtlCol="0" anchor="ctr"/>
          <a:lstStyle/>
          <a:p>
            <a:pPr marL="0" indent="0">
              <a:buNone/>
            </a:pPr>
            <a:r>
              <a:rPr lang="en-US" sz="1700" b="1" dirty="0">
                <a:solidFill>
                  <a:srgbClr val="14284B"/>
                </a:solidFill>
                <a:latin typeface="Cambria" pitchFamily="34" charset="0"/>
                <a:ea typeface="Cambria" pitchFamily="34" charset="-122"/>
                <a:cs typeface="Cambria" pitchFamily="34" charset="-120"/>
              </a:rPr>
              <a:t>Merkle tree</a:t>
            </a:r>
            <a:endParaRPr lang="en-US" sz="1700" dirty="0"/>
          </a:p>
        </p:txBody>
      </p:sp>
      <p:sp>
        <p:nvSpPr>
          <p:cNvPr id="13" name="A1_t"/>
          <p:cNvSpPr/>
          <p:nvPr/>
        </p:nvSpPr>
        <p:spPr>
          <a:xfrm>
            <a:off x="6903720" y="2240280"/>
            <a:ext cx="4562856" cy="2834640"/>
          </a:xfrm>
          <a:prstGeom prst="rect">
            <a:avLst/>
          </a:prstGeom>
          <a:noFill/>
          <a:ln/>
        </p:spPr>
        <p:txBody>
          <a:bodyPr wrap="square" lIns="0" tIns="0" rIns="0" bIns="0" rtlCol="0" anchor="t"/>
          <a:lstStyle/>
          <a:p>
            <a:pPr marL="177800" indent="-177800">
              <a:spcAft>
                <a:spcPts val="500"/>
              </a:spcAft>
              <a:buSzPct val="100000"/>
              <a:buChar char="•"/>
            </a:pPr>
            <a:r>
              <a:rPr lang="en-US" sz="1550" dirty="0">
                <a:solidFill>
                  <a:srgbClr val="1F2937"/>
                </a:solidFill>
                <a:latin typeface="Calibri" pitchFamily="34" charset="0"/>
                <a:ea typeface="Calibri" pitchFamily="34" charset="-122"/>
                <a:cs typeface="Calibri" pitchFamily="34" charset="-120"/>
              </a:rPr>
              <a:t>Lá = SHA-256 của anchor payload: mã văn bằng, khóa, manifest_hash, băm chữ ký và PDF</a:t>
            </a:r>
            <a:endParaRPr lang="en-US" sz="1550" dirty="0"/>
          </a:p>
          <a:p>
            <a:pPr marL="177800" indent="-177800">
              <a:spcAft>
                <a:spcPts val="500"/>
              </a:spcAft>
              <a:buSzPct val="100000"/>
              <a:buChar char="•"/>
            </a:pPr>
            <a:r>
              <a:rPr lang="en-US" sz="1550" dirty="0">
                <a:solidFill>
                  <a:srgbClr val="1F2937"/>
                </a:solidFill>
                <a:latin typeface="Calibri" pitchFamily="34" charset="0"/>
                <a:ea typeface="Calibri" pitchFamily="34" charset="-122"/>
                <a:cs typeface="Calibri" pitchFamily="34" charset="-120"/>
              </a:rPr>
              <a:t>Chỉ Merkle root được ghi lên sổ cái</a:t>
            </a:r>
            <a:endParaRPr lang="en-US" sz="1550" dirty="0"/>
          </a:p>
          <a:p>
            <a:pPr marL="177800" indent="-177800">
              <a:spcAft>
                <a:spcPts val="500"/>
              </a:spcAft>
              <a:buSzPct val="100000"/>
              <a:buChar char="•"/>
            </a:pPr>
            <a:r>
              <a:rPr lang="en-US" sz="1550" dirty="0">
                <a:solidFill>
                  <a:srgbClr val="1F2937"/>
                </a:solidFill>
                <a:latin typeface="Calibri" pitchFamily="34" charset="0"/>
                <a:ea typeface="Calibri" pitchFamily="34" charset="-122"/>
                <a:cs typeface="Calibri" pitchFamily="34" charset="-120"/>
              </a:rPr>
              <a:t>Mỗi văn bằng giữ Merkle proof độ dài log2(n)</a:t>
            </a:r>
            <a:endParaRPr lang="en-US" sz="1550" dirty="0"/>
          </a:p>
          <a:p>
            <a:pPr marL="177800" indent="-177800">
              <a:spcAft>
                <a:spcPts val="500"/>
              </a:spcAft>
              <a:buSzPct val="100000"/>
              <a:buChar char="•"/>
            </a:pPr>
            <a:r>
              <a:rPr lang="en-US" sz="1550" dirty="0">
                <a:solidFill>
                  <a:srgbClr val="1F2937"/>
                </a:solidFill>
                <a:latin typeface="Calibri" pitchFamily="34" charset="0"/>
                <a:ea typeface="Calibri" pitchFamily="34" charset="-122"/>
                <a:cs typeface="Calibri" pitchFamily="34" charset="-120"/>
              </a:rPr>
              <a:t>Sổ cái không chứa dữ liệu cá nhân hay tệp PDF</a:t>
            </a:r>
            <a:endParaRPr lang="en-US" sz="1550" dirty="0"/>
          </a:p>
        </p:txBody>
      </p:sp>
      <p:sp>
        <p:nvSpPr>
          <p:cNvPr id="14" name="A2_f0"/>
          <p:cNvSpPr/>
          <p:nvPr/>
        </p:nvSpPr>
        <p:spPr>
          <a:xfrm>
            <a:off x="548640" y="5440680"/>
            <a:ext cx="3602736" cy="777240"/>
          </a:xfrm>
          <a:prstGeom prst="roundRect">
            <a:avLst>
              <a:gd name="adj" fmla="val 9412"/>
            </a:avLst>
          </a:prstGeom>
          <a:solidFill>
            <a:srgbClr val="14284B"/>
          </a:solidFill>
          <a:ln>
            <a:solidFill>
              <a:srgbClr val="14284B"/>
            </a:solidFill>
          </a:ln>
        </p:spPr>
        <p:txBody>
          <a:bodyPr wrap="square" lIns="38100" tIns="38100" rIns="38100" bIns="3810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 tổ chức × 2 peer</a:t>
            </a:r>
            <a:endParaRPr lang="en-US" sz="1500" dirty="0"/>
          </a:p>
          <a:p>
            <a:pPr marL="0" indent="0" algn="ctr">
              <a:buNone/>
            </a:pPr>
            <a:r>
              <a:rPr lang="en-US" sz="1450" dirty="0">
                <a:solidFill>
                  <a:srgbClr val="D6E4F0"/>
                </a:solidFill>
                <a:latin typeface="Calibri" pitchFamily="34" charset="0"/>
                <a:ea typeface="Calibri" pitchFamily="34" charset="-122"/>
                <a:cs typeface="Calibri" pitchFamily="34" charset="-120"/>
              </a:rPr>
              <a:t>KMAUniverMSP, VNUUniverMSP</a:t>
            </a:r>
            <a:endParaRPr lang="en-US" sz="1500" dirty="0"/>
          </a:p>
        </p:txBody>
      </p:sp>
      <p:sp>
        <p:nvSpPr>
          <p:cNvPr id="15" name="A2_f1"/>
          <p:cNvSpPr/>
          <p:nvPr/>
        </p:nvSpPr>
        <p:spPr>
          <a:xfrm>
            <a:off x="4297680" y="5440680"/>
            <a:ext cx="3602736" cy="777240"/>
          </a:xfrm>
          <a:prstGeom prst="roundRect">
            <a:avLst>
              <a:gd name="adj" fmla="val 9412"/>
            </a:avLst>
          </a:prstGeom>
          <a:solidFill>
            <a:srgbClr val="14284B"/>
          </a:solidFill>
          <a:ln>
            <a:solidFill>
              <a:srgbClr val="14284B"/>
            </a:solidFill>
          </a:ln>
        </p:spPr>
        <p:txBody>
          <a:bodyPr wrap="square" lIns="38100" tIns="38100" rIns="38100" bIns="3810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 orderer Raft</a:t>
            </a:r>
            <a:endParaRPr lang="en-US" sz="1500" dirty="0"/>
          </a:p>
          <a:p>
            <a:pPr marL="0" indent="0" algn="ctr">
              <a:buNone/>
            </a:pPr>
            <a:r>
              <a:rPr lang="en-US" sz="1450" dirty="0">
                <a:solidFill>
                  <a:srgbClr val="D6E4F0"/>
                </a:solidFill>
                <a:latin typeface="Calibri" pitchFamily="34" charset="0"/>
                <a:ea typeface="Calibri" pitchFamily="34" charset="-122"/>
                <a:cs typeface="Calibri" pitchFamily="34" charset="-120"/>
              </a:rPr>
              <a:t>MinistryMSP</a:t>
            </a:r>
            <a:endParaRPr lang="en-US" sz="1500" dirty="0"/>
          </a:p>
        </p:txBody>
      </p:sp>
      <p:sp>
        <p:nvSpPr>
          <p:cNvPr id="16" name="A2_f2"/>
          <p:cNvSpPr/>
          <p:nvPr/>
        </p:nvSpPr>
        <p:spPr>
          <a:xfrm>
            <a:off x="8046720" y="5440680"/>
            <a:ext cx="3602736" cy="777240"/>
          </a:xfrm>
          <a:prstGeom prst="roundRect">
            <a:avLst>
              <a:gd name="adj" fmla="val 9412"/>
            </a:avLst>
          </a:prstGeom>
          <a:solidFill>
            <a:srgbClr val="14284B"/>
          </a:solidFill>
          <a:ln>
            <a:solidFill>
              <a:srgbClr val="14284B"/>
            </a:solidFill>
          </a:ln>
        </p:spPr>
        <p:txBody>
          <a:bodyPr wrap="square" lIns="38100" tIns="38100" rIns="38100" bIns="3810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Chaincode CCAAS</a:t>
            </a:r>
            <a:endParaRPr lang="en-US" sz="1500" dirty="0"/>
          </a:p>
          <a:p>
            <a:pPr marL="0" indent="0" algn="ctr">
              <a:buNone/>
            </a:pPr>
            <a:r>
              <a:rPr lang="en-US" sz="1450" dirty="0">
                <a:solidFill>
                  <a:srgbClr val="D6E4F0"/>
                </a:solidFill>
                <a:latin typeface="Calibri" pitchFamily="34" charset="0"/>
                <a:ea typeface="Calibri" pitchFamily="34" charset="-122"/>
                <a:cs typeface="Calibri" pitchFamily="34" charset="-120"/>
              </a:rPr>
              <a:t>Kiểm tra chữ ký ML-DSA, chống ghi đè lô</a:t>
            </a:r>
            <a:endParaRPr lang="en-US" sz="15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6EDF5"/>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150" dirty="0">
                <a:solidFill>
                  <a:srgbClr val="0E7C86"/>
                </a:solidFill>
                <a:latin typeface="Calibri" pitchFamily="34" charset="0"/>
                <a:ea typeface="Calibri" pitchFamily="34" charset="-122"/>
                <a:cs typeface="Calibri" pitchFamily="34" charset="-120"/>
              </a:rPr>
              <a:t>PHẦN 4 · KÝ SỐ HẬU LƯỢNG TỬ</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14284B"/>
                </a:solidFill>
                <a:latin typeface="Cambria" pitchFamily="34" charset="0"/>
                <a:ea typeface="Cambria" pitchFamily="34" charset="-122"/>
                <a:cs typeface="Cambria" pitchFamily="34" charset="-120"/>
              </a:rPr>
              <a:t>Thu hồi theo đợt và ghi thu hồi lên sổ cái</a:t>
            </a:r>
            <a:endParaRPr lang="en-US" sz="28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Đặng Kim Khánh · CT060318 · Hệ thống quản lý bằng số sử dụng ký số hậu lượng tử</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16 / 25</a:t>
            </a:r>
            <a:endParaRPr lang="en-US" sz="1000" dirty="0"/>
          </a:p>
        </p:txBody>
      </p:sp>
      <p:pic>
        <p:nvPicPr>
          <p:cNvPr id="7" name="A1_img" descr="C:\Users\admin\AppData\Local\Temp\claude\c--VBS-PQC\c16daadc-5363-4aed-8ec4-1ba9efe31d52\scratchpad\report\shots2\ui_thu_hoi_dot.png"/>
          <p:cNvPicPr>
            <a:picLocks noChangeAspect="1"/>
          </p:cNvPicPr>
          <p:nvPr/>
        </p:nvPicPr>
        <p:blipFill>
          <a:blip r:embed="rId3"/>
          <a:stretch>
            <a:fillRect/>
          </a:stretch>
        </p:blipFill>
        <p:spPr>
          <a:xfrm>
            <a:off x="687912" y="1325880"/>
            <a:ext cx="3653377" cy="4617720"/>
          </a:xfrm>
          <a:prstGeom prst="rect">
            <a:avLst/>
          </a:prstGeom>
        </p:spPr>
      </p:pic>
      <p:sp>
        <p:nvSpPr>
          <p:cNvPr id="8" name="A1_fr"/>
          <p:cNvSpPr/>
          <p:nvPr/>
        </p:nvSpPr>
        <p:spPr>
          <a:xfrm>
            <a:off x="687912" y="1325880"/>
            <a:ext cx="3653377" cy="4617720"/>
          </a:xfrm>
          <a:prstGeom prst="rect">
            <a:avLst/>
          </a:prstGeom>
          <a:ln w="9525">
            <a:solidFill>
              <a:srgbClr val="CBD6E2"/>
            </a:solidFill>
            <a:prstDash val="solid"/>
          </a:ln>
        </p:spPr>
      </p:sp>
      <p:sp>
        <p:nvSpPr>
          <p:cNvPr id="9" name="Text 5"/>
          <p:cNvSpPr txBox="1"/>
          <p:nvPr/>
        </p:nvSpPr>
        <p:spPr>
          <a:xfrm>
            <a:off x="548640" y="5989320"/>
            <a:ext cx="3931920" cy="274320"/>
          </a:xfrm>
          <a:prstGeom prst="rect">
            <a:avLst/>
          </a:prstGeom>
          <a:noFill/>
          <a:ln/>
        </p:spPr>
        <p:txBody>
          <a:bodyPr wrap="square" lIns="0" tIns="0" rIns="0" bIns="0" rtlCol="0" anchor="ctr"/>
          <a:lstStyle/>
          <a:p>
            <a:pPr marL="0" indent="0" algn="ctr">
              <a:buNone/>
            </a:pPr>
            <a:r>
              <a:rPr lang="en-US" sz="1100" i="1" dirty="0">
                <a:solidFill>
                  <a:srgbClr val="5B6472"/>
                </a:solidFill>
                <a:latin typeface="Calibri" pitchFamily="34" charset="0"/>
                <a:ea typeface="Calibri" pitchFamily="34" charset="-122"/>
                <a:cs typeface="Calibri" pitchFamily="34" charset="-120"/>
              </a:rPr>
              <a:t>Hộp thoại thu hồi văn bằng theo đợt cấp</a:t>
            </a:r>
            <a:endParaRPr lang="en-US" sz="1100" dirty="0"/>
          </a:p>
        </p:txBody>
      </p:sp>
      <p:sp>
        <p:nvSpPr>
          <p:cNvPr id="10" name="A2_bg"/>
          <p:cNvSpPr/>
          <p:nvPr/>
        </p:nvSpPr>
        <p:spPr>
          <a:xfrm>
            <a:off x="4846320" y="1371600"/>
            <a:ext cx="6803136" cy="1024128"/>
          </a:xfrm>
          <a:prstGeom prst="roundRect">
            <a:avLst>
              <a:gd name="adj" fmla="val 7143"/>
            </a:avLst>
          </a:prstGeom>
          <a:solidFill>
            <a:srgbClr val="FFFFFF"/>
          </a:solidFill>
          <a:ln w="12700">
            <a:solidFill>
              <a:srgbClr val="FFFFFF"/>
            </a:solidFill>
            <a:prstDash val="solid"/>
          </a:ln>
        </p:spPr>
      </p:sp>
      <p:sp>
        <p:nvSpPr>
          <p:cNvPr id="11" name="A2_n"/>
          <p:cNvSpPr/>
          <p:nvPr/>
        </p:nvSpPr>
        <p:spPr>
          <a:xfrm>
            <a:off x="5029200" y="1627632"/>
            <a:ext cx="512064" cy="512064"/>
          </a:xfrm>
          <a:prstGeom prst="ellipse">
            <a:avLst/>
          </a:prstGeom>
          <a:solidFill>
            <a:srgbClr val="14284B"/>
          </a:solidFill>
          <a:ln>
            <a:solidFill>
              <a:srgbClr val="14284B"/>
            </a:solid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2" name="A2_t"/>
          <p:cNvSpPr/>
          <p:nvPr/>
        </p:nvSpPr>
        <p:spPr>
          <a:xfrm>
            <a:off x="5760720" y="1426464"/>
            <a:ext cx="5715000" cy="914400"/>
          </a:xfrm>
          <a:prstGeom prst="rect">
            <a:avLst/>
          </a:prstGeom>
          <a:noFill/>
          <a:ln/>
        </p:spPr>
        <p:txBody>
          <a:bodyPr wrap="square" lIns="0" tIns="0" rIns="0" bIns="0" rtlCol="0" anchor="ctr"/>
          <a:lstStyle/>
          <a:p>
            <a:pPr marL="0" indent="0">
              <a:buNone/>
            </a:pPr>
            <a:r>
              <a:rPr lang="en-US" sz="1600" b="1" dirty="0">
                <a:solidFill>
                  <a:srgbClr val="14284B"/>
                </a:solidFill>
                <a:latin typeface="Cambria" pitchFamily="34" charset="0"/>
                <a:ea typeface="Cambria" pitchFamily="34" charset="-122"/>
                <a:cs typeface="Cambria" pitchFamily="34" charset="-120"/>
              </a:rPr>
              <a:t>Thu hồi theo đợt</a:t>
            </a:r>
            <a:endParaRPr lang="en-US" sz="1600" dirty="0"/>
          </a:p>
          <a:p>
            <a:pPr marL="0" indent="0">
              <a:buNone/>
            </a:pPr>
            <a:r>
              <a:rPr lang="en-US" sz="1450" dirty="0">
                <a:solidFill>
                  <a:srgbClr val="1F2937"/>
                </a:solidFill>
                <a:latin typeface="Calibri" pitchFamily="34" charset="0"/>
                <a:ea typeface="Calibri" pitchFamily="34" charset="-122"/>
                <a:cs typeface="Calibri" pitchFamily="34" charset="-120"/>
              </a:rPr>
              <a:t>Chọn một hoặc tất cả chuyên ngành, chọn đợt, nhập lý do và gõ lại tên đợt để xác nhận</a:t>
            </a:r>
            <a:endParaRPr lang="en-US" sz="1600" dirty="0"/>
          </a:p>
        </p:txBody>
      </p:sp>
      <p:sp>
        <p:nvSpPr>
          <p:cNvPr id="13" name="A3_bg"/>
          <p:cNvSpPr/>
          <p:nvPr/>
        </p:nvSpPr>
        <p:spPr>
          <a:xfrm>
            <a:off x="4846320" y="2560320"/>
            <a:ext cx="6803136" cy="1024128"/>
          </a:xfrm>
          <a:prstGeom prst="roundRect">
            <a:avLst>
              <a:gd name="adj" fmla="val 7143"/>
            </a:avLst>
          </a:prstGeom>
          <a:solidFill>
            <a:srgbClr val="FFFFFF"/>
          </a:solidFill>
          <a:ln w="12700">
            <a:solidFill>
              <a:srgbClr val="FFFFFF"/>
            </a:solidFill>
            <a:prstDash val="solid"/>
          </a:ln>
        </p:spPr>
      </p:sp>
      <p:sp>
        <p:nvSpPr>
          <p:cNvPr id="14" name="A3_n"/>
          <p:cNvSpPr/>
          <p:nvPr/>
        </p:nvSpPr>
        <p:spPr>
          <a:xfrm>
            <a:off x="5029200" y="2816352"/>
            <a:ext cx="512064" cy="512064"/>
          </a:xfrm>
          <a:prstGeom prst="ellipse">
            <a:avLst/>
          </a:prstGeom>
          <a:solidFill>
            <a:srgbClr val="14284B"/>
          </a:solidFill>
          <a:ln>
            <a:solidFill>
              <a:srgbClr val="14284B"/>
            </a:solid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5" name="A3_t"/>
          <p:cNvSpPr/>
          <p:nvPr/>
        </p:nvSpPr>
        <p:spPr>
          <a:xfrm>
            <a:off x="5760720" y="2615184"/>
            <a:ext cx="5715000" cy="914400"/>
          </a:xfrm>
          <a:prstGeom prst="rect">
            <a:avLst/>
          </a:prstGeom>
          <a:noFill/>
          <a:ln/>
        </p:spPr>
        <p:txBody>
          <a:bodyPr wrap="square" lIns="0" tIns="0" rIns="0" bIns="0" rtlCol="0" anchor="ctr"/>
          <a:lstStyle/>
          <a:p>
            <a:pPr marL="0" indent="0">
              <a:buNone/>
            </a:pPr>
            <a:r>
              <a:rPr lang="en-US" sz="1600" b="1" dirty="0">
                <a:solidFill>
                  <a:srgbClr val="14284B"/>
                </a:solidFill>
                <a:latin typeface="Cambria" pitchFamily="34" charset="0"/>
                <a:ea typeface="Cambria" pitchFamily="34" charset="-122"/>
                <a:cs typeface="Cambria" pitchFamily="34" charset="-120"/>
              </a:rPr>
              <a:t>Thông báo sinh viên</a:t>
            </a:r>
            <a:endParaRPr lang="en-US" sz="1600" dirty="0"/>
          </a:p>
          <a:p>
            <a:pPr marL="0" indent="0">
              <a:buNone/>
            </a:pPr>
            <a:r>
              <a:rPr lang="en-US" sz="1450" dirty="0">
                <a:solidFill>
                  <a:srgbClr val="1F2937"/>
                </a:solidFill>
                <a:latin typeface="Calibri" pitchFamily="34" charset="0"/>
                <a:ea typeface="Calibri" pitchFamily="34" charset="-122"/>
                <a:cs typeface="Calibri" pitchFamily="34" charset="-120"/>
              </a:rPr>
              <a:t>Email kèm lý do gửi tới từng sinh viên của đợt; mọi thao tác được ghi nhật ký quản trị</a:t>
            </a:r>
            <a:endParaRPr lang="en-US" sz="1600" dirty="0"/>
          </a:p>
        </p:txBody>
      </p:sp>
      <p:sp>
        <p:nvSpPr>
          <p:cNvPr id="16" name="A4_bg"/>
          <p:cNvSpPr/>
          <p:nvPr/>
        </p:nvSpPr>
        <p:spPr>
          <a:xfrm>
            <a:off x="4846320" y="3749040"/>
            <a:ext cx="6803136" cy="1024128"/>
          </a:xfrm>
          <a:prstGeom prst="roundRect">
            <a:avLst>
              <a:gd name="adj" fmla="val 7143"/>
            </a:avLst>
          </a:prstGeom>
          <a:solidFill>
            <a:srgbClr val="FFFFFF"/>
          </a:solidFill>
          <a:ln w="12700">
            <a:solidFill>
              <a:srgbClr val="FFFFFF"/>
            </a:solidFill>
            <a:prstDash val="solid"/>
          </a:ln>
        </p:spPr>
      </p:sp>
      <p:sp>
        <p:nvSpPr>
          <p:cNvPr id="17" name="A4_n"/>
          <p:cNvSpPr/>
          <p:nvPr/>
        </p:nvSpPr>
        <p:spPr>
          <a:xfrm>
            <a:off x="5029200" y="4005072"/>
            <a:ext cx="512064" cy="512064"/>
          </a:xfrm>
          <a:prstGeom prst="ellipse">
            <a:avLst/>
          </a:prstGeom>
          <a:solidFill>
            <a:srgbClr val="14284B"/>
          </a:solidFill>
          <a:ln>
            <a:solidFill>
              <a:srgbClr val="14284B"/>
            </a:solid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A4_t"/>
          <p:cNvSpPr/>
          <p:nvPr/>
        </p:nvSpPr>
        <p:spPr>
          <a:xfrm>
            <a:off x="5760720" y="3803904"/>
            <a:ext cx="5715000" cy="914400"/>
          </a:xfrm>
          <a:prstGeom prst="rect">
            <a:avLst/>
          </a:prstGeom>
          <a:noFill/>
          <a:ln/>
        </p:spPr>
        <p:txBody>
          <a:bodyPr wrap="square" lIns="0" tIns="0" rIns="0" bIns="0" rtlCol="0" anchor="ctr"/>
          <a:lstStyle/>
          <a:p>
            <a:pPr marL="0" indent="0">
              <a:buNone/>
            </a:pPr>
            <a:r>
              <a:rPr lang="en-US" sz="1600" b="1" dirty="0">
                <a:solidFill>
                  <a:srgbClr val="14284B"/>
                </a:solidFill>
                <a:latin typeface="Cambria" pitchFamily="34" charset="0"/>
                <a:ea typeface="Cambria" pitchFamily="34" charset="-122"/>
                <a:cs typeface="Cambria" pitchFamily="34" charset="-120"/>
              </a:rPr>
              <a:t>Ghi thu hồi lên Fabric</a:t>
            </a:r>
            <a:endParaRPr lang="en-US" sz="1600" dirty="0"/>
          </a:p>
          <a:p>
            <a:pPr marL="0" indent="0">
              <a:buNone/>
            </a:pPr>
            <a:r>
              <a:rPr lang="en-US" sz="1450" dirty="0">
                <a:solidFill>
                  <a:srgbClr val="1F2937"/>
                </a:solidFill>
                <a:latin typeface="Calibri" pitchFamily="34" charset="0"/>
                <a:ea typeface="Calibri" pitchFamily="34" charset="-122"/>
                <a:cs typeface="Calibri" pitchFamily="34" charset="-120"/>
              </a:rPr>
              <a:t>Mỗi mục gồm anchor payload, Merkle proof và băm lý do; ký ML-DSA với ngữ cảnh VBS-PQC-FABRIC-REVOKE-V1</a:t>
            </a:r>
            <a:endParaRPr lang="en-US" sz="1600" dirty="0"/>
          </a:p>
        </p:txBody>
      </p:sp>
      <p:sp>
        <p:nvSpPr>
          <p:cNvPr id="19" name="A5_t"/>
          <p:cNvSpPr/>
          <p:nvPr/>
        </p:nvSpPr>
        <p:spPr>
          <a:xfrm>
            <a:off x="4846320" y="4983480"/>
            <a:ext cx="6803136" cy="1005840"/>
          </a:xfrm>
          <a:prstGeom prst="roundRect">
            <a:avLst>
              <a:gd name="adj" fmla="val 7273"/>
            </a:avLst>
          </a:prstGeom>
          <a:solidFill>
            <a:srgbClr val="14284B"/>
          </a:solidFill>
          <a:ln>
            <a:solidFill>
              <a:srgbClr val="14284B"/>
            </a:solidFill>
          </a:ln>
        </p:spPr>
        <p:txBody>
          <a:bodyPr wrap="square" lIns="127000" tIns="127000" rIns="127000" bIns="12700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Chaincode 1.3.0 </a:t>
            </a:r>
            <a:r>
              <a:rPr lang="en-US" sz="1450" dirty="0">
                <a:solidFill>
                  <a:srgbClr val="D6E4F0"/>
                </a:solidFill>
                <a:latin typeface="Calibri" pitchFamily="34" charset="0"/>
                <a:ea typeface="Calibri" pitchFamily="34" charset="-122"/>
                <a:cs typeface="Calibri" pitchFamily="34" charset="-120"/>
              </a:rPr>
              <a:t>chỉ ghi khi Merkle proof dẫn tới root của lô đã neo và chữ ký đúng ngữ cảnh thu hồi; văn bằng đã thu hồi trên sổ cái không thể khôi phục bằng cách sửa cơ sở dữ liệu.</a:t>
            </a:r>
            <a:endParaRPr lang="en-US" sz="145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4" grpId="0" animBg="1"/>
      <p:bldP spid="15" grpId="0" animBg="1"/>
      <p:bldP spid="17" grpId="0" animBg="1"/>
      <p:bldP spid="18" grpId="0" animBg="1"/>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6EDF5"/>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150" dirty="0">
                <a:solidFill>
                  <a:srgbClr val="0E7C86"/>
                </a:solidFill>
                <a:latin typeface="Calibri" pitchFamily="34" charset="0"/>
                <a:ea typeface="Calibri" pitchFamily="34" charset="-122"/>
                <a:cs typeface="Calibri" pitchFamily="34" charset="-120"/>
              </a:rPr>
              <a:t>PHẦN 4 · KÝ SỐ HẬU LƯỢNG TỬ</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14284B"/>
                </a:solidFill>
                <a:latin typeface="Cambria" pitchFamily="34" charset="0"/>
                <a:ea typeface="Cambria" pitchFamily="34" charset="-122"/>
                <a:cs typeface="Cambria" pitchFamily="34" charset="-120"/>
              </a:rPr>
              <a:t>Xác minh nhiều lớp</a:t>
            </a:r>
            <a:endParaRPr lang="en-US" sz="28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Đặng Kim Khánh · CT060318 · Hệ thống quản lý bằng số sử dụng ký số hậu lượng tử</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17 / 25</a:t>
            </a:r>
            <a:endParaRPr lang="en-US" sz="1000" dirty="0"/>
          </a:p>
        </p:txBody>
      </p:sp>
      <p:sp>
        <p:nvSpPr>
          <p:cNvPr id="7" name="A1_bg"/>
          <p:cNvSpPr/>
          <p:nvPr/>
        </p:nvSpPr>
        <p:spPr>
          <a:xfrm>
            <a:off x="548640" y="1463040"/>
            <a:ext cx="3602736" cy="1874520"/>
          </a:xfrm>
          <a:prstGeom prst="roundRect">
            <a:avLst>
              <a:gd name="adj" fmla="val 3902"/>
            </a:avLst>
          </a:prstGeom>
          <a:solidFill>
            <a:srgbClr val="FFFFFF"/>
          </a:solidFill>
          <a:ln w="12700">
            <a:solidFill>
              <a:srgbClr val="FFFFFF"/>
            </a:solidFill>
            <a:prstDash val="solid"/>
          </a:ln>
        </p:spPr>
      </p:sp>
      <p:sp>
        <p:nvSpPr>
          <p:cNvPr id="8" name="A1_c"/>
          <p:cNvSpPr/>
          <p:nvPr/>
        </p:nvSpPr>
        <p:spPr>
          <a:xfrm>
            <a:off x="777240" y="1664208"/>
            <a:ext cx="548640" cy="548640"/>
          </a:xfrm>
          <a:prstGeom prst="ellipse">
            <a:avLst/>
          </a:prstGeom>
          <a:solidFill>
            <a:srgbClr val="14284B"/>
          </a:solidFill>
          <a:ln w="12700">
            <a:solidFill>
              <a:srgbClr val="14284B"/>
            </a:solidFill>
            <a:prstDash val="solid"/>
          </a:ln>
        </p:spPr>
      </p:sp>
      <p:pic>
        <p:nvPicPr>
          <p:cNvPr id="9" name="A1_i" descr="preencoded.png"/>
          <p:cNvPicPr>
            <a:picLocks noChangeAspect="1"/>
          </p:cNvPicPr>
          <p:nvPr/>
        </p:nvPicPr>
        <p:blipFill>
          <a:blip r:embed="rId3"/>
          <a:stretch>
            <a:fillRect/>
          </a:stretch>
        </p:blipFill>
        <p:spPr>
          <a:xfrm>
            <a:off x="919886" y="1806854"/>
            <a:ext cx="263347" cy="263347"/>
          </a:xfrm>
          <a:prstGeom prst="rect">
            <a:avLst/>
          </a:prstGeom>
        </p:spPr>
      </p:pic>
      <p:sp>
        <p:nvSpPr>
          <p:cNvPr id="10" name="A1_h"/>
          <p:cNvSpPr/>
          <p:nvPr/>
        </p:nvSpPr>
        <p:spPr>
          <a:xfrm>
            <a:off x="1417320" y="1664208"/>
            <a:ext cx="2651760" cy="548640"/>
          </a:xfrm>
          <a:prstGeom prst="rect">
            <a:avLst/>
          </a:prstGeom>
          <a:noFill/>
          <a:ln/>
        </p:spPr>
        <p:txBody>
          <a:bodyPr wrap="square" lIns="0" tIns="0" rIns="0" bIns="0" rtlCol="0" anchor="ctr"/>
          <a:lstStyle/>
          <a:p>
            <a:pPr marL="0" indent="0">
              <a:buNone/>
            </a:pPr>
            <a:r>
              <a:rPr lang="en-US" sz="1500" b="1" dirty="0">
                <a:solidFill>
                  <a:srgbClr val="14284B"/>
                </a:solidFill>
                <a:latin typeface="Cambria" pitchFamily="34" charset="0"/>
                <a:ea typeface="Cambria" pitchFamily="34" charset="-122"/>
                <a:cs typeface="Cambria" pitchFamily="34" charset="-120"/>
              </a:rPr>
              <a:t>Lớp 1 · Chữ ký ML-DSA</a:t>
            </a:r>
            <a:endParaRPr lang="en-US" sz="1500" dirty="0"/>
          </a:p>
        </p:txBody>
      </p:sp>
      <p:sp>
        <p:nvSpPr>
          <p:cNvPr id="11" name="A1_t"/>
          <p:cNvSpPr/>
          <p:nvPr/>
        </p:nvSpPr>
        <p:spPr>
          <a:xfrm>
            <a:off x="777240" y="2331720"/>
            <a:ext cx="3200400" cy="914400"/>
          </a:xfrm>
          <a:prstGeom prst="rect">
            <a:avLst/>
          </a:prstGeom>
          <a:noFill/>
          <a:ln/>
        </p:spPr>
        <p:txBody>
          <a:bodyPr wrap="square" lIns="0" tIns="0" rIns="0" bIns="0" rtlCol="0" anchor="t"/>
          <a:lstStyle/>
          <a:p>
            <a:pPr marL="0" indent="0">
              <a:buNone/>
            </a:pPr>
            <a:r>
              <a:rPr lang="en-US" sz="1550" dirty="0">
                <a:solidFill>
                  <a:srgbClr val="1F2937"/>
                </a:solidFill>
                <a:latin typeface="Calibri" pitchFamily="34" charset="0"/>
                <a:ea typeface="Calibri" pitchFamily="34" charset="-122"/>
                <a:cs typeface="Calibri" pitchFamily="34" charset="-120"/>
              </a:rPr>
              <a:t>Dựng lại manifest, xác minh chữ ký, kiểm tra hiệu lực khóa tại thời điểm ký</a:t>
            </a:r>
            <a:endParaRPr lang="en-US" sz="1550" dirty="0"/>
          </a:p>
        </p:txBody>
      </p:sp>
      <p:sp>
        <p:nvSpPr>
          <p:cNvPr id="12" name="A2_bg"/>
          <p:cNvSpPr/>
          <p:nvPr/>
        </p:nvSpPr>
        <p:spPr>
          <a:xfrm>
            <a:off x="4315968" y="1463040"/>
            <a:ext cx="3602736" cy="1874520"/>
          </a:xfrm>
          <a:prstGeom prst="roundRect">
            <a:avLst>
              <a:gd name="adj" fmla="val 3902"/>
            </a:avLst>
          </a:prstGeom>
          <a:solidFill>
            <a:srgbClr val="FFFFFF"/>
          </a:solidFill>
          <a:ln w="12700">
            <a:solidFill>
              <a:srgbClr val="FFFFFF"/>
            </a:solidFill>
            <a:prstDash val="solid"/>
          </a:ln>
        </p:spPr>
      </p:sp>
      <p:sp>
        <p:nvSpPr>
          <p:cNvPr id="13" name="A2_c"/>
          <p:cNvSpPr/>
          <p:nvPr/>
        </p:nvSpPr>
        <p:spPr>
          <a:xfrm>
            <a:off x="4544568" y="1664208"/>
            <a:ext cx="548640" cy="548640"/>
          </a:xfrm>
          <a:prstGeom prst="ellipse">
            <a:avLst/>
          </a:prstGeom>
          <a:solidFill>
            <a:srgbClr val="14284B"/>
          </a:solidFill>
          <a:ln w="12700">
            <a:solidFill>
              <a:srgbClr val="14284B"/>
            </a:solidFill>
            <a:prstDash val="solid"/>
          </a:ln>
        </p:spPr>
      </p:sp>
      <p:pic>
        <p:nvPicPr>
          <p:cNvPr id="14" name="A2_i" descr="preencoded.png"/>
          <p:cNvPicPr>
            <a:picLocks noChangeAspect="1"/>
          </p:cNvPicPr>
          <p:nvPr/>
        </p:nvPicPr>
        <p:blipFill>
          <a:blip r:embed="rId4"/>
          <a:stretch>
            <a:fillRect/>
          </a:stretch>
        </p:blipFill>
        <p:spPr>
          <a:xfrm>
            <a:off x="4687214" y="1806854"/>
            <a:ext cx="263347" cy="263347"/>
          </a:xfrm>
          <a:prstGeom prst="rect">
            <a:avLst/>
          </a:prstGeom>
        </p:spPr>
      </p:pic>
      <p:sp>
        <p:nvSpPr>
          <p:cNvPr id="15" name="A2_h"/>
          <p:cNvSpPr/>
          <p:nvPr/>
        </p:nvSpPr>
        <p:spPr>
          <a:xfrm>
            <a:off x="5184648" y="1664208"/>
            <a:ext cx="2651760" cy="548640"/>
          </a:xfrm>
          <a:prstGeom prst="rect">
            <a:avLst/>
          </a:prstGeom>
          <a:noFill/>
          <a:ln/>
        </p:spPr>
        <p:txBody>
          <a:bodyPr wrap="square" lIns="0" tIns="0" rIns="0" bIns="0" rtlCol="0" anchor="ctr"/>
          <a:lstStyle/>
          <a:p>
            <a:pPr marL="0" indent="0">
              <a:buNone/>
            </a:pPr>
            <a:r>
              <a:rPr lang="en-US" sz="1500" b="1" dirty="0">
                <a:solidFill>
                  <a:srgbClr val="14284B"/>
                </a:solidFill>
                <a:latin typeface="Cambria" pitchFamily="34" charset="0"/>
                <a:ea typeface="Cambria" pitchFamily="34" charset="-122"/>
                <a:cs typeface="Cambria" pitchFamily="34" charset="-120"/>
              </a:rPr>
              <a:t>Lớp 2 · Toàn vẹn PDF</a:t>
            </a:r>
            <a:endParaRPr lang="en-US" sz="1500" dirty="0"/>
          </a:p>
        </p:txBody>
      </p:sp>
      <p:sp>
        <p:nvSpPr>
          <p:cNvPr id="16" name="A2_t"/>
          <p:cNvSpPr/>
          <p:nvPr/>
        </p:nvSpPr>
        <p:spPr>
          <a:xfrm>
            <a:off x="4544568" y="2331720"/>
            <a:ext cx="3200400" cy="914400"/>
          </a:xfrm>
          <a:prstGeom prst="rect">
            <a:avLst/>
          </a:prstGeom>
          <a:noFill/>
          <a:ln/>
        </p:spPr>
        <p:txBody>
          <a:bodyPr wrap="square" lIns="0" tIns="0" rIns="0" bIns="0" rtlCol="0" anchor="t"/>
          <a:lstStyle/>
          <a:p>
            <a:pPr marL="0" indent="0">
              <a:buNone/>
            </a:pPr>
            <a:r>
              <a:rPr lang="en-US" sz="1550" dirty="0">
                <a:solidFill>
                  <a:srgbClr val="1F2937"/>
                </a:solidFill>
                <a:latin typeface="Calibri" pitchFamily="34" charset="0"/>
                <a:ea typeface="Calibri" pitchFamily="34" charset="-122"/>
                <a:cs typeface="Calibri" pitchFamily="34" charset="-120"/>
              </a:rPr>
              <a:t>Đọc PDF từ MinIO, tính lại SHA-256, so với giá trị đã ký</a:t>
            </a:r>
            <a:endParaRPr lang="en-US" sz="1550" dirty="0"/>
          </a:p>
        </p:txBody>
      </p:sp>
      <p:sp>
        <p:nvSpPr>
          <p:cNvPr id="17" name="A3_bg"/>
          <p:cNvSpPr/>
          <p:nvPr/>
        </p:nvSpPr>
        <p:spPr>
          <a:xfrm>
            <a:off x="8083296" y="1463040"/>
            <a:ext cx="3602736" cy="1874520"/>
          </a:xfrm>
          <a:prstGeom prst="roundRect">
            <a:avLst>
              <a:gd name="adj" fmla="val 3902"/>
            </a:avLst>
          </a:prstGeom>
          <a:solidFill>
            <a:srgbClr val="FFFFFF"/>
          </a:solidFill>
          <a:ln w="12700">
            <a:solidFill>
              <a:srgbClr val="FFFFFF"/>
            </a:solidFill>
            <a:prstDash val="solid"/>
          </a:ln>
        </p:spPr>
      </p:sp>
      <p:sp>
        <p:nvSpPr>
          <p:cNvPr id="18" name="A3_c"/>
          <p:cNvSpPr/>
          <p:nvPr/>
        </p:nvSpPr>
        <p:spPr>
          <a:xfrm>
            <a:off x="8311896" y="1664208"/>
            <a:ext cx="548640" cy="548640"/>
          </a:xfrm>
          <a:prstGeom prst="ellipse">
            <a:avLst/>
          </a:prstGeom>
          <a:solidFill>
            <a:srgbClr val="14284B"/>
          </a:solidFill>
          <a:ln w="12700">
            <a:solidFill>
              <a:srgbClr val="14284B"/>
            </a:solidFill>
            <a:prstDash val="solid"/>
          </a:ln>
        </p:spPr>
      </p:sp>
      <p:pic>
        <p:nvPicPr>
          <p:cNvPr id="19" name="A3_i" descr="preencoded.png"/>
          <p:cNvPicPr>
            <a:picLocks noChangeAspect="1"/>
          </p:cNvPicPr>
          <p:nvPr/>
        </p:nvPicPr>
        <p:blipFill>
          <a:blip r:embed="rId5"/>
          <a:stretch>
            <a:fillRect/>
          </a:stretch>
        </p:blipFill>
        <p:spPr>
          <a:xfrm>
            <a:off x="8454542" y="1806854"/>
            <a:ext cx="263347" cy="263347"/>
          </a:xfrm>
          <a:prstGeom prst="rect">
            <a:avLst/>
          </a:prstGeom>
        </p:spPr>
      </p:pic>
      <p:sp>
        <p:nvSpPr>
          <p:cNvPr id="20" name="A3_h"/>
          <p:cNvSpPr/>
          <p:nvPr/>
        </p:nvSpPr>
        <p:spPr>
          <a:xfrm>
            <a:off x="8951976" y="1664208"/>
            <a:ext cx="2651760" cy="548640"/>
          </a:xfrm>
          <a:prstGeom prst="rect">
            <a:avLst/>
          </a:prstGeom>
          <a:noFill/>
          <a:ln/>
        </p:spPr>
        <p:txBody>
          <a:bodyPr wrap="square" lIns="0" tIns="0" rIns="0" bIns="0" rtlCol="0" anchor="ctr"/>
          <a:lstStyle/>
          <a:p>
            <a:pPr marL="0" indent="0">
              <a:buNone/>
            </a:pPr>
            <a:r>
              <a:rPr lang="en-US" sz="1500" b="1" dirty="0">
                <a:solidFill>
                  <a:srgbClr val="14284B"/>
                </a:solidFill>
                <a:latin typeface="Cambria" pitchFamily="34" charset="0"/>
                <a:ea typeface="Cambria" pitchFamily="34" charset="-122"/>
                <a:cs typeface="Cambria" pitchFamily="34" charset="-120"/>
              </a:rPr>
              <a:t>Lớp 3 · Bằng chứng Fabric</a:t>
            </a:r>
            <a:endParaRPr lang="en-US" sz="1500" dirty="0"/>
          </a:p>
        </p:txBody>
      </p:sp>
      <p:sp>
        <p:nvSpPr>
          <p:cNvPr id="21" name="A3_t"/>
          <p:cNvSpPr/>
          <p:nvPr/>
        </p:nvSpPr>
        <p:spPr>
          <a:xfrm>
            <a:off x="8311896" y="2331720"/>
            <a:ext cx="3200400" cy="914400"/>
          </a:xfrm>
          <a:prstGeom prst="rect">
            <a:avLst/>
          </a:prstGeom>
          <a:noFill/>
          <a:ln/>
        </p:spPr>
        <p:txBody>
          <a:bodyPr wrap="square" lIns="0" tIns="0" rIns="0" bIns="0" rtlCol="0" anchor="t"/>
          <a:lstStyle/>
          <a:p>
            <a:pPr marL="0" indent="0">
              <a:buNone/>
            </a:pPr>
            <a:r>
              <a:rPr lang="en-US" sz="1550" dirty="0">
                <a:solidFill>
                  <a:srgbClr val="1F2937"/>
                </a:solidFill>
                <a:latin typeface="Calibri" pitchFamily="34" charset="0"/>
                <a:ea typeface="Calibri" pitchFamily="34" charset="-122"/>
                <a:cs typeface="Calibri" pitchFamily="34" charset="-120"/>
              </a:rPr>
              <a:t>Đọc lô trên sổ cái, kiểm tra chữ ký giao dịch và Merkle proof</a:t>
            </a:r>
            <a:endParaRPr lang="en-US" sz="1550" dirty="0"/>
          </a:p>
        </p:txBody>
      </p:sp>
      <p:graphicFrame>
        <p:nvGraphicFramePr>
          <p:cNvPr id="6" name="A4_tbl"/>
          <p:cNvGraphicFramePr>
            <a:graphicFrameLocks noGrp="1"/>
          </p:cNvGraphicFramePr>
          <p:nvPr>
            <p:extLst>
              <p:ext uri="{D42A27DB-BD31-4B8C-83A1-F6EECF244321}">
                <p14:modId xmlns:p14="http://schemas.microsoft.com/office/powerpoint/2010/main" val="1579011935"/>
              </p:ext>
            </p:extLst>
          </p:nvPr>
        </p:nvGraphicFramePr>
        <p:xfrm>
          <a:off x="548640" y="3611880"/>
          <a:ext cx="11100816" cy="2554224"/>
        </p:xfrm>
        <a:graphic>
          <a:graphicData uri="http://schemas.openxmlformats.org/drawingml/2006/table">
            <a:tbl>
              <a:tblPr/>
              <a:tblGrid>
                <a:gridCol w="21945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5065776">
                  <a:extLst>
                    <a:ext uri="{9D8B030D-6E8A-4147-A177-3AD203B41FA5}">
                      <a16:colId xmlns:a16="http://schemas.microsoft.com/office/drawing/2014/main" val="20002"/>
                    </a:ext>
                  </a:extLst>
                </a:gridCol>
              </a:tblGrid>
              <a:tr h="475488">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Mức đảm bảo</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14284B"/>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Điều kiện</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14284B"/>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Ý nghĩa</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14284B"/>
                    </a:solidFill>
                  </a:tcPr>
                </a:tc>
                <a:extLst>
                  <a:ext uri="{0D108BD9-81ED-4DB2-BD59-A6C34878D82A}">
                    <a16:rowId xmlns:a16="http://schemas.microsoft.com/office/drawing/2014/main" val="10000"/>
                  </a:ext>
                </a:extLst>
              </a:tr>
              <a:tr h="475488">
                <a:tc>
                  <a:txBody>
                    <a:bodyPr/>
                    <a:lstStyle/>
                    <a:p>
                      <a:pPr marL="0" indent="0">
                        <a:buNone/>
                      </a:pPr>
                      <a:r>
                        <a:rPr lang="en-US" sz="1550" b="1" dirty="0">
                          <a:solidFill>
                            <a:srgbClr val="1E6B4A"/>
                          </a:solidFill>
                          <a:latin typeface="Calibri" pitchFamily="34" charset="0"/>
                          <a:ea typeface="Calibri" pitchFamily="34" charset="-122"/>
                          <a:cs typeface="Calibri" pitchFamily="34" charset="-120"/>
                        </a:rPr>
                        <a:t>Hợp lệ đầy đủ</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FFFFFF"/>
                    </a:solidFill>
                  </a:tcPr>
                </a:tc>
                <a:tc>
                  <a:txBody>
                    <a:bodyPr/>
                    <a:lstStyle/>
                    <a:p>
                      <a:pPr marL="0" indent="0">
                        <a:buNone/>
                      </a:pPr>
                      <a:r>
                        <a:rPr lang="en-US" sz="1550" dirty="0">
                          <a:solidFill>
                            <a:srgbClr val="1F2937"/>
                          </a:solidFill>
                          <a:latin typeface="Calibri" pitchFamily="34" charset="0"/>
                          <a:ea typeface="Calibri" pitchFamily="34" charset="-122"/>
                          <a:cs typeface="Calibri" pitchFamily="34" charset="-120"/>
                        </a:rPr>
                        <a:t>Cả ba lớp hợp lệ</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FFFFFF"/>
                    </a:solidFill>
                  </a:tcPr>
                </a:tc>
                <a:tc>
                  <a:txBody>
                    <a:bodyPr/>
                    <a:lstStyle/>
                    <a:p>
                      <a:pPr marL="0" indent="0">
                        <a:buNone/>
                      </a:pPr>
                      <a:r>
                        <a:rPr lang="en-US" sz="1550" dirty="0">
                          <a:solidFill>
                            <a:srgbClr val="1F2937"/>
                          </a:solidFill>
                          <a:latin typeface="Calibri" pitchFamily="34" charset="0"/>
                          <a:ea typeface="Calibri" pitchFamily="34" charset="-122"/>
                          <a:cs typeface="Calibri" pitchFamily="34" charset="-120"/>
                        </a:rPr>
                        <a:t>Văn bằng do trường phát hành, không bị sửa, đã neo trên sổ cái</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550" b="1" dirty="0">
                          <a:solidFill>
                            <a:srgbClr val="0E7C86"/>
                          </a:solidFill>
                          <a:latin typeface="Calibri" pitchFamily="34" charset="0"/>
                          <a:ea typeface="Calibri" pitchFamily="34" charset="-122"/>
                          <a:cs typeface="Calibri" pitchFamily="34" charset="-120"/>
                        </a:rPr>
                        <a:t>Chỉ chữ ký hợp lệ</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FFFFFF"/>
                    </a:solidFill>
                  </a:tcPr>
                </a:tc>
                <a:tc>
                  <a:txBody>
                    <a:bodyPr/>
                    <a:lstStyle/>
                    <a:p>
                      <a:pPr marL="0" indent="0">
                        <a:buNone/>
                      </a:pPr>
                      <a:r>
                        <a:rPr lang="en-US" sz="1550" dirty="0">
                          <a:solidFill>
                            <a:srgbClr val="1F2937"/>
                          </a:solidFill>
                          <a:latin typeface="Calibri" pitchFamily="34" charset="0"/>
                          <a:ea typeface="Calibri" pitchFamily="34" charset="-122"/>
                          <a:cs typeface="Calibri" pitchFamily="34" charset="-120"/>
                        </a:rPr>
                        <a:t>Chữ ký và PDF hợp lệ, chưa ghi Fabric</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FFFFFF"/>
                    </a:solidFill>
                  </a:tcPr>
                </a:tc>
                <a:tc>
                  <a:txBody>
                    <a:bodyPr/>
                    <a:lstStyle/>
                    <a:p>
                      <a:pPr marL="0" indent="0">
                        <a:buNone/>
                      </a:pPr>
                      <a:r>
                        <a:rPr lang="en-US" sz="1550" dirty="0">
                          <a:solidFill>
                            <a:srgbClr val="1F2937"/>
                          </a:solidFill>
                          <a:latin typeface="Calibri" pitchFamily="34" charset="0"/>
                          <a:ea typeface="Calibri" pitchFamily="34" charset="-122"/>
                          <a:cs typeface="Calibri" pitchFamily="34" charset="-120"/>
                        </a:rPr>
                        <a:t>Văn bằng chính danh nhưng chưa có mốc thời gian trên sổ cái</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550" b="1" dirty="0">
                          <a:solidFill>
                            <a:srgbClr val="9B2C2C"/>
                          </a:solidFill>
                          <a:latin typeface="Calibri" pitchFamily="34" charset="0"/>
                          <a:ea typeface="Calibri" pitchFamily="34" charset="-122"/>
                          <a:cs typeface="Calibri" pitchFamily="34" charset="-120"/>
                        </a:rPr>
                        <a:t>Không hợp lệ</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FFFFFF"/>
                    </a:solidFill>
                  </a:tcPr>
                </a:tc>
                <a:tc>
                  <a:txBody>
                    <a:bodyPr/>
                    <a:lstStyle/>
                    <a:p>
                      <a:pPr marL="0" indent="0">
                        <a:buNone/>
                      </a:pPr>
                      <a:r>
                        <a:rPr lang="en-US" sz="1550" dirty="0">
                          <a:solidFill>
                            <a:srgbClr val="1F2937"/>
                          </a:solidFill>
                          <a:latin typeface="Calibri" pitchFamily="34" charset="0"/>
                          <a:ea typeface="Calibri" pitchFamily="34" charset="-122"/>
                          <a:cs typeface="Calibri" pitchFamily="34" charset="-120"/>
                        </a:rPr>
                        <a:t>Một lớp kiểm tra thất bại</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FFFFFF"/>
                    </a:solidFill>
                  </a:tcPr>
                </a:tc>
                <a:tc>
                  <a:txBody>
                    <a:bodyPr/>
                    <a:lstStyle/>
                    <a:p>
                      <a:pPr marL="0" indent="0">
                        <a:buNone/>
                      </a:pPr>
                      <a:r>
                        <a:rPr lang="en-US" sz="1550" dirty="0">
                          <a:solidFill>
                            <a:srgbClr val="1F2937"/>
                          </a:solidFill>
                          <a:latin typeface="Calibri" pitchFamily="34" charset="0"/>
                          <a:ea typeface="Calibri" pitchFamily="34" charset="-122"/>
                          <a:cs typeface="Calibri" pitchFamily="34" charset="-120"/>
                        </a:rPr>
                        <a:t>Không nên chấp nhận văn bằng</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550" b="1" dirty="0">
                          <a:solidFill>
                            <a:srgbClr val="4B5563"/>
                          </a:solidFill>
                          <a:latin typeface="Calibri" pitchFamily="34" charset="0"/>
                          <a:ea typeface="Calibri" pitchFamily="34" charset="-122"/>
                          <a:cs typeface="Calibri" pitchFamily="34" charset="-120"/>
                        </a:rPr>
                        <a:t>Đã thu hồi</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FFFFFF"/>
                    </a:solidFill>
                  </a:tcPr>
                </a:tc>
                <a:tc>
                  <a:txBody>
                    <a:bodyPr/>
                    <a:lstStyle/>
                    <a:p>
                      <a:pPr marL="0" indent="0">
                        <a:buNone/>
                      </a:pPr>
                      <a:r>
                        <a:rPr lang="en-US" sz="1550" dirty="0">
                          <a:solidFill>
                            <a:srgbClr val="1F2937"/>
                          </a:solidFill>
                          <a:latin typeface="Calibri" pitchFamily="34" charset="0"/>
                          <a:ea typeface="Calibri" pitchFamily="34" charset="-122"/>
                          <a:cs typeface="Calibri" pitchFamily="34" charset="-120"/>
                        </a:rPr>
                        <a:t>Thu hồi trong cơ sở dữ liệu hoặc trên sổ cái</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FFFFFF"/>
                    </a:solidFill>
                  </a:tcPr>
                </a:tc>
                <a:tc>
                  <a:txBody>
                    <a:bodyPr/>
                    <a:lstStyle/>
                    <a:p>
                      <a:pPr marL="0" indent="0">
                        <a:buNone/>
                      </a:pPr>
                      <a:r>
                        <a:rPr lang="en-US" sz="1550" dirty="0">
                          <a:solidFill>
                            <a:srgbClr val="1F2937"/>
                          </a:solidFill>
                          <a:latin typeface="Calibri" pitchFamily="34" charset="0"/>
                          <a:ea typeface="Calibri" pitchFamily="34" charset="-122"/>
                          <a:cs typeface="Calibri" pitchFamily="34" charset="-120"/>
                        </a:rPr>
                        <a:t>Văn bằng không còn hiệu lực</a:t>
                      </a:r>
                      <a:endParaRPr lang="en-US" sz="1550" dirty="0">
                        <a:latin typeface="Calibri" charset="0"/>
                        <a:ea typeface="Calibri" charset="0"/>
                        <a:cs typeface="Calibri" charset="0"/>
                      </a:endParaRPr>
                    </a:p>
                  </a:txBody>
                  <a:tcPr anchor="ctr">
                    <a:lnL w="9525" cap="flat" cmpd="sng" algn="ctr">
                      <a:solidFill>
                        <a:srgbClr val="CBD6E2"/>
                      </a:solidFill>
                      <a:prstDash val="solid"/>
                      <a:round/>
                      <a:headEnd type="none" w="med" len="med"/>
                      <a:tailEnd type="none" w="med" len="med"/>
                    </a:lnL>
                    <a:lnR w="9525" cap="flat" cmpd="sng" algn="ctr">
                      <a:solidFill>
                        <a:srgbClr val="CBD6E2"/>
                      </a:solidFill>
                      <a:prstDash val="solid"/>
                      <a:round/>
                      <a:headEnd type="none" w="med" len="med"/>
                      <a:tailEnd type="none" w="med" len="med"/>
                    </a:lnR>
                    <a:lnT w="9525" cap="flat" cmpd="sng" algn="ctr">
                      <a:solidFill>
                        <a:srgbClr val="CBD6E2"/>
                      </a:solidFill>
                      <a:prstDash val="solid"/>
                      <a:round/>
                      <a:headEnd type="none" w="med" len="med"/>
                      <a:tailEnd type="none" w="med" len="med"/>
                    </a:lnT>
                    <a:lnB w="9525" cap="flat" cmpd="sng" algn="ctr">
                      <a:solidFill>
                        <a:srgbClr val="CBD6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6"/>
                                        </p:tgtEl>
                                        <p:attrNameLst>
                                          <p:attrName>style.visibility</p:attrName>
                                        </p:attrNameLst>
                                      </p:cBhvr>
                                      <p:to>
                                        <p:strVal val="visible"/>
                                      </p:to>
                                    </p:set>
                                    <p:animEffect transition="in" filter="fade">
                                      <p:cBhvr>
                                        <p:cTn id="58"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6EDF5"/>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150" dirty="0">
                <a:solidFill>
                  <a:srgbClr val="0E7C86"/>
                </a:solidFill>
                <a:latin typeface="Calibri" pitchFamily="34" charset="0"/>
                <a:ea typeface="Calibri" pitchFamily="34" charset="-122"/>
                <a:cs typeface="Calibri" pitchFamily="34" charset="-120"/>
              </a:rPr>
              <a:t>PHẦN 5 · XÂY DỰNG VÀ THỬ NGHIỆM</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14284B"/>
                </a:solidFill>
                <a:latin typeface="Cambria" pitchFamily="34" charset="0"/>
                <a:ea typeface="Cambria" pitchFamily="34" charset="-122"/>
                <a:cs typeface="Cambria" pitchFamily="34" charset="-120"/>
              </a:rPr>
              <a:t>Triển khai hệ thống</a:t>
            </a:r>
            <a:endParaRPr lang="en-US" sz="28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Đặng Kim Khánh · CT060318 · Hệ thống quản lý bằng số sử dụng ký số hậu lượng tử</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18 / 25</a:t>
            </a:r>
            <a:endParaRPr lang="en-US" sz="1000" dirty="0"/>
          </a:p>
        </p:txBody>
      </p:sp>
      <p:pic>
        <p:nvPicPr>
          <p:cNvPr id="7" name="Image 0" descr="C:\Users\admin\AppData\Local\Temp\claude\c--VBS-PQC\c16daadc-5363-4aed-8ec4-1ba9efe31d52\scratchpad\report\png\trien_khai.png"/>
          <p:cNvPicPr>
            <a:picLocks noChangeAspect="1"/>
          </p:cNvPicPr>
          <p:nvPr/>
        </p:nvPicPr>
        <p:blipFill>
          <a:blip r:embed="rId3"/>
          <a:stretch>
            <a:fillRect/>
          </a:stretch>
        </p:blipFill>
        <p:spPr>
          <a:xfrm>
            <a:off x="548640" y="1520508"/>
            <a:ext cx="7223760" cy="4548503"/>
          </a:xfrm>
          <a:prstGeom prst="rect">
            <a:avLst/>
          </a:prstGeom>
        </p:spPr>
      </p:pic>
      <p:sp>
        <p:nvSpPr>
          <p:cNvPr id="8" name="A1_bg"/>
          <p:cNvSpPr/>
          <p:nvPr/>
        </p:nvSpPr>
        <p:spPr>
          <a:xfrm>
            <a:off x="8046720" y="1463040"/>
            <a:ext cx="3602736" cy="4663440"/>
          </a:xfrm>
          <a:prstGeom prst="roundRect">
            <a:avLst>
              <a:gd name="adj" fmla="val 2030"/>
            </a:avLst>
          </a:prstGeom>
          <a:solidFill>
            <a:srgbClr val="FFFFFF"/>
          </a:solidFill>
          <a:ln w="12700">
            <a:solidFill>
              <a:srgbClr val="FFFFFF"/>
            </a:solidFill>
            <a:prstDash val="solid"/>
          </a:ln>
        </p:spPr>
      </p:sp>
      <p:sp>
        <p:nvSpPr>
          <p:cNvPr id="9" name="A1_c"/>
          <p:cNvSpPr/>
          <p:nvPr/>
        </p:nvSpPr>
        <p:spPr>
          <a:xfrm>
            <a:off x="8275320" y="1691640"/>
            <a:ext cx="502920" cy="502920"/>
          </a:xfrm>
          <a:prstGeom prst="ellipse">
            <a:avLst/>
          </a:prstGeom>
          <a:solidFill>
            <a:srgbClr val="14284B"/>
          </a:solidFill>
          <a:ln w="12700">
            <a:solidFill>
              <a:srgbClr val="14284B"/>
            </a:solidFill>
            <a:prstDash val="solid"/>
          </a:ln>
        </p:spPr>
      </p:sp>
      <p:pic>
        <p:nvPicPr>
          <p:cNvPr id="10" name="A1_i" descr="preencoded.png"/>
          <p:cNvPicPr>
            <a:picLocks noChangeAspect="1"/>
          </p:cNvPicPr>
          <p:nvPr/>
        </p:nvPicPr>
        <p:blipFill>
          <a:blip r:embed="rId4"/>
          <a:stretch>
            <a:fillRect/>
          </a:stretch>
        </p:blipFill>
        <p:spPr>
          <a:xfrm>
            <a:off x="8406079" y="1822399"/>
            <a:ext cx="241402" cy="241402"/>
          </a:xfrm>
          <a:prstGeom prst="rect">
            <a:avLst/>
          </a:prstGeom>
        </p:spPr>
      </p:pic>
      <p:sp>
        <p:nvSpPr>
          <p:cNvPr id="11" name="A1_h"/>
          <p:cNvSpPr/>
          <p:nvPr/>
        </p:nvSpPr>
        <p:spPr>
          <a:xfrm>
            <a:off x="8915400" y="1691640"/>
            <a:ext cx="2551176" cy="502920"/>
          </a:xfrm>
          <a:prstGeom prst="rect">
            <a:avLst/>
          </a:prstGeom>
          <a:noFill/>
          <a:ln/>
        </p:spPr>
        <p:txBody>
          <a:bodyPr wrap="square" lIns="0" tIns="0" rIns="0" bIns="0" rtlCol="0" anchor="ctr"/>
          <a:lstStyle/>
          <a:p>
            <a:pPr marL="0" indent="0">
              <a:buNone/>
            </a:pPr>
            <a:r>
              <a:rPr lang="en-US" sz="1700" b="1" dirty="0">
                <a:solidFill>
                  <a:srgbClr val="14284B"/>
                </a:solidFill>
                <a:latin typeface="Cambria" pitchFamily="34" charset="0"/>
                <a:ea typeface="Cambria" pitchFamily="34" charset="-122"/>
                <a:cs typeface="Cambria" pitchFamily="34" charset="-120"/>
              </a:rPr>
              <a:t>Môi trường thực tế</a:t>
            </a:r>
            <a:endParaRPr lang="en-US" sz="1700" dirty="0"/>
          </a:p>
        </p:txBody>
      </p:sp>
      <p:sp>
        <p:nvSpPr>
          <p:cNvPr id="12" name="A1_t"/>
          <p:cNvSpPr/>
          <p:nvPr/>
        </p:nvSpPr>
        <p:spPr>
          <a:xfrm>
            <a:off x="8275320" y="2331720"/>
            <a:ext cx="3191256" cy="365760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Amazon EC2, Ubuntu 24.04, 2 vCPU, 7,6 GB RAM</a:t>
            </a:r>
            <a:endParaRPr lang="en-US" sz="1500" dirty="0"/>
          </a:p>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nginx HTTPS (Let's Encrypt)</a:t>
            </a:r>
            <a:endParaRPr lang="en-US" sz="1500" dirty="0"/>
          </a:p>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Backend, frontend chạy bằng systemd</a:t>
            </a:r>
            <a:endParaRPr lang="en-US" sz="1500" dirty="0"/>
          </a:p>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MongoDB, MinIO trong Docker Compose, chỉ nghe 127.0.0.1</a:t>
            </a:r>
            <a:endParaRPr lang="en-US" sz="1500" dirty="0"/>
          </a:p>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Fabric 3.1 dựng bằng ChainLaunch</a:t>
            </a:r>
            <a:endParaRPr lang="en-US" sz="1500" dirty="0"/>
          </a:p>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Cài đặt tự động: install-vps.sh, update.sh</a:t>
            </a:r>
            <a:endParaRPr lang="en-US" sz="15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6EDF5"/>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150" dirty="0">
                <a:solidFill>
                  <a:srgbClr val="0E7C86"/>
                </a:solidFill>
                <a:latin typeface="Calibri" pitchFamily="34" charset="0"/>
                <a:ea typeface="Calibri" pitchFamily="34" charset="-122"/>
                <a:cs typeface="Calibri" pitchFamily="34" charset="-120"/>
              </a:rPr>
              <a:t>PHẦN 5 · XÂY DỰNG VÀ THỬ NGHIỆM</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14284B"/>
                </a:solidFill>
                <a:latin typeface="Cambria" pitchFamily="34" charset="0"/>
                <a:ea typeface="Cambria" pitchFamily="34" charset="-122"/>
                <a:cs typeface="Cambria" pitchFamily="34" charset="-120"/>
              </a:rPr>
              <a:t>Giao diện quản trị trường</a:t>
            </a:r>
            <a:endParaRPr lang="en-US" sz="28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Đặng Kim Khánh · CT060318 · Hệ thống quản lý bằng số sử dụng ký số hậu lượng tử</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19 / 25</a:t>
            </a:r>
            <a:endParaRPr lang="en-US" sz="1000" dirty="0"/>
          </a:p>
        </p:txBody>
      </p:sp>
      <p:pic>
        <p:nvPicPr>
          <p:cNvPr id="7" name="A1_img" descr="C:\Users\admin\AppData\Local\Temp\claude\c--VBS-PQC\c16daadc-5363-4aed-8ec4-1ba9efe31d52\scratchpad\report\shots2\ui_truong_khoa_ky.png"/>
          <p:cNvPicPr>
            <a:picLocks noChangeAspect="1"/>
          </p:cNvPicPr>
          <p:nvPr/>
        </p:nvPicPr>
        <p:blipFill>
          <a:blip r:embed="rId3"/>
          <a:stretch>
            <a:fillRect/>
          </a:stretch>
        </p:blipFill>
        <p:spPr>
          <a:xfrm>
            <a:off x="1547244" y="1325880"/>
            <a:ext cx="3434328" cy="2148840"/>
          </a:xfrm>
          <a:prstGeom prst="rect">
            <a:avLst/>
          </a:prstGeom>
        </p:spPr>
      </p:pic>
      <p:sp>
        <p:nvSpPr>
          <p:cNvPr id="8" name="A1_fr"/>
          <p:cNvSpPr/>
          <p:nvPr/>
        </p:nvSpPr>
        <p:spPr>
          <a:xfrm>
            <a:off x="1547244" y="1325880"/>
            <a:ext cx="3434328" cy="2148840"/>
          </a:xfrm>
          <a:prstGeom prst="rect">
            <a:avLst/>
          </a:prstGeom>
          <a:ln w="9525">
            <a:solidFill>
              <a:srgbClr val="CBD6E2"/>
            </a:solidFill>
            <a:prstDash val="solid"/>
          </a:ln>
        </p:spPr>
      </p:sp>
      <p:sp>
        <p:nvSpPr>
          <p:cNvPr id="9" name="A1_cap"/>
          <p:cNvSpPr/>
          <p:nvPr/>
        </p:nvSpPr>
        <p:spPr>
          <a:xfrm>
            <a:off x="548640" y="3502152"/>
            <a:ext cx="5431536" cy="274320"/>
          </a:xfrm>
          <a:prstGeom prst="rect">
            <a:avLst/>
          </a:prstGeom>
          <a:noFill/>
          <a:ln/>
        </p:spPr>
        <p:txBody>
          <a:bodyPr wrap="square" lIns="0" tIns="0" rIns="0" bIns="0" rtlCol="0" anchor="ctr"/>
          <a:lstStyle/>
          <a:p>
            <a:pPr marL="0" indent="0" algn="ctr">
              <a:buNone/>
            </a:pPr>
            <a:r>
              <a:rPr lang="en-US" sz="1200" i="1" dirty="0">
                <a:solidFill>
                  <a:srgbClr val="5B6472"/>
                </a:solidFill>
                <a:latin typeface="Calibri" pitchFamily="34" charset="0"/>
                <a:ea typeface="Calibri" pitchFamily="34" charset="-122"/>
                <a:cs typeface="Calibri" pitchFamily="34" charset="-120"/>
              </a:rPr>
              <a:t>Quản lý khóa ký ML-DSA</a:t>
            </a:r>
            <a:endParaRPr lang="en-US" sz="1200" dirty="0"/>
          </a:p>
        </p:txBody>
      </p:sp>
      <p:pic>
        <p:nvPicPr>
          <p:cNvPr id="10" name="A2_img" descr="C:\Users\admin\AppData\Local\Temp\claude\c--VBS-PQC\c16daadc-5363-4aed-8ec4-1ba9efe31d52\scratchpad\report\shots2\ui_truong_van_bang.png"/>
          <p:cNvPicPr>
            <a:picLocks noChangeAspect="1"/>
          </p:cNvPicPr>
          <p:nvPr/>
        </p:nvPicPr>
        <p:blipFill>
          <a:blip r:embed="rId4"/>
          <a:stretch>
            <a:fillRect/>
          </a:stretch>
        </p:blipFill>
        <p:spPr>
          <a:xfrm>
            <a:off x="7341955" y="1325880"/>
            <a:ext cx="3183467" cy="2148840"/>
          </a:xfrm>
          <a:prstGeom prst="rect">
            <a:avLst/>
          </a:prstGeom>
        </p:spPr>
      </p:pic>
      <p:sp>
        <p:nvSpPr>
          <p:cNvPr id="11" name="A2_fr"/>
          <p:cNvSpPr/>
          <p:nvPr/>
        </p:nvSpPr>
        <p:spPr>
          <a:xfrm>
            <a:off x="7341955" y="1325880"/>
            <a:ext cx="3183467" cy="2148840"/>
          </a:xfrm>
          <a:prstGeom prst="rect">
            <a:avLst/>
          </a:prstGeom>
          <a:ln w="9525">
            <a:solidFill>
              <a:srgbClr val="CBD6E2"/>
            </a:solidFill>
            <a:prstDash val="solid"/>
          </a:ln>
        </p:spPr>
      </p:sp>
      <p:sp>
        <p:nvSpPr>
          <p:cNvPr id="12" name="A2_cap"/>
          <p:cNvSpPr/>
          <p:nvPr/>
        </p:nvSpPr>
        <p:spPr>
          <a:xfrm>
            <a:off x="6217920" y="3502152"/>
            <a:ext cx="5431536" cy="274320"/>
          </a:xfrm>
          <a:prstGeom prst="rect">
            <a:avLst/>
          </a:prstGeom>
          <a:noFill/>
          <a:ln/>
        </p:spPr>
        <p:txBody>
          <a:bodyPr wrap="square" lIns="0" tIns="0" rIns="0" bIns="0" rtlCol="0" anchor="ctr"/>
          <a:lstStyle/>
          <a:p>
            <a:pPr marL="0" indent="0" algn="ctr">
              <a:buNone/>
            </a:pPr>
            <a:r>
              <a:rPr lang="en-US" sz="1200" i="1" dirty="0">
                <a:solidFill>
                  <a:srgbClr val="5B6472"/>
                </a:solidFill>
                <a:latin typeface="Calibri" pitchFamily="34" charset="0"/>
                <a:ea typeface="Calibri" pitchFamily="34" charset="-122"/>
                <a:cs typeface="Calibri" pitchFamily="34" charset="-120"/>
              </a:rPr>
              <a:t>Quản lý văn bằng số</a:t>
            </a:r>
            <a:endParaRPr lang="en-US" sz="1200" dirty="0"/>
          </a:p>
        </p:txBody>
      </p:sp>
      <p:pic>
        <p:nvPicPr>
          <p:cNvPr id="13" name="A3_img" descr="C:\Users\admin\AppData\Local\Temp\claude\c--VBS-PQC\c16daadc-5363-4aed-8ec4-1ba9efe31d52\scratchpad\report\shots2\ui_truong_giao_dien_mau.png"/>
          <p:cNvPicPr>
            <a:picLocks noChangeAspect="1"/>
          </p:cNvPicPr>
          <p:nvPr/>
        </p:nvPicPr>
        <p:blipFill>
          <a:blip r:embed="rId5"/>
          <a:stretch>
            <a:fillRect/>
          </a:stretch>
        </p:blipFill>
        <p:spPr>
          <a:xfrm>
            <a:off x="1814394" y="3886200"/>
            <a:ext cx="2900028" cy="2148840"/>
          </a:xfrm>
          <a:prstGeom prst="rect">
            <a:avLst/>
          </a:prstGeom>
        </p:spPr>
      </p:pic>
      <p:sp>
        <p:nvSpPr>
          <p:cNvPr id="14" name="A3_fr"/>
          <p:cNvSpPr/>
          <p:nvPr/>
        </p:nvSpPr>
        <p:spPr>
          <a:xfrm>
            <a:off x="1814394" y="3886200"/>
            <a:ext cx="2900028" cy="2148840"/>
          </a:xfrm>
          <a:prstGeom prst="rect">
            <a:avLst/>
          </a:prstGeom>
          <a:ln w="9525">
            <a:solidFill>
              <a:srgbClr val="CBD6E2"/>
            </a:solidFill>
            <a:prstDash val="solid"/>
          </a:ln>
        </p:spPr>
      </p:sp>
      <p:sp>
        <p:nvSpPr>
          <p:cNvPr id="15" name="A3_cap"/>
          <p:cNvSpPr/>
          <p:nvPr/>
        </p:nvSpPr>
        <p:spPr>
          <a:xfrm>
            <a:off x="548640" y="6062472"/>
            <a:ext cx="5431536" cy="274320"/>
          </a:xfrm>
          <a:prstGeom prst="rect">
            <a:avLst/>
          </a:prstGeom>
          <a:noFill/>
          <a:ln/>
        </p:spPr>
        <p:txBody>
          <a:bodyPr wrap="square" lIns="0" tIns="0" rIns="0" bIns="0" rtlCol="0" anchor="ctr"/>
          <a:lstStyle/>
          <a:p>
            <a:pPr marL="0" indent="0" algn="ctr">
              <a:buNone/>
            </a:pPr>
            <a:r>
              <a:rPr lang="en-US" sz="1200" i="1" dirty="0">
                <a:solidFill>
                  <a:srgbClr val="5B6472"/>
                </a:solidFill>
                <a:latin typeface="Calibri" pitchFamily="34" charset="0"/>
                <a:ea typeface="Calibri" pitchFamily="34" charset="-122"/>
                <a:cs typeface="Calibri" pitchFamily="34" charset="-120"/>
              </a:rPr>
              <a:t>Giao diện mẫu bằng</a:t>
            </a:r>
            <a:endParaRPr lang="en-US" sz="1200" dirty="0"/>
          </a:p>
        </p:txBody>
      </p:sp>
      <p:pic>
        <p:nvPicPr>
          <p:cNvPr id="16" name="A4_img" descr="C:\Users\admin\AppData\Local\Temp\claude\c--VBS-PQC\c16daadc-5363-4aed-8ec4-1ba9efe31d52\scratchpad\report\logos\fig_pdf_mau.png"/>
          <p:cNvPicPr>
            <a:picLocks noChangeAspect="1"/>
          </p:cNvPicPr>
          <p:nvPr/>
        </p:nvPicPr>
        <p:blipFill>
          <a:blip r:embed="rId6"/>
          <a:stretch>
            <a:fillRect/>
          </a:stretch>
        </p:blipFill>
        <p:spPr>
          <a:xfrm>
            <a:off x="7412479" y="3886200"/>
            <a:ext cx="3042417" cy="2148840"/>
          </a:xfrm>
          <a:prstGeom prst="rect">
            <a:avLst/>
          </a:prstGeom>
        </p:spPr>
      </p:pic>
      <p:sp>
        <p:nvSpPr>
          <p:cNvPr id="17" name="A4_fr"/>
          <p:cNvSpPr/>
          <p:nvPr/>
        </p:nvSpPr>
        <p:spPr>
          <a:xfrm>
            <a:off x="7412479" y="3886200"/>
            <a:ext cx="3042417" cy="2148840"/>
          </a:xfrm>
          <a:prstGeom prst="rect">
            <a:avLst/>
          </a:prstGeom>
          <a:ln w="9525">
            <a:solidFill>
              <a:srgbClr val="CBD6E2"/>
            </a:solidFill>
            <a:prstDash val="solid"/>
          </a:ln>
        </p:spPr>
      </p:sp>
      <p:sp>
        <p:nvSpPr>
          <p:cNvPr id="18" name="A4_cap"/>
          <p:cNvSpPr/>
          <p:nvPr/>
        </p:nvSpPr>
        <p:spPr>
          <a:xfrm>
            <a:off x="6217920" y="6062472"/>
            <a:ext cx="5431536" cy="274320"/>
          </a:xfrm>
          <a:prstGeom prst="rect">
            <a:avLst/>
          </a:prstGeom>
          <a:noFill/>
          <a:ln/>
        </p:spPr>
        <p:txBody>
          <a:bodyPr wrap="square" lIns="0" tIns="0" rIns="0" bIns="0" rtlCol="0" anchor="ctr"/>
          <a:lstStyle/>
          <a:p>
            <a:pPr marL="0" indent="0" algn="ctr">
              <a:buNone/>
            </a:pPr>
            <a:r>
              <a:rPr lang="en-US" sz="1200" i="1" dirty="0">
                <a:solidFill>
                  <a:srgbClr val="5B6472"/>
                </a:solidFill>
                <a:latin typeface="Calibri" pitchFamily="34" charset="0"/>
                <a:ea typeface="Calibri" pitchFamily="34" charset="-122"/>
                <a:cs typeface="Calibri" pitchFamily="34" charset="-120"/>
              </a:rPr>
              <a:t>Văn bằng PDF có dấu ký số</a:t>
            </a:r>
            <a:endParaRPr lang="en-US" sz="12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par>
                                <p:cTn id="30" presetID="10" presetClass="entr" presetSubtype="0" fill="hold"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00"/>
                                        <p:tgtEl>
                                          <p:spTgt spid="16"/>
                                        </p:tgtEl>
                                      </p:cBhvr>
                                    </p:animEffect>
                                  </p:childTnLst>
                                </p:cTn>
                              </p:par>
                              <p:par>
                                <p:cTn id="41" presetID="10"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5" grpId="0" animBg="1"/>
      <p:bldP spid="1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6EDF5"/>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150" dirty="0">
                <a:solidFill>
                  <a:srgbClr val="0E7C86"/>
                </a:solidFill>
                <a:latin typeface="Calibri" pitchFamily="34" charset="0"/>
                <a:ea typeface="Calibri" pitchFamily="34" charset="-122"/>
                <a:cs typeface="Calibri" pitchFamily="34" charset="-120"/>
              </a:rPr>
              <a:t>PHẦN 5 · XÂY DỰNG VÀ THỬ NGHIỆM</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14284B"/>
                </a:solidFill>
                <a:latin typeface="Cambria" pitchFamily="34" charset="0"/>
                <a:ea typeface="Cambria" pitchFamily="34" charset="-122"/>
                <a:cs typeface="Cambria" pitchFamily="34" charset="-120"/>
              </a:rPr>
              <a:t>Giao diện xác minh: web và ứng dụng di động</a:t>
            </a:r>
            <a:endParaRPr lang="en-US" sz="28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Đặng Kim Khánh · CT060318 · Hệ thống quản lý bằng số sử dụng ký số hậu lượng tử</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20 / 25</a:t>
            </a:r>
            <a:endParaRPr lang="en-US" sz="1000" dirty="0"/>
          </a:p>
        </p:txBody>
      </p:sp>
      <p:pic>
        <p:nvPicPr>
          <p:cNvPr id="7" name="A1_img" descr="C:\Users\admin\AppData\Local\Temp\claude\c--VBS-PQC\c16daadc-5363-4aed-8ec4-1ba9efe31d52\scratchpad\report\shots2\ui_xac_minh_ket_qua.png"/>
          <p:cNvPicPr>
            <a:picLocks noChangeAspect="1"/>
          </p:cNvPicPr>
          <p:nvPr/>
        </p:nvPicPr>
        <p:blipFill>
          <a:blip r:embed="rId3"/>
          <a:stretch>
            <a:fillRect/>
          </a:stretch>
        </p:blipFill>
        <p:spPr>
          <a:xfrm>
            <a:off x="548640" y="1451610"/>
            <a:ext cx="6035040" cy="3771900"/>
          </a:xfrm>
          <a:prstGeom prst="rect">
            <a:avLst/>
          </a:prstGeom>
        </p:spPr>
      </p:pic>
      <p:sp>
        <p:nvSpPr>
          <p:cNvPr id="8" name="A1_fr"/>
          <p:cNvSpPr/>
          <p:nvPr/>
        </p:nvSpPr>
        <p:spPr>
          <a:xfrm>
            <a:off x="548640" y="1451610"/>
            <a:ext cx="6035040" cy="3771900"/>
          </a:xfrm>
          <a:prstGeom prst="rect">
            <a:avLst/>
          </a:prstGeom>
          <a:ln w="9525">
            <a:solidFill>
              <a:srgbClr val="CBD6E2"/>
            </a:solidFill>
            <a:prstDash val="solid"/>
          </a:ln>
        </p:spPr>
      </p:sp>
      <p:sp>
        <p:nvSpPr>
          <p:cNvPr id="9" name="Text 5"/>
          <p:cNvSpPr txBox="1"/>
          <p:nvPr/>
        </p:nvSpPr>
        <p:spPr>
          <a:xfrm>
            <a:off x="548640" y="5303520"/>
            <a:ext cx="6035040" cy="274320"/>
          </a:xfrm>
          <a:prstGeom prst="rect">
            <a:avLst/>
          </a:prstGeom>
          <a:noFill/>
          <a:ln/>
        </p:spPr>
        <p:txBody>
          <a:bodyPr wrap="square" lIns="0" tIns="0" rIns="0" bIns="0" rtlCol="0" anchor="ctr"/>
          <a:lstStyle/>
          <a:p>
            <a:pPr marL="0" indent="0" algn="ctr">
              <a:buNone/>
            </a:pPr>
            <a:r>
              <a:rPr lang="en-US" sz="1100" i="1" dirty="0">
                <a:solidFill>
                  <a:srgbClr val="5B6472"/>
                </a:solidFill>
                <a:latin typeface="Calibri" pitchFamily="34" charset="0"/>
                <a:ea typeface="Calibri" pitchFamily="34" charset="-122"/>
                <a:cs typeface="Calibri" pitchFamily="34" charset="-120"/>
              </a:rPr>
              <a:t>Trang xác minh công khai trên web</a:t>
            </a:r>
            <a:endParaRPr lang="en-US" sz="1100" dirty="0"/>
          </a:p>
        </p:txBody>
      </p:sp>
      <p:sp>
        <p:nvSpPr>
          <p:cNvPr id="10" name="A1_t"/>
          <p:cNvSpPr/>
          <p:nvPr/>
        </p:nvSpPr>
        <p:spPr>
          <a:xfrm>
            <a:off x="548640" y="5669280"/>
            <a:ext cx="6035040" cy="640080"/>
          </a:xfrm>
          <a:prstGeom prst="rect">
            <a:avLst/>
          </a:prstGeom>
          <a:noFill/>
          <a:ln/>
        </p:spPr>
        <p:txBody>
          <a:bodyPr wrap="square" lIns="0" tIns="0" rIns="0" bIns="0" rtlCol="0" anchor="t"/>
          <a:lstStyle/>
          <a:p>
            <a:pPr marL="0" indent="0">
              <a:buNone/>
            </a:pPr>
            <a:r>
              <a:rPr lang="en-US" sz="1500" dirty="0">
                <a:solidFill>
                  <a:srgbClr val="1F2937"/>
                </a:solidFill>
                <a:latin typeface="Calibri" pitchFamily="34" charset="0"/>
                <a:ea typeface="Calibri" pitchFamily="34" charset="-122"/>
                <a:cs typeface="Calibri" pitchFamily="34" charset="-120"/>
              </a:rPr>
              <a:t>Web và ứng dụng gọi cùng một API công khai; đối chiếu PDF tính SHA-256 ngay trên thiết bị, tệp không tải lên máy chủ.</a:t>
            </a:r>
            <a:endParaRPr lang="en-US" sz="1500" dirty="0"/>
          </a:p>
        </p:txBody>
      </p:sp>
      <p:pic>
        <p:nvPicPr>
          <p:cNvPr id="11" name="A2_img" descr="C:\Users\admin\AppData\Local\Temp\claude\c--VBS-PQC\c16daadc-5363-4aed-8ec4-1ba9efe31d52\scratchpad\report\shots2\app_trang_chu.png"/>
          <p:cNvPicPr>
            <a:picLocks noChangeAspect="1"/>
          </p:cNvPicPr>
          <p:nvPr/>
        </p:nvPicPr>
        <p:blipFill>
          <a:blip r:embed="rId4"/>
          <a:stretch>
            <a:fillRect/>
          </a:stretch>
        </p:blipFill>
        <p:spPr>
          <a:xfrm>
            <a:off x="6903720" y="1989819"/>
            <a:ext cx="1481328" cy="3289843"/>
          </a:xfrm>
          <a:prstGeom prst="rect">
            <a:avLst/>
          </a:prstGeom>
        </p:spPr>
      </p:pic>
      <p:sp>
        <p:nvSpPr>
          <p:cNvPr id="12" name="A2_fr"/>
          <p:cNvSpPr/>
          <p:nvPr/>
        </p:nvSpPr>
        <p:spPr>
          <a:xfrm>
            <a:off x="6903720" y="1989819"/>
            <a:ext cx="1481328" cy="3289843"/>
          </a:xfrm>
          <a:prstGeom prst="rect">
            <a:avLst/>
          </a:prstGeom>
          <a:ln w="9525">
            <a:solidFill>
              <a:srgbClr val="CBD6E2"/>
            </a:solidFill>
            <a:prstDash val="solid"/>
          </a:ln>
        </p:spPr>
      </p:sp>
      <p:sp>
        <p:nvSpPr>
          <p:cNvPr id="13" name="Text 8"/>
          <p:cNvSpPr txBox="1"/>
          <p:nvPr/>
        </p:nvSpPr>
        <p:spPr>
          <a:xfrm>
            <a:off x="6858000" y="5352813"/>
            <a:ext cx="1572768" cy="274320"/>
          </a:xfrm>
          <a:prstGeom prst="rect">
            <a:avLst/>
          </a:prstGeom>
          <a:noFill/>
          <a:ln/>
        </p:spPr>
        <p:txBody>
          <a:bodyPr wrap="square" lIns="0" tIns="0" rIns="0" bIns="0" rtlCol="0" anchor="ctr"/>
          <a:lstStyle/>
          <a:p>
            <a:pPr marL="0" indent="0" algn="ctr">
              <a:buNone/>
            </a:pPr>
            <a:r>
              <a:rPr lang="en-US" sz="1100" i="1" dirty="0">
                <a:solidFill>
                  <a:srgbClr val="5B6472"/>
                </a:solidFill>
                <a:latin typeface="Calibri" pitchFamily="34" charset="0"/>
                <a:ea typeface="Calibri" pitchFamily="34" charset="-122"/>
                <a:cs typeface="Calibri" pitchFamily="34" charset="-120"/>
              </a:rPr>
              <a:t>Màn hình chính</a:t>
            </a:r>
            <a:endParaRPr lang="en-US" sz="1100" dirty="0"/>
          </a:p>
        </p:txBody>
      </p:sp>
      <p:pic>
        <p:nvPicPr>
          <p:cNvPr id="14" name="A3_img" descr="C:\Users\admin\AppData\Local\Temp\claude\c--VBS-PQC\c16daadc-5363-4aed-8ec4-1ba9efe31d52\scratchpad\report\shots2\app_quet_qr.png"/>
          <p:cNvPicPr>
            <a:picLocks noChangeAspect="1"/>
          </p:cNvPicPr>
          <p:nvPr/>
        </p:nvPicPr>
        <p:blipFill>
          <a:blip r:embed="rId5"/>
          <a:stretch>
            <a:fillRect/>
          </a:stretch>
        </p:blipFill>
        <p:spPr>
          <a:xfrm>
            <a:off x="8503920" y="1989819"/>
            <a:ext cx="1481328" cy="3289843"/>
          </a:xfrm>
          <a:prstGeom prst="rect">
            <a:avLst/>
          </a:prstGeom>
        </p:spPr>
      </p:pic>
      <p:sp>
        <p:nvSpPr>
          <p:cNvPr id="15" name="A3_fr"/>
          <p:cNvSpPr/>
          <p:nvPr/>
        </p:nvSpPr>
        <p:spPr>
          <a:xfrm>
            <a:off x="8503920" y="1989819"/>
            <a:ext cx="1481328" cy="3289843"/>
          </a:xfrm>
          <a:prstGeom prst="rect">
            <a:avLst/>
          </a:prstGeom>
          <a:ln w="9525">
            <a:solidFill>
              <a:srgbClr val="CBD6E2"/>
            </a:solidFill>
            <a:prstDash val="solid"/>
          </a:ln>
        </p:spPr>
      </p:sp>
      <p:sp>
        <p:nvSpPr>
          <p:cNvPr id="16" name="Text 10"/>
          <p:cNvSpPr txBox="1"/>
          <p:nvPr/>
        </p:nvSpPr>
        <p:spPr>
          <a:xfrm>
            <a:off x="8458200" y="5352813"/>
            <a:ext cx="1572768" cy="274320"/>
          </a:xfrm>
          <a:prstGeom prst="rect">
            <a:avLst/>
          </a:prstGeom>
          <a:noFill/>
          <a:ln/>
        </p:spPr>
        <p:txBody>
          <a:bodyPr wrap="square" lIns="0" tIns="0" rIns="0" bIns="0" rtlCol="0" anchor="ctr"/>
          <a:lstStyle/>
          <a:p>
            <a:pPr marL="0" indent="0" algn="ctr">
              <a:buNone/>
            </a:pPr>
            <a:r>
              <a:rPr lang="en-US" sz="1100" i="1" dirty="0">
                <a:solidFill>
                  <a:srgbClr val="5B6472"/>
                </a:solidFill>
                <a:latin typeface="Calibri" pitchFamily="34" charset="0"/>
                <a:ea typeface="Calibri" pitchFamily="34" charset="-122"/>
                <a:cs typeface="Calibri" pitchFamily="34" charset="-120"/>
              </a:rPr>
              <a:t>Quét mã QR</a:t>
            </a:r>
            <a:endParaRPr lang="en-US" sz="1100" dirty="0"/>
          </a:p>
        </p:txBody>
      </p:sp>
      <p:pic>
        <p:nvPicPr>
          <p:cNvPr id="17" name="A4_img" descr="C:\Users\admin\AppData\Local\Temp\claude\c--VBS-PQC\c16daadc-5363-4aed-8ec4-1ba9efe31d52\scratchpad\report\shots2\app_ket_qua.png"/>
          <p:cNvPicPr>
            <a:picLocks noChangeAspect="1"/>
          </p:cNvPicPr>
          <p:nvPr/>
        </p:nvPicPr>
        <p:blipFill>
          <a:blip r:embed="rId6"/>
          <a:stretch>
            <a:fillRect/>
          </a:stretch>
        </p:blipFill>
        <p:spPr>
          <a:xfrm>
            <a:off x="10104120" y="1989819"/>
            <a:ext cx="1481328" cy="3289843"/>
          </a:xfrm>
          <a:prstGeom prst="rect">
            <a:avLst/>
          </a:prstGeom>
        </p:spPr>
      </p:pic>
      <p:sp>
        <p:nvSpPr>
          <p:cNvPr id="18" name="A4_fr"/>
          <p:cNvSpPr/>
          <p:nvPr/>
        </p:nvSpPr>
        <p:spPr>
          <a:xfrm>
            <a:off x="10104120" y="1989819"/>
            <a:ext cx="1481328" cy="3289843"/>
          </a:xfrm>
          <a:prstGeom prst="rect">
            <a:avLst/>
          </a:prstGeom>
          <a:ln w="9525">
            <a:solidFill>
              <a:srgbClr val="CBD6E2"/>
            </a:solidFill>
            <a:prstDash val="solid"/>
          </a:ln>
        </p:spPr>
      </p:sp>
      <p:sp>
        <p:nvSpPr>
          <p:cNvPr id="19" name="Text 12"/>
          <p:cNvSpPr txBox="1"/>
          <p:nvPr/>
        </p:nvSpPr>
        <p:spPr>
          <a:xfrm>
            <a:off x="10058400" y="5352813"/>
            <a:ext cx="1572768" cy="274320"/>
          </a:xfrm>
          <a:prstGeom prst="rect">
            <a:avLst/>
          </a:prstGeom>
          <a:noFill/>
          <a:ln/>
        </p:spPr>
        <p:txBody>
          <a:bodyPr wrap="square" lIns="0" tIns="0" rIns="0" bIns="0" rtlCol="0" anchor="ctr"/>
          <a:lstStyle/>
          <a:p>
            <a:pPr marL="0" indent="0" algn="ctr">
              <a:buNone/>
            </a:pPr>
            <a:r>
              <a:rPr lang="en-US" sz="1100" i="1" dirty="0">
                <a:solidFill>
                  <a:srgbClr val="5B6472"/>
                </a:solidFill>
                <a:latin typeface="Calibri" pitchFamily="34" charset="0"/>
                <a:ea typeface="Calibri" pitchFamily="34" charset="-122"/>
                <a:cs typeface="Calibri" pitchFamily="34" charset="-120"/>
              </a:rPr>
              <a:t>Kết quả xác minh</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00"/>
                                        <p:tgtEl>
                                          <p:spTgt spid="11"/>
                                        </p:tgtEl>
                                      </p:cBhvr>
                                    </p:animEffect>
                                  </p:childTnLst>
                                </p:cTn>
                              </p:par>
                              <p:par>
                                <p:cTn id="19" presetID="10"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400"/>
                                        <p:tgtEl>
                                          <p:spTgt spid="14"/>
                                        </p:tgtEl>
                                      </p:cBhvr>
                                    </p:animEffect>
                                  </p:childTnLst>
                                </p:cTn>
                              </p:par>
                              <p:par>
                                <p:cTn id="27" presetID="10"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00"/>
                                        <p:tgtEl>
                                          <p:spTgt spid="17"/>
                                        </p:tgtEl>
                                      </p:cBhvr>
                                    </p:animEffect>
                                  </p:childTnLst>
                                </p:cTn>
                              </p:par>
                              <p:par>
                                <p:cTn id="35" presetID="10"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6EDF5"/>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150" dirty="0">
                <a:solidFill>
                  <a:srgbClr val="0E7C86"/>
                </a:solidFill>
                <a:latin typeface="Calibri" pitchFamily="34" charset="0"/>
                <a:ea typeface="Calibri" pitchFamily="34" charset="-122"/>
                <a:cs typeface="Calibri" pitchFamily="34" charset="-120"/>
              </a:rPr>
              <a:t>PHẦN 5 · XÂY DỰNG VÀ THỬ NGHIỆM</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14284B"/>
                </a:solidFill>
                <a:latin typeface="Cambria" pitchFamily="34" charset="0"/>
                <a:ea typeface="Cambria" pitchFamily="34" charset="-122"/>
                <a:cs typeface="Cambria" pitchFamily="34" charset="-120"/>
              </a:rPr>
              <a:t>Kết quả kiểm thử</a:t>
            </a:r>
            <a:endParaRPr lang="en-US" sz="28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Đặng Kim Khánh · CT060318 · Hệ thống quản lý bằng số sử dụng ký số hậu lượng tử</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21 / 25</a:t>
            </a:r>
            <a:endParaRPr lang="en-US" sz="1000" dirty="0"/>
          </a:p>
        </p:txBody>
      </p:sp>
      <p:sp>
        <p:nvSpPr>
          <p:cNvPr id="7" name="A1_s0"/>
          <p:cNvSpPr/>
          <p:nvPr/>
        </p:nvSpPr>
        <p:spPr>
          <a:xfrm>
            <a:off x="548640" y="1371600"/>
            <a:ext cx="2651760" cy="1417320"/>
          </a:xfrm>
          <a:prstGeom prst="roundRect">
            <a:avLst>
              <a:gd name="adj" fmla="val 5161"/>
            </a:avLst>
          </a:prstGeom>
          <a:solidFill>
            <a:srgbClr val="FFFFFF"/>
          </a:solidFill>
          <a:ln>
            <a:solidFill>
              <a:srgbClr val="FFFFFF"/>
            </a:solidFill>
          </a:ln>
        </p:spPr>
        <p:txBody>
          <a:bodyPr wrap="square" lIns="0" tIns="0" rIns="0" bIns="0" rtlCol="0" anchor="ctr"/>
          <a:lstStyle/>
          <a:p>
            <a:pPr marL="0" indent="0" algn="ctr">
              <a:buNone/>
            </a:pPr>
            <a:r>
              <a:rPr lang="en-US" sz="4000" b="1" dirty="0">
                <a:solidFill>
                  <a:srgbClr val="14284B"/>
                </a:solidFill>
                <a:latin typeface="Cambria" pitchFamily="34" charset="0"/>
                <a:ea typeface="Cambria" pitchFamily="34" charset="-122"/>
                <a:cs typeface="Cambria" pitchFamily="34" charset="-120"/>
              </a:rPr>
              <a:t>24</a:t>
            </a:r>
            <a:endParaRPr lang="en-US" sz="4000" dirty="0"/>
          </a:p>
          <a:p>
            <a:pPr marL="0" indent="0" algn="ctr">
              <a:buNone/>
            </a:pPr>
            <a:r>
              <a:rPr lang="en-US" sz="1400" dirty="0">
                <a:solidFill>
                  <a:srgbClr val="5B6472"/>
                </a:solidFill>
                <a:latin typeface="Calibri" pitchFamily="34" charset="0"/>
                <a:ea typeface="Calibri" pitchFamily="34" charset="-122"/>
                <a:cs typeface="Calibri" pitchFamily="34" charset="-120"/>
              </a:rPr>
              <a:t>kiểm thử đơn vị</a:t>
            </a:r>
            <a:endParaRPr lang="en-US" sz="4000" dirty="0"/>
          </a:p>
        </p:txBody>
      </p:sp>
      <p:sp>
        <p:nvSpPr>
          <p:cNvPr id="8" name="A1_s1"/>
          <p:cNvSpPr/>
          <p:nvPr/>
        </p:nvSpPr>
        <p:spPr>
          <a:xfrm>
            <a:off x="3364992" y="1371600"/>
            <a:ext cx="2651760" cy="1417320"/>
          </a:xfrm>
          <a:prstGeom prst="roundRect">
            <a:avLst>
              <a:gd name="adj" fmla="val 5161"/>
            </a:avLst>
          </a:prstGeom>
          <a:solidFill>
            <a:srgbClr val="FFFFFF"/>
          </a:solidFill>
          <a:ln>
            <a:solidFill>
              <a:srgbClr val="FFFFFF"/>
            </a:solidFill>
          </a:ln>
        </p:spPr>
        <p:txBody>
          <a:bodyPr wrap="square" lIns="0" tIns="0" rIns="0" bIns="0" rtlCol="0" anchor="ctr"/>
          <a:lstStyle/>
          <a:p>
            <a:pPr marL="0" indent="0" algn="ctr">
              <a:buNone/>
            </a:pPr>
            <a:r>
              <a:rPr lang="en-US" sz="4000" b="1" dirty="0">
                <a:solidFill>
                  <a:srgbClr val="14284B"/>
                </a:solidFill>
                <a:latin typeface="Cambria" pitchFamily="34" charset="0"/>
                <a:ea typeface="Cambria" pitchFamily="34" charset="-122"/>
                <a:cs typeface="Cambria" pitchFamily="34" charset="-120"/>
              </a:rPr>
              <a:t>19</a:t>
            </a:r>
            <a:endParaRPr lang="en-US" sz="4000" dirty="0"/>
          </a:p>
          <a:p>
            <a:pPr marL="0" indent="0" algn="ctr">
              <a:buNone/>
            </a:pPr>
            <a:r>
              <a:rPr lang="en-US" sz="1400" dirty="0">
                <a:solidFill>
                  <a:srgbClr val="5B6472"/>
                </a:solidFill>
                <a:latin typeface="Calibri" pitchFamily="34" charset="0"/>
                <a:ea typeface="Calibri" pitchFamily="34" charset="-122"/>
                <a:cs typeface="Calibri" pitchFamily="34" charset="-120"/>
              </a:rPr>
              <a:t>kịch bản tích hợp API</a:t>
            </a:r>
            <a:endParaRPr lang="en-US" sz="4000" dirty="0"/>
          </a:p>
        </p:txBody>
      </p:sp>
      <p:sp>
        <p:nvSpPr>
          <p:cNvPr id="9" name="A1_s2"/>
          <p:cNvSpPr/>
          <p:nvPr/>
        </p:nvSpPr>
        <p:spPr>
          <a:xfrm>
            <a:off x="6181344" y="1371600"/>
            <a:ext cx="2651760" cy="1417320"/>
          </a:xfrm>
          <a:prstGeom prst="roundRect">
            <a:avLst>
              <a:gd name="adj" fmla="val 5161"/>
            </a:avLst>
          </a:prstGeom>
          <a:solidFill>
            <a:srgbClr val="FFFFFF"/>
          </a:solidFill>
          <a:ln>
            <a:solidFill>
              <a:srgbClr val="FFFFFF"/>
            </a:solidFill>
          </a:ln>
        </p:spPr>
        <p:txBody>
          <a:bodyPr wrap="square" lIns="0" tIns="0" rIns="0" bIns="0" rtlCol="0" anchor="ctr"/>
          <a:lstStyle/>
          <a:p>
            <a:pPr marL="0" indent="0" algn="ctr">
              <a:buNone/>
            </a:pPr>
            <a:r>
              <a:rPr lang="en-US" sz="4000" b="1" dirty="0">
                <a:solidFill>
                  <a:srgbClr val="14284B"/>
                </a:solidFill>
                <a:latin typeface="Cambria" pitchFamily="34" charset="0"/>
                <a:ea typeface="Cambria" pitchFamily="34" charset="-122"/>
                <a:cs typeface="Cambria" pitchFamily="34" charset="-120"/>
              </a:rPr>
              <a:t>22</a:t>
            </a:r>
            <a:endParaRPr lang="en-US" sz="4000" dirty="0"/>
          </a:p>
          <a:p>
            <a:pPr marL="0" indent="0" algn="ctr">
              <a:buNone/>
            </a:pPr>
            <a:r>
              <a:rPr lang="en-US" sz="1400" dirty="0">
                <a:solidFill>
                  <a:srgbClr val="5B6472"/>
                </a:solidFill>
                <a:latin typeface="Calibri" pitchFamily="34" charset="0"/>
                <a:ea typeface="Calibri" pitchFamily="34" charset="-122"/>
                <a:cs typeface="Calibri" pitchFamily="34" charset="-120"/>
              </a:rPr>
              <a:t>kiểm thử con tích hợp</a:t>
            </a:r>
            <a:endParaRPr lang="en-US" sz="4000" dirty="0"/>
          </a:p>
        </p:txBody>
      </p:sp>
      <p:sp>
        <p:nvSpPr>
          <p:cNvPr id="10" name="A1_s3"/>
          <p:cNvSpPr/>
          <p:nvPr/>
        </p:nvSpPr>
        <p:spPr>
          <a:xfrm>
            <a:off x="8997696" y="1371600"/>
            <a:ext cx="2651760" cy="1417320"/>
          </a:xfrm>
          <a:prstGeom prst="roundRect">
            <a:avLst>
              <a:gd name="adj" fmla="val 5161"/>
            </a:avLst>
          </a:prstGeom>
          <a:solidFill>
            <a:srgbClr val="FFFFFF"/>
          </a:solidFill>
          <a:ln>
            <a:solidFill>
              <a:srgbClr val="FFFFFF"/>
            </a:solidFill>
          </a:ln>
        </p:spPr>
        <p:txBody>
          <a:bodyPr wrap="square" lIns="0" tIns="0" rIns="0" bIns="0" rtlCol="0" anchor="ctr"/>
          <a:lstStyle/>
          <a:p>
            <a:pPr marL="0" indent="0" algn="ctr">
              <a:buNone/>
            </a:pPr>
            <a:r>
              <a:rPr lang="en-US" sz="4000" b="1" dirty="0">
                <a:solidFill>
                  <a:srgbClr val="0E7C86"/>
                </a:solidFill>
                <a:latin typeface="Cambria" pitchFamily="34" charset="0"/>
                <a:ea typeface="Cambria" pitchFamily="34" charset="-122"/>
                <a:cs typeface="Cambria" pitchFamily="34" charset="-120"/>
              </a:rPr>
              <a:t>100%</a:t>
            </a:r>
            <a:endParaRPr lang="en-US" sz="4000" dirty="0"/>
          </a:p>
          <a:p>
            <a:pPr marL="0" indent="0" algn="ctr">
              <a:buNone/>
            </a:pPr>
            <a:r>
              <a:rPr lang="en-US" sz="1400" dirty="0">
                <a:solidFill>
                  <a:srgbClr val="5B6472"/>
                </a:solidFill>
                <a:latin typeface="Calibri" pitchFamily="34" charset="0"/>
                <a:ea typeface="Calibri" pitchFamily="34" charset="-122"/>
                <a:cs typeface="Calibri" pitchFamily="34" charset="-120"/>
              </a:rPr>
              <a:t>đạt</a:t>
            </a:r>
            <a:endParaRPr lang="en-US" sz="4000" dirty="0"/>
          </a:p>
        </p:txBody>
      </p:sp>
      <p:sp>
        <p:nvSpPr>
          <p:cNvPr id="11" name="A2_bg0"/>
          <p:cNvSpPr/>
          <p:nvPr/>
        </p:nvSpPr>
        <p:spPr>
          <a:xfrm>
            <a:off x="548640" y="3063240"/>
            <a:ext cx="5440680" cy="868680"/>
          </a:xfrm>
          <a:prstGeom prst="roundRect">
            <a:avLst>
              <a:gd name="adj" fmla="val 8421"/>
            </a:avLst>
          </a:prstGeom>
          <a:solidFill>
            <a:srgbClr val="FFFFFF"/>
          </a:solidFill>
          <a:ln w="12700">
            <a:solidFill>
              <a:srgbClr val="CBD6E2"/>
            </a:solidFill>
            <a:prstDash val="solid"/>
          </a:ln>
        </p:spPr>
      </p:sp>
      <p:pic>
        <p:nvPicPr>
          <p:cNvPr id="12" name="A2_i0" descr="preencoded.png"/>
          <p:cNvPicPr>
            <a:picLocks noChangeAspect="1"/>
          </p:cNvPicPr>
          <p:nvPr/>
        </p:nvPicPr>
        <p:blipFill>
          <a:blip r:embed="rId3"/>
          <a:stretch>
            <a:fillRect/>
          </a:stretch>
        </p:blipFill>
        <p:spPr>
          <a:xfrm>
            <a:off x="777240" y="3310128"/>
            <a:ext cx="384048" cy="384048"/>
          </a:xfrm>
          <a:prstGeom prst="rect">
            <a:avLst/>
          </a:prstGeom>
        </p:spPr>
      </p:pic>
      <p:sp>
        <p:nvSpPr>
          <p:cNvPr id="13" name="A2_t0"/>
          <p:cNvSpPr/>
          <p:nvPr/>
        </p:nvSpPr>
        <p:spPr>
          <a:xfrm>
            <a:off x="1325880" y="3108960"/>
            <a:ext cx="4526280" cy="777240"/>
          </a:xfrm>
          <a:prstGeom prst="rect">
            <a:avLst/>
          </a:prstGeom>
          <a:noFill/>
          <a:ln/>
        </p:spPr>
        <p:txBody>
          <a:bodyPr wrap="square" lIns="0" tIns="0" rIns="0" bIns="0" rtlCol="0" anchor="ctr"/>
          <a:lstStyle/>
          <a:p>
            <a:pPr marL="0" indent="0">
              <a:buNone/>
            </a:pPr>
            <a:r>
              <a:rPr lang="en-US" sz="1550" dirty="0">
                <a:solidFill>
                  <a:srgbClr val="1F2937"/>
                </a:solidFill>
                <a:latin typeface="Calibri" pitchFamily="34" charset="0"/>
                <a:ea typeface="Calibri" pitchFamily="34" charset="-122"/>
                <a:cs typeface="Calibri" pitchFamily="34" charset="-120"/>
              </a:rPr>
              <a:t>Manifest tất định; chữ ký ràng buộc đúng tệp PDF</a:t>
            </a:r>
            <a:endParaRPr lang="en-US" sz="1550" dirty="0"/>
          </a:p>
        </p:txBody>
      </p:sp>
      <p:sp>
        <p:nvSpPr>
          <p:cNvPr id="14" name="A2_bg1"/>
          <p:cNvSpPr/>
          <p:nvPr/>
        </p:nvSpPr>
        <p:spPr>
          <a:xfrm>
            <a:off x="6172200" y="3063240"/>
            <a:ext cx="5440680" cy="868680"/>
          </a:xfrm>
          <a:prstGeom prst="roundRect">
            <a:avLst>
              <a:gd name="adj" fmla="val 8421"/>
            </a:avLst>
          </a:prstGeom>
          <a:solidFill>
            <a:srgbClr val="FFFFFF"/>
          </a:solidFill>
          <a:ln w="12700">
            <a:solidFill>
              <a:srgbClr val="CBD6E2"/>
            </a:solidFill>
            <a:prstDash val="solid"/>
          </a:ln>
        </p:spPr>
      </p:sp>
      <p:pic>
        <p:nvPicPr>
          <p:cNvPr id="15" name="A2_i1" descr="preencoded.png"/>
          <p:cNvPicPr>
            <a:picLocks noChangeAspect="1"/>
          </p:cNvPicPr>
          <p:nvPr/>
        </p:nvPicPr>
        <p:blipFill>
          <a:blip r:embed="rId3"/>
          <a:stretch>
            <a:fillRect/>
          </a:stretch>
        </p:blipFill>
        <p:spPr>
          <a:xfrm>
            <a:off x="6400800" y="3310128"/>
            <a:ext cx="384048" cy="384048"/>
          </a:xfrm>
          <a:prstGeom prst="rect">
            <a:avLst/>
          </a:prstGeom>
        </p:spPr>
      </p:pic>
      <p:sp>
        <p:nvSpPr>
          <p:cNvPr id="16" name="A2_t1"/>
          <p:cNvSpPr/>
          <p:nvPr/>
        </p:nvSpPr>
        <p:spPr>
          <a:xfrm>
            <a:off x="6949440" y="3108960"/>
            <a:ext cx="4526280" cy="777240"/>
          </a:xfrm>
          <a:prstGeom prst="rect">
            <a:avLst/>
          </a:prstGeom>
          <a:noFill/>
          <a:ln/>
        </p:spPr>
        <p:txBody>
          <a:bodyPr wrap="square" lIns="0" tIns="0" rIns="0" bIns="0" rtlCol="0" anchor="ctr"/>
          <a:lstStyle/>
          <a:p>
            <a:pPr marL="0" indent="0">
              <a:buNone/>
            </a:pPr>
            <a:r>
              <a:rPr lang="en-US" sz="1550" dirty="0">
                <a:solidFill>
                  <a:srgbClr val="1F2937"/>
                </a:solidFill>
                <a:latin typeface="Calibri" pitchFamily="34" charset="0"/>
                <a:ea typeface="Calibri" pitchFamily="34" charset="-122"/>
                <a:cs typeface="Calibri" pitchFamily="34" charset="-120"/>
              </a:rPr>
              <a:t>Khóa bí mật mã hóa AES-256-GCM; chữ ký sai thông điệp bị từ chối</a:t>
            </a:r>
            <a:endParaRPr lang="en-US" sz="1550" dirty="0"/>
          </a:p>
        </p:txBody>
      </p:sp>
      <p:sp>
        <p:nvSpPr>
          <p:cNvPr id="17" name="A3_bg0"/>
          <p:cNvSpPr/>
          <p:nvPr/>
        </p:nvSpPr>
        <p:spPr>
          <a:xfrm>
            <a:off x="548640" y="4087368"/>
            <a:ext cx="5440680" cy="868680"/>
          </a:xfrm>
          <a:prstGeom prst="roundRect">
            <a:avLst>
              <a:gd name="adj" fmla="val 8421"/>
            </a:avLst>
          </a:prstGeom>
          <a:solidFill>
            <a:srgbClr val="FFFFFF"/>
          </a:solidFill>
          <a:ln w="12700">
            <a:solidFill>
              <a:srgbClr val="CBD6E2"/>
            </a:solidFill>
            <a:prstDash val="solid"/>
          </a:ln>
        </p:spPr>
      </p:sp>
      <p:pic>
        <p:nvPicPr>
          <p:cNvPr id="18" name="A3_i0" descr="preencoded.png"/>
          <p:cNvPicPr>
            <a:picLocks noChangeAspect="1"/>
          </p:cNvPicPr>
          <p:nvPr/>
        </p:nvPicPr>
        <p:blipFill>
          <a:blip r:embed="rId3"/>
          <a:stretch>
            <a:fillRect/>
          </a:stretch>
        </p:blipFill>
        <p:spPr>
          <a:xfrm>
            <a:off x="777240" y="4334256"/>
            <a:ext cx="384048" cy="384048"/>
          </a:xfrm>
          <a:prstGeom prst="rect">
            <a:avLst/>
          </a:prstGeom>
        </p:spPr>
      </p:pic>
      <p:sp>
        <p:nvSpPr>
          <p:cNvPr id="19" name="A3_t0"/>
          <p:cNvSpPr/>
          <p:nvPr/>
        </p:nvSpPr>
        <p:spPr>
          <a:xfrm>
            <a:off x="1325880" y="4133088"/>
            <a:ext cx="4526280" cy="777240"/>
          </a:xfrm>
          <a:prstGeom prst="rect">
            <a:avLst/>
          </a:prstGeom>
          <a:noFill/>
          <a:ln/>
        </p:spPr>
        <p:txBody>
          <a:bodyPr wrap="square" lIns="0" tIns="0" rIns="0" bIns="0" rtlCol="0" anchor="ctr"/>
          <a:lstStyle/>
          <a:p>
            <a:pPr marL="0" indent="0">
              <a:buNone/>
            </a:pPr>
            <a:r>
              <a:rPr lang="en-US" sz="1550" dirty="0">
                <a:solidFill>
                  <a:srgbClr val="1F2937"/>
                </a:solidFill>
                <a:latin typeface="Calibri" pitchFamily="34" charset="0"/>
                <a:ea typeface="Calibri" pitchFamily="34" charset="-122"/>
                <a:cs typeface="Calibri" pitchFamily="34" charset="-120"/>
              </a:rPr>
              <a:t>Hiệu lực khóa theo thời điểm ký, thu hồi và lộ khóa</a:t>
            </a:r>
            <a:endParaRPr lang="en-US" sz="1550" dirty="0"/>
          </a:p>
        </p:txBody>
      </p:sp>
      <p:sp>
        <p:nvSpPr>
          <p:cNvPr id="20" name="A3_bg1"/>
          <p:cNvSpPr/>
          <p:nvPr/>
        </p:nvSpPr>
        <p:spPr>
          <a:xfrm>
            <a:off x="6172200" y="4087368"/>
            <a:ext cx="5440680" cy="868680"/>
          </a:xfrm>
          <a:prstGeom prst="roundRect">
            <a:avLst>
              <a:gd name="adj" fmla="val 8421"/>
            </a:avLst>
          </a:prstGeom>
          <a:solidFill>
            <a:srgbClr val="FFFFFF"/>
          </a:solidFill>
          <a:ln w="12700">
            <a:solidFill>
              <a:srgbClr val="CBD6E2"/>
            </a:solidFill>
            <a:prstDash val="solid"/>
          </a:ln>
        </p:spPr>
      </p:sp>
      <p:pic>
        <p:nvPicPr>
          <p:cNvPr id="21" name="A3_i1" descr="preencoded.png"/>
          <p:cNvPicPr>
            <a:picLocks noChangeAspect="1"/>
          </p:cNvPicPr>
          <p:nvPr/>
        </p:nvPicPr>
        <p:blipFill>
          <a:blip r:embed="rId3"/>
          <a:stretch>
            <a:fillRect/>
          </a:stretch>
        </p:blipFill>
        <p:spPr>
          <a:xfrm>
            <a:off x="6400800" y="4334256"/>
            <a:ext cx="384048" cy="384048"/>
          </a:xfrm>
          <a:prstGeom prst="rect">
            <a:avLst/>
          </a:prstGeom>
        </p:spPr>
      </p:pic>
      <p:sp>
        <p:nvSpPr>
          <p:cNvPr id="22" name="A3_t1"/>
          <p:cNvSpPr/>
          <p:nvPr/>
        </p:nvSpPr>
        <p:spPr>
          <a:xfrm>
            <a:off x="6949440" y="4133088"/>
            <a:ext cx="4526280" cy="777240"/>
          </a:xfrm>
          <a:prstGeom prst="rect">
            <a:avLst/>
          </a:prstGeom>
          <a:noFill/>
          <a:ln/>
        </p:spPr>
        <p:txBody>
          <a:bodyPr wrap="square" lIns="0" tIns="0" rIns="0" bIns="0" rtlCol="0" anchor="ctr"/>
          <a:lstStyle/>
          <a:p>
            <a:pPr marL="0" indent="0">
              <a:buNone/>
            </a:pPr>
            <a:r>
              <a:rPr lang="en-US" sz="1550" dirty="0">
                <a:solidFill>
                  <a:srgbClr val="1F2937"/>
                </a:solidFill>
                <a:latin typeface="Calibri" pitchFamily="34" charset="0"/>
                <a:ea typeface="Calibri" pitchFamily="34" charset="-122"/>
                <a:cs typeface="Calibri" pitchFamily="34" charset="-120"/>
              </a:rPr>
              <a:t>Chaincode từ chối lô trùng, thuật toán lạ và Merkle proof thu hồi giả mạo</a:t>
            </a:r>
            <a:endParaRPr lang="en-US" sz="1550" dirty="0"/>
          </a:p>
        </p:txBody>
      </p:sp>
      <p:sp>
        <p:nvSpPr>
          <p:cNvPr id="23" name="A4_bg0"/>
          <p:cNvSpPr/>
          <p:nvPr/>
        </p:nvSpPr>
        <p:spPr>
          <a:xfrm>
            <a:off x="548640" y="5111496"/>
            <a:ext cx="5440680" cy="868680"/>
          </a:xfrm>
          <a:prstGeom prst="roundRect">
            <a:avLst>
              <a:gd name="adj" fmla="val 8421"/>
            </a:avLst>
          </a:prstGeom>
          <a:solidFill>
            <a:srgbClr val="FFFFFF"/>
          </a:solidFill>
          <a:ln w="12700">
            <a:solidFill>
              <a:srgbClr val="CBD6E2"/>
            </a:solidFill>
            <a:prstDash val="solid"/>
          </a:ln>
        </p:spPr>
      </p:sp>
      <p:pic>
        <p:nvPicPr>
          <p:cNvPr id="24" name="A4_i0" descr="preencoded.png"/>
          <p:cNvPicPr>
            <a:picLocks noChangeAspect="1"/>
          </p:cNvPicPr>
          <p:nvPr/>
        </p:nvPicPr>
        <p:blipFill>
          <a:blip r:embed="rId3"/>
          <a:stretch>
            <a:fillRect/>
          </a:stretch>
        </p:blipFill>
        <p:spPr>
          <a:xfrm>
            <a:off x="777240" y="5358384"/>
            <a:ext cx="384048" cy="384048"/>
          </a:xfrm>
          <a:prstGeom prst="rect">
            <a:avLst/>
          </a:prstGeom>
        </p:spPr>
      </p:pic>
      <p:sp>
        <p:nvSpPr>
          <p:cNvPr id="25" name="A4_t0"/>
          <p:cNvSpPr/>
          <p:nvPr/>
        </p:nvSpPr>
        <p:spPr>
          <a:xfrm>
            <a:off x="1325880" y="5157216"/>
            <a:ext cx="4526280" cy="777240"/>
          </a:xfrm>
          <a:prstGeom prst="rect">
            <a:avLst/>
          </a:prstGeom>
          <a:noFill/>
          <a:ln/>
        </p:spPr>
        <p:txBody>
          <a:bodyPr wrap="square" lIns="0" tIns="0" rIns="0" bIns="0" rtlCol="0" anchor="ctr"/>
          <a:lstStyle/>
          <a:p>
            <a:pPr marL="0" indent="0">
              <a:buNone/>
            </a:pPr>
            <a:r>
              <a:rPr lang="en-US" sz="1550" dirty="0">
                <a:solidFill>
                  <a:srgbClr val="1F2937"/>
                </a:solidFill>
                <a:latin typeface="Calibri" pitchFamily="34" charset="0"/>
                <a:ea typeface="Calibri" pitchFamily="34" charset="-122"/>
                <a:cs typeface="Calibri" pitchFamily="34" charset="-120"/>
              </a:rPr>
              <a:t>Phân quyền theo vai trò; chặn truy cập chéo giữa các trường</a:t>
            </a:r>
            <a:endParaRPr lang="en-US" sz="1550" dirty="0"/>
          </a:p>
        </p:txBody>
      </p:sp>
      <p:sp>
        <p:nvSpPr>
          <p:cNvPr id="26" name="A4_bg1"/>
          <p:cNvSpPr/>
          <p:nvPr/>
        </p:nvSpPr>
        <p:spPr>
          <a:xfrm>
            <a:off x="6172200" y="5111496"/>
            <a:ext cx="5440680" cy="868680"/>
          </a:xfrm>
          <a:prstGeom prst="roundRect">
            <a:avLst>
              <a:gd name="adj" fmla="val 8421"/>
            </a:avLst>
          </a:prstGeom>
          <a:solidFill>
            <a:srgbClr val="FFFFFF"/>
          </a:solidFill>
          <a:ln w="12700">
            <a:solidFill>
              <a:srgbClr val="CBD6E2"/>
            </a:solidFill>
            <a:prstDash val="solid"/>
          </a:ln>
        </p:spPr>
      </p:sp>
      <p:pic>
        <p:nvPicPr>
          <p:cNvPr id="27" name="A4_i1" descr="preencoded.png"/>
          <p:cNvPicPr>
            <a:picLocks noChangeAspect="1"/>
          </p:cNvPicPr>
          <p:nvPr/>
        </p:nvPicPr>
        <p:blipFill>
          <a:blip r:embed="rId3"/>
          <a:stretch>
            <a:fillRect/>
          </a:stretch>
        </p:blipFill>
        <p:spPr>
          <a:xfrm>
            <a:off x="6400800" y="5358384"/>
            <a:ext cx="384048" cy="384048"/>
          </a:xfrm>
          <a:prstGeom prst="rect">
            <a:avLst/>
          </a:prstGeom>
        </p:spPr>
      </p:pic>
      <p:sp>
        <p:nvSpPr>
          <p:cNvPr id="28" name="A4_t1"/>
          <p:cNvSpPr/>
          <p:nvPr/>
        </p:nvSpPr>
        <p:spPr>
          <a:xfrm>
            <a:off x="6949440" y="5157216"/>
            <a:ext cx="4526280" cy="777240"/>
          </a:xfrm>
          <a:prstGeom prst="rect">
            <a:avLst/>
          </a:prstGeom>
          <a:noFill/>
          <a:ln/>
        </p:spPr>
        <p:txBody>
          <a:bodyPr wrap="square" lIns="0" tIns="0" rIns="0" bIns="0" rtlCol="0" anchor="ctr"/>
          <a:lstStyle/>
          <a:p>
            <a:pPr marL="0" indent="0">
              <a:buNone/>
            </a:pPr>
            <a:r>
              <a:rPr lang="en-US" sz="1550" dirty="0">
                <a:solidFill>
                  <a:srgbClr val="1F2937"/>
                </a:solidFill>
                <a:latin typeface="Calibri" pitchFamily="34" charset="0"/>
                <a:ea typeface="Calibri" pitchFamily="34" charset="-122"/>
                <a:cs typeface="Calibri" pitchFamily="34" charset="-120"/>
              </a:rPr>
              <a:t>Đợt cấp, thu hồi theo đợt kèm email lý do; chống dò OTP</a:t>
            </a:r>
            <a:endParaRPr lang="en-US" sz="155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00"/>
                                        <p:tgtEl>
                                          <p:spTgt spid="11"/>
                                        </p:tgtEl>
                                      </p:cBhvr>
                                    </p:animEffect>
                                  </p:childTnLst>
                                </p:cTn>
                              </p:par>
                              <p:par>
                                <p:cTn id="22" presetID="10"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par>
                                <p:cTn id="31" presetID="10"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00"/>
                                        <p:tgtEl>
                                          <p:spTgt spid="22"/>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00"/>
                                        <p:tgtEl>
                                          <p:spTgt spid="23"/>
                                        </p:tgtEl>
                                      </p:cBhvr>
                                    </p:animEffect>
                                  </p:childTnLst>
                                </p:cTn>
                              </p:par>
                              <p:par>
                                <p:cTn id="62" presetID="10" presetClass="entr" presetSubtype="0" fill="hold"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00"/>
                                        <p:tgtEl>
                                          <p:spTgt spid="25"/>
                                        </p:tgtEl>
                                      </p:cBhvr>
                                    </p:animEffect>
                                  </p:childTnLst>
                                </p:cTn>
                              </p:par>
                              <p:par>
                                <p:cTn id="68" presetID="10" presetClass="entr" presetSubtype="0" fill="hold"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00"/>
                                        <p:tgtEl>
                                          <p:spTgt spid="26"/>
                                        </p:tgtEl>
                                      </p:cBhvr>
                                    </p:animEffect>
                                  </p:childTnLst>
                                </p:cTn>
                              </p:par>
                              <p:par>
                                <p:cTn id="71" presetID="10" presetClass="entr" presetSubtype="0" fill="hold"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40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3" grpId="0" animBg="1"/>
      <p:bldP spid="16" grpId="0" animBg="1"/>
      <p:bldP spid="19" grpId="0" animBg="1"/>
      <p:bldP spid="22" grpId="0" animBg="1"/>
      <p:bldP spid="25" grpId="0" animBg="1"/>
      <p:bldP spid="2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6EDF5"/>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150" dirty="0">
                <a:solidFill>
                  <a:srgbClr val="0E7C86"/>
                </a:solidFill>
                <a:latin typeface="Calibri" pitchFamily="34" charset="0"/>
                <a:ea typeface="Calibri" pitchFamily="34" charset="-122"/>
                <a:cs typeface="Calibri" pitchFamily="34" charset="-120"/>
              </a:rPr>
              <a:t>PHẦN 5 · XÂY DỰNG VÀ THỬ NGHIỆM</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14284B"/>
                </a:solidFill>
                <a:latin typeface="Cambria" pitchFamily="34" charset="0"/>
                <a:ea typeface="Cambria" pitchFamily="34" charset="-122"/>
                <a:cs typeface="Cambria" pitchFamily="34" charset="-120"/>
              </a:rPr>
              <a:t>Hiệu năng ký số ML-DSA</a:t>
            </a:r>
            <a:endParaRPr lang="en-US" sz="28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Đặng Kim Khánh · CT060318 · Hệ thống quản lý bằng số sử dụng ký số hậu lượng tử</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22 / 25</a:t>
            </a:r>
            <a:endParaRPr lang="en-US" sz="1000" dirty="0"/>
          </a:p>
        </p:txBody>
      </p:sp>
      <p:graphicFrame>
        <p:nvGraphicFramePr>
          <p:cNvPr id="7" name="A1_chart"/>
          <p:cNvGraphicFramePr/>
          <p:nvPr/>
        </p:nvGraphicFramePr>
        <p:xfrm>
          <a:off x="548640" y="1371600"/>
          <a:ext cx="676656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8" name="A2_bg"/>
          <p:cNvSpPr/>
          <p:nvPr/>
        </p:nvSpPr>
        <p:spPr>
          <a:xfrm>
            <a:off x="7589520" y="1463040"/>
            <a:ext cx="4059936" cy="4663440"/>
          </a:xfrm>
          <a:prstGeom prst="roundRect">
            <a:avLst>
              <a:gd name="adj" fmla="val 1802"/>
            </a:avLst>
          </a:prstGeom>
          <a:solidFill>
            <a:srgbClr val="FFFFFF"/>
          </a:solidFill>
          <a:ln w="12700">
            <a:solidFill>
              <a:srgbClr val="FFFFFF"/>
            </a:solidFill>
            <a:prstDash val="solid"/>
          </a:ln>
        </p:spPr>
      </p:sp>
      <p:sp>
        <p:nvSpPr>
          <p:cNvPr id="9" name="A2_c"/>
          <p:cNvSpPr/>
          <p:nvPr/>
        </p:nvSpPr>
        <p:spPr>
          <a:xfrm>
            <a:off x="7818120" y="1691640"/>
            <a:ext cx="502920" cy="502920"/>
          </a:xfrm>
          <a:prstGeom prst="ellipse">
            <a:avLst/>
          </a:prstGeom>
          <a:solidFill>
            <a:srgbClr val="14284B"/>
          </a:solidFill>
          <a:ln w="12700">
            <a:solidFill>
              <a:srgbClr val="14284B"/>
            </a:solidFill>
            <a:prstDash val="solid"/>
          </a:ln>
        </p:spPr>
      </p:sp>
      <p:pic>
        <p:nvPicPr>
          <p:cNvPr id="10" name="A2_i" descr="preencoded.png"/>
          <p:cNvPicPr>
            <a:picLocks noChangeAspect="1"/>
          </p:cNvPicPr>
          <p:nvPr/>
        </p:nvPicPr>
        <p:blipFill>
          <a:blip r:embed="rId4"/>
          <a:stretch>
            <a:fillRect/>
          </a:stretch>
        </p:blipFill>
        <p:spPr>
          <a:xfrm>
            <a:off x="7948879" y="1822399"/>
            <a:ext cx="241402" cy="241402"/>
          </a:xfrm>
          <a:prstGeom prst="rect">
            <a:avLst/>
          </a:prstGeom>
        </p:spPr>
      </p:pic>
      <p:sp>
        <p:nvSpPr>
          <p:cNvPr id="11" name="A2_h"/>
          <p:cNvSpPr/>
          <p:nvPr/>
        </p:nvSpPr>
        <p:spPr>
          <a:xfrm>
            <a:off x="8458200" y="1691640"/>
            <a:ext cx="3008376" cy="502920"/>
          </a:xfrm>
          <a:prstGeom prst="rect">
            <a:avLst/>
          </a:prstGeom>
          <a:noFill/>
          <a:ln/>
        </p:spPr>
        <p:txBody>
          <a:bodyPr wrap="square" lIns="0" tIns="0" rIns="0" bIns="0" rtlCol="0" anchor="ctr"/>
          <a:lstStyle/>
          <a:p>
            <a:pPr marL="0" indent="0">
              <a:buNone/>
            </a:pPr>
            <a:r>
              <a:rPr lang="en-US" sz="1700" b="1" dirty="0">
                <a:solidFill>
                  <a:srgbClr val="14284B"/>
                </a:solidFill>
                <a:latin typeface="Cambria" pitchFamily="34" charset="0"/>
                <a:ea typeface="Cambria" pitchFamily="34" charset="-122"/>
                <a:cs typeface="Cambria" pitchFamily="34" charset="-120"/>
              </a:rPr>
              <a:t>Nhận xét</a:t>
            </a:r>
            <a:endParaRPr lang="en-US" sz="1700" dirty="0"/>
          </a:p>
        </p:txBody>
      </p:sp>
      <p:sp>
        <p:nvSpPr>
          <p:cNvPr id="12" name="A2_t"/>
          <p:cNvSpPr/>
          <p:nvPr/>
        </p:nvSpPr>
        <p:spPr>
          <a:xfrm>
            <a:off x="7818120" y="2331720"/>
            <a:ext cx="3648456" cy="365760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Đo bằng Go benchmark trên AMD Ryzen 5 5500U, thư viện CIRCL</a:t>
            </a:r>
            <a:endParaRPr lang="en-US" sz="1600" dirty="0"/>
          </a:p>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ML-DSA-65: ký ~0,22 ms, xác minh ~0,03 ms</a:t>
            </a:r>
            <a:endParaRPr lang="en-US" sz="1600" dirty="0"/>
          </a:p>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Cả ba bộ tham số dưới 0,25 ms mỗi thao tác</a:t>
            </a:r>
            <a:endParaRPr lang="en-US" sz="1600" dirty="0"/>
          </a:p>
          <a:p>
            <a:pPr marL="177800" indent="-177800">
              <a:spcAft>
                <a:spcPts val="500"/>
              </a:spcAft>
              <a:buSzPct val="100000"/>
              <a:buChar char="•"/>
            </a:pPr>
            <a:r>
              <a:rPr lang="en-US" sz="1600" dirty="0">
                <a:solidFill>
                  <a:srgbClr val="1F2937"/>
                </a:solidFill>
                <a:latin typeface="Calibri" pitchFamily="34" charset="0"/>
                <a:ea typeface="Calibri" pitchFamily="34" charset="-122"/>
                <a:cs typeface="Calibri" pitchFamily="34" charset="-120"/>
              </a:rPr>
              <a:t>Nhỏ hơn nhiều so với sinh PDF, lưu MinIO, gửi giao dịch Fabric</a:t>
            </a:r>
            <a:endParaRPr lang="en-US" sz="16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4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P spid="11" grpId="0" animBg="1"/>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6EDF5"/>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150" dirty="0">
                <a:solidFill>
                  <a:srgbClr val="0E7C86"/>
                </a:solidFill>
                <a:latin typeface="Calibri" pitchFamily="34" charset="0"/>
                <a:ea typeface="Calibri" pitchFamily="34" charset="-122"/>
                <a:cs typeface="Calibri" pitchFamily="34" charset="-120"/>
              </a:rPr>
              <a:t>PHẦN 5 · XÂY DỰNG VÀ THỬ NGHIỆM</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14284B"/>
                </a:solidFill>
                <a:latin typeface="Cambria" pitchFamily="34" charset="0"/>
                <a:ea typeface="Cambria" pitchFamily="34" charset="-122"/>
                <a:cs typeface="Cambria" pitchFamily="34" charset="-120"/>
              </a:rPr>
              <a:t>Kịch bản demo</a:t>
            </a:r>
            <a:endParaRPr lang="en-US" sz="28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Đặng Kim Khánh · CT060318 · Hệ thống quản lý bằng số sử dụng ký số hậu lượng tử</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23 / 25</a:t>
            </a:r>
            <a:endParaRPr lang="en-US" sz="1000" dirty="0"/>
          </a:p>
        </p:txBody>
      </p:sp>
      <p:sp>
        <p:nvSpPr>
          <p:cNvPr id="7" name="A1_bg"/>
          <p:cNvSpPr/>
          <p:nvPr/>
        </p:nvSpPr>
        <p:spPr>
          <a:xfrm>
            <a:off x="548640" y="1828800"/>
            <a:ext cx="2011680" cy="3063240"/>
          </a:xfrm>
          <a:prstGeom prst="roundRect">
            <a:avLst>
              <a:gd name="adj" fmla="val 3636"/>
            </a:avLst>
          </a:prstGeom>
          <a:solidFill>
            <a:srgbClr val="FFFFFF"/>
          </a:solidFill>
          <a:ln w="12700">
            <a:solidFill>
              <a:srgbClr val="FFFFFF"/>
            </a:solidFill>
            <a:prstDash val="solid"/>
          </a:ln>
        </p:spPr>
      </p:sp>
      <p:sp>
        <p:nvSpPr>
          <p:cNvPr id="8" name="A1_c"/>
          <p:cNvSpPr/>
          <p:nvPr/>
        </p:nvSpPr>
        <p:spPr>
          <a:xfrm>
            <a:off x="1165860" y="2103120"/>
            <a:ext cx="777240" cy="777240"/>
          </a:xfrm>
          <a:prstGeom prst="ellipse">
            <a:avLst/>
          </a:prstGeom>
          <a:solidFill>
            <a:srgbClr val="14284B"/>
          </a:solidFill>
          <a:ln w="12700">
            <a:solidFill>
              <a:srgbClr val="14284B"/>
            </a:solidFill>
            <a:prstDash val="solid"/>
          </a:ln>
        </p:spPr>
      </p:sp>
      <p:pic>
        <p:nvPicPr>
          <p:cNvPr id="9" name="A1_i" descr="preencoded.png"/>
          <p:cNvPicPr>
            <a:picLocks noChangeAspect="1"/>
          </p:cNvPicPr>
          <p:nvPr/>
        </p:nvPicPr>
        <p:blipFill>
          <a:blip r:embed="rId3"/>
          <a:stretch>
            <a:fillRect/>
          </a:stretch>
        </p:blipFill>
        <p:spPr>
          <a:xfrm>
            <a:off x="1367942" y="2305202"/>
            <a:ext cx="373075" cy="373075"/>
          </a:xfrm>
          <a:prstGeom prst="rect">
            <a:avLst/>
          </a:prstGeom>
        </p:spPr>
      </p:pic>
      <p:sp>
        <p:nvSpPr>
          <p:cNvPr id="10" name="A1_n"/>
          <p:cNvSpPr/>
          <p:nvPr/>
        </p:nvSpPr>
        <p:spPr>
          <a:xfrm>
            <a:off x="548640" y="3017520"/>
            <a:ext cx="2011680" cy="411480"/>
          </a:xfrm>
          <a:prstGeom prst="rect">
            <a:avLst/>
          </a:prstGeom>
          <a:noFill/>
          <a:ln/>
        </p:spPr>
        <p:txBody>
          <a:bodyPr wrap="square" lIns="0" tIns="0" rIns="0" bIns="0" rtlCol="0" anchor="ctr"/>
          <a:lstStyle/>
          <a:p>
            <a:pPr marL="0" indent="0" algn="ctr">
              <a:buNone/>
            </a:pPr>
            <a:r>
              <a:rPr lang="en-US" sz="2000" b="1" dirty="0">
                <a:solidFill>
                  <a:srgbClr val="0E7C86"/>
                </a:solidFill>
                <a:latin typeface="Cambria" pitchFamily="34" charset="0"/>
                <a:ea typeface="Cambria" pitchFamily="34" charset="-122"/>
                <a:cs typeface="Cambria" pitchFamily="34" charset="-120"/>
              </a:rPr>
              <a:t>1</a:t>
            </a:r>
            <a:endParaRPr lang="en-US" sz="2000" dirty="0"/>
          </a:p>
        </p:txBody>
      </p:sp>
      <p:sp>
        <p:nvSpPr>
          <p:cNvPr id="11" name="A1_t"/>
          <p:cNvSpPr/>
          <p:nvPr/>
        </p:nvSpPr>
        <p:spPr>
          <a:xfrm>
            <a:off x="658368" y="3474720"/>
            <a:ext cx="1792224" cy="1325880"/>
          </a:xfrm>
          <a:prstGeom prst="rect">
            <a:avLst/>
          </a:prstGeom>
          <a:noFill/>
          <a:ln/>
        </p:spPr>
        <p:txBody>
          <a:bodyPr wrap="square" lIns="0" tIns="0" rIns="0" bIns="0" rtlCol="0" anchor="t"/>
          <a:lstStyle/>
          <a:p>
            <a:pPr marL="0" indent="0" algn="ctr">
              <a:buNone/>
            </a:pPr>
            <a:r>
              <a:rPr lang="en-US" sz="1500" b="1" dirty="0">
                <a:solidFill>
                  <a:srgbClr val="14284B"/>
                </a:solidFill>
                <a:latin typeface="Cambria" pitchFamily="34" charset="0"/>
                <a:ea typeface="Cambria" pitchFamily="34" charset="-122"/>
                <a:cs typeface="Cambria" pitchFamily="34" charset="-120"/>
              </a:rPr>
              <a:t>Tạo và kích hoạt khóa</a:t>
            </a:r>
            <a:endParaRPr lang="en-US" sz="1500" dirty="0"/>
          </a:p>
          <a:p>
            <a:pPr marL="0" indent="0" algn="ctr">
              <a:buNone/>
            </a:pPr>
            <a:r>
              <a:rPr lang="en-US" sz="1500" dirty="0">
                <a:solidFill>
                  <a:srgbClr val="1F2937"/>
                </a:solidFill>
                <a:latin typeface="Calibri" pitchFamily="34" charset="0"/>
                <a:ea typeface="Calibri" pitchFamily="34" charset="-122"/>
                <a:cs typeface="Calibri" pitchFamily="34" charset="-120"/>
              </a:rPr>
              <a:t>ML-DSA-65 cho trường</a:t>
            </a:r>
            <a:endParaRPr lang="en-US" sz="1500" dirty="0"/>
          </a:p>
        </p:txBody>
      </p:sp>
      <p:sp>
        <p:nvSpPr>
          <p:cNvPr id="12" name="A1_a"/>
          <p:cNvSpPr/>
          <p:nvPr/>
        </p:nvSpPr>
        <p:spPr>
          <a:xfrm>
            <a:off x="2587752" y="3383280"/>
            <a:ext cx="201168" cy="0"/>
          </a:xfrm>
          <a:prstGeom prst="line">
            <a:avLst/>
          </a:prstGeom>
          <a:noFill/>
          <a:ln w="19050">
            <a:solidFill>
              <a:srgbClr val="0E7C86"/>
            </a:solidFill>
            <a:prstDash val="solid"/>
            <a:tailEnd type="triangle"/>
          </a:ln>
        </p:spPr>
      </p:sp>
      <p:sp>
        <p:nvSpPr>
          <p:cNvPr id="13" name="A2_bg"/>
          <p:cNvSpPr/>
          <p:nvPr/>
        </p:nvSpPr>
        <p:spPr>
          <a:xfrm>
            <a:off x="2816352" y="1828800"/>
            <a:ext cx="2011680" cy="3063240"/>
          </a:xfrm>
          <a:prstGeom prst="roundRect">
            <a:avLst>
              <a:gd name="adj" fmla="val 3636"/>
            </a:avLst>
          </a:prstGeom>
          <a:solidFill>
            <a:srgbClr val="FFFFFF"/>
          </a:solidFill>
          <a:ln w="12700">
            <a:solidFill>
              <a:srgbClr val="FFFFFF"/>
            </a:solidFill>
            <a:prstDash val="solid"/>
          </a:ln>
        </p:spPr>
      </p:sp>
      <p:sp>
        <p:nvSpPr>
          <p:cNvPr id="14" name="A2_c"/>
          <p:cNvSpPr/>
          <p:nvPr/>
        </p:nvSpPr>
        <p:spPr>
          <a:xfrm>
            <a:off x="3433572" y="2103120"/>
            <a:ext cx="777240" cy="777240"/>
          </a:xfrm>
          <a:prstGeom prst="ellipse">
            <a:avLst/>
          </a:prstGeom>
          <a:solidFill>
            <a:srgbClr val="14284B"/>
          </a:solidFill>
          <a:ln w="12700">
            <a:solidFill>
              <a:srgbClr val="14284B"/>
            </a:solidFill>
            <a:prstDash val="solid"/>
          </a:ln>
        </p:spPr>
      </p:sp>
      <p:pic>
        <p:nvPicPr>
          <p:cNvPr id="15" name="A2_i" descr="preencoded.png"/>
          <p:cNvPicPr>
            <a:picLocks noChangeAspect="1"/>
          </p:cNvPicPr>
          <p:nvPr/>
        </p:nvPicPr>
        <p:blipFill>
          <a:blip r:embed="rId4"/>
          <a:stretch>
            <a:fillRect/>
          </a:stretch>
        </p:blipFill>
        <p:spPr>
          <a:xfrm>
            <a:off x="3635654" y="2305202"/>
            <a:ext cx="373075" cy="373075"/>
          </a:xfrm>
          <a:prstGeom prst="rect">
            <a:avLst/>
          </a:prstGeom>
        </p:spPr>
      </p:pic>
      <p:sp>
        <p:nvSpPr>
          <p:cNvPr id="16" name="A2_n"/>
          <p:cNvSpPr/>
          <p:nvPr/>
        </p:nvSpPr>
        <p:spPr>
          <a:xfrm>
            <a:off x="2816352" y="3017520"/>
            <a:ext cx="2011680" cy="411480"/>
          </a:xfrm>
          <a:prstGeom prst="rect">
            <a:avLst/>
          </a:prstGeom>
          <a:noFill/>
          <a:ln/>
        </p:spPr>
        <p:txBody>
          <a:bodyPr wrap="square" lIns="0" tIns="0" rIns="0" bIns="0" rtlCol="0" anchor="ctr"/>
          <a:lstStyle/>
          <a:p>
            <a:pPr marL="0" indent="0" algn="ctr">
              <a:buNone/>
            </a:pPr>
            <a:r>
              <a:rPr lang="en-US" sz="2000" b="1" dirty="0">
                <a:solidFill>
                  <a:srgbClr val="0E7C86"/>
                </a:solidFill>
                <a:latin typeface="Cambria" pitchFamily="34" charset="0"/>
                <a:ea typeface="Cambria" pitchFamily="34" charset="-122"/>
                <a:cs typeface="Cambria" pitchFamily="34" charset="-120"/>
              </a:rPr>
              <a:t>2</a:t>
            </a:r>
            <a:endParaRPr lang="en-US" sz="2000" dirty="0"/>
          </a:p>
        </p:txBody>
      </p:sp>
      <p:sp>
        <p:nvSpPr>
          <p:cNvPr id="17" name="A2_t"/>
          <p:cNvSpPr/>
          <p:nvPr/>
        </p:nvSpPr>
        <p:spPr>
          <a:xfrm>
            <a:off x="2926080" y="3474720"/>
            <a:ext cx="1792224" cy="1325880"/>
          </a:xfrm>
          <a:prstGeom prst="rect">
            <a:avLst/>
          </a:prstGeom>
          <a:noFill/>
          <a:ln/>
        </p:spPr>
        <p:txBody>
          <a:bodyPr wrap="square" lIns="0" tIns="0" rIns="0" bIns="0" rtlCol="0" anchor="t"/>
          <a:lstStyle/>
          <a:p>
            <a:pPr marL="0" indent="0" algn="ctr">
              <a:buNone/>
            </a:pPr>
            <a:r>
              <a:rPr lang="en-US" sz="1500" b="1" dirty="0">
                <a:solidFill>
                  <a:srgbClr val="14284B"/>
                </a:solidFill>
                <a:latin typeface="Cambria" pitchFamily="34" charset="0"/>
                <a:ea typeface="Cambria" pitchFamily="34" charset="-122"/>
                <a:cs typeface="Cambria" pitchFamily="34" charset="-120"/>
              </a:rPr>
              <a:t>Cấp và ký văn bằng</a:t>
            </a:r>
            <a:endParaRPr lang="en-US" sz="1500" dirty="0"/>
          </a:p>
          <a:p>
            <a:pPr marL="0" indent="0" algn="ctr">
              <a:buNone/>
            </a:pPr>
            <a:r>
              <a:rPr lang="en-US" sz="1500" dirty="0">
                <a:solidFill>
                  <a:srgbClr val="1F2937"/>
                </a:solidFill>
                <a:latin typeface="Calibri" pitchFamily="34" charset="0"/>
                <a:ea typeface="Calibri" pitchFamily="34" charset="-122"/>
                <a:cs typeface="Calibri" pitchFamily="34" charset="-120"/>
              </a:rPr>
              <a:t>Sinh PDF có dấu, ký manifest</a:t>
            </a:r>
            <a:endParaRPr lang="en-US" sz="1500" dirty="0"/>
          </a:p>
        </p:txBody>
      </p:sp>
      <p:sp>
        <p:nvSpPr>
          <p:cNvPr id="18" name="A2_a"/>
          <p:cNvSpPr/>
          <p:nvPr/>
        </p:nvSpPr>
        <p:spPr>
          <a:xfrm>
            <a:off x="4855464" y="3383280"/>
            <a:ext cx="201168" cy="0"/>
          </a:xfrm>
          <a:prstGeom prst="line">
            <a:avLst/>
          </a:prstGeom>
          <a:noFill/>
          <a:ln w="19050">
            <a:solidFill>
              <a:srgbClr val="0E7C86"/>
            </a:solidFill>
            <a:prstDash val="solid"/>
            <a:tailEnd type="triangle"/>
          </a:ln>
        </p:spPr>
      </p:sp>
      <p:sp>
        <p:nvSpPr>
          <p:cNvPr id="19" name="A3_bg"/>
          <p:cNvSpPr/>
          <p:nvPr/>
        </p:nvSpPr>
        <p:spPr>
          <a:xfrm>
            <a:off x="5084064" y="1828800"/>
            <a:ext cx="2011680" cy="3063240"/>
          </a:xfrm>
          <a:prstGeom prst="roundRect">
            <a:avLst>
              <a:gd name="adj" fmla="val 3636"/>
            </a:avLst>
          </a:prstGeom>
          <a:solidFill>
            <a:srgbClr val="FFFFFF"/>
          </a:solidFill>
          <a:ln w="12700">
            <a:solidFill>
              <a:srgbClr val="FFFFFF"/>
            </a:solidFill>
            <a:prstDash val="solid"/>
          </a:ln>
        </p:spPr>
      </p:sp>
      <p:sp>
        <p:nvSpPr>
          <p:cNvPr id="20" name="A3_c"/>
          <p:cNvSpPr/>
          <p:nvPr/>
        </p:nvSpPr>
        <p:spPr>
          <a:xfrm>
            <a:off x="5701284" y="2103120"/>
            <a:ext cx="777240" cy="777240"/>
          </a:xfrm>
          <a:prstGeom prst="ellipse">
            <a:avLst/>
          </a:prstGeom>
          <a:solidFill>
            <a:srgbClr val="14284B"/>
          </a:solidFill>
          <a:ln w="12700">
            <a:solidFill>
              <a:srgbClr val="14284B"/>
            </a:solidFill>
            <a:prstDash val="solid"/>
          </a:ln>
        </p:spPr>
      </p:sp>
      <p:pic>
        <p:nvPicPr>
          <p:cNvPr id="21" name="A3_i" descr="preencoded.png"/>
          <p:cNvPicPr>
            <a:picLocks noChangeAspect="1"/>
          </p:cNvPicPr>
          <p:nvPr/>
        </p:nvPicPr>
        <p:blipFill>
          <a:blip r:embed="rId5"/>
          <a:stretch>
            <a:fillRect/>
          </a:stretch>
        </p:blipFill>
        <p:spPr>
          <a:xfrm>
            <a:off x="5903366" y="2305202"/>
            <a:ext cx="373075" cy="373075"/>
          </a:xfrm>
          <a:prstGeom prst="rect">
            <a:avLst/>
          </a:prstGeom>
        </p:spPr>
      </p:pic>
      <p:sp>
        <p:nvSpPr>
          <p:cNvPr id="22" name="A3_n"/>
          <p:cNvSpPr/>
          <p:nvPr/>
        </p:nvSpPr>
        <p:spPr>
          <a:xfrm>
            <a:off x="5084064" y="3017520"/>
            <a:ext cx="2011680" cy="411480"/>
          </a:xfrm>
          <a:prstGeom prst="rect">
            <a:avLst/>
          </a:prstGeom>
          <a:noFill/>
          <a:ln/>
        </p:spPr>
        <p:txBody>
          <a:bodyPr wrap="square" lIns="0" tIns="0" rIns="0" bIns="0" rtlCol="0" anchor="ctr"/>
          <a:lstStyle/>
          <a:p>
            <a:pPr marL="0" indent="0" algn="ctr">
              <a:buNone/>
            </a:pPr>
            <a:r>
              <a:rPr lang="en-US" sz="2000" b="1" dirty="0">
                <a:solidFill>
                  <a:srgbClr val="0E7C86"/>
                </a:solidFill>
                <a:latin typeface="Cambria" pitchFamily="34" charset="0"/>
                <a:ea typeface="Cambria" pitchFamily="34" charset="-122"/>
                <a:cs typeface="Cambria" pitchFamily="34" charset="-120"/>
              </a:rPr>
              <a:t>3</a:t>
            </a:r>
            <a:endParaRPr lang="en-US" sz="2000" dirty="0"/>
          </a:p>
        </p:txBody>
      </p:sp>
      <p:sp>
        <p:nvSpPr>
          <p:cNvPr id="23" name="A3_t"/>
          <p:cNvSpPr/>
          <p:nvPr/>
        </p:nvSpPr>
        <p:spPr>
          <a:xfrm>
            <a:off x="5193792" y="3474720"/>
            <a:ext cx="1792224" cy="1325880"/>
          </a:xfrm>
          <a:prstGeom prst="rect">
            <a:avLst/>
          </a:prstGeom>
          <a:noFill/>
          <a:ln/>
        </p:spPr>
        <p:txBody>
          <a:bodyPr wrap="square" lIns="0" tIns="0" rIns="0" bIns="0" rtlCol="0" anchor="t"/>
          <a:lstStyle/>
          <a:p>
            <a:pPr marL="0" indent="0" algn="ctr">
              <a:buNone/>
            </a:pPr>
            <a:r>
              <a:rPr lang="en-US" sz="1500" b="1" dirty="0">
                <a:solidFill>
                  <a:srgbClr val="14284B"/>
                </a:solidFill>
                <a:latin typeface="Cambria" pitchFamily="34" charset="0"/>
                <a:ea typeface="Cambria" pitchFamily="34" charset="-122"/>
                <a:cs typeface="Cambria" pitchFamily="34" charset="-120"/>
              </a:rPr>
              <a:t>Ghi lô lên Blockchain</a:t>
            </a:r>
            <a:endParaRPr lang="en-US" sz="1500" dirty="0"/>
          </a:p>
          <a:p>
            <a:pPr marL="0" indent="0" algn="ctr">
              <a:buNone/>
            </a:pPr>
            <a:r>
              <a:rPr lang="en-US" sz="1500" dirty="0">
                <a:solidFill>
                  <a:srgbClr val="1F2937"/>
                </a:solidFill>
                <a:latin typeface="Calibri" pitchFamily="34" charset="0"/>
                <a:ea typeface="Calibri" pitchFamily="34" charset="-122"/>
                <a:cs typeface="Calibri" pitchFamily="34" charset="-120"/>
              </a:rPr>
              <a:t>Merkle root lên Fabric</a:t>
            </a:r>
            <a:endParaRPr lang="en-US" sz="1500" dirty="0"/>
          </a:p>
        </p:txBody>
      </p:sp>
      <p:sp>
        <p:nvSpPr>
          <p:cNvPr id="24" name="A3_a"/>
          <p:cNvSpPr/>
          <p:nvPr/>
        </p:nvSpPr>
        <p:spPr>
          <a:xfrm>
            <a:off x="7123176" y="3383280"/>
            <a:ext cx="201168" cy="0"/>
          </a:xfrm>
          <a:prstGeom prst="line">
            <a:avLst/>
          </a:prstGeom>
          <a:noFill/>
          <a:ln w="19050">
            <a:solidFill>
              <a:srgbClr val="0E7C86"/>
            </a:solidFill>
            <a:prstDash val="solid"/>
            <a:tailEnd type="triangle"/>
          </a:ln>
        </p:spPr>
      </p:sp>
      <p:sp>
        <p:nvSpPr>
          <p:cNvPr id="25" name="A4_bg"/>
          <p:cNvSpPr/>
          <p:nvPr/>
        </p:nvSpPr>
        <p:spPr>
          <a:xfrm>
            <a:off x="7351776" y="1828800"/>
            <a:ext cx="2011680" cy="3063240"/>
          </a:xfrm>
          <a:prstGeom prst="roundRect">
            <a:avLst>
              <a:gd name="adj" fmla="val 3636"/>
            </a:avLst>
          </a:prstGeom>
          <a:solidFill>
            <a:srgbClr val="FFFFFF"/>
          </a:solidFill>
          <a:ln w="12700">
            <a:solidFill>
              <a:srgbClr val="FFFFFF"/>
            </a:solidFill>
            <a:prstDash val="solid"/>
          </a:ln>
        </p:spPr>
      </p:sp>
      <p:sp>
        <p:nvSpPr>
          <p:cNvPr id="26" name="A4_c"/>
          <p:cNvSpPr/>
          <p:nvPr/>
        </p:nvSpPr>
        <p:spPr>
          <a:xfrm>
            <a:off x="7968996" y="2103120"/>
            <a:ext cx="777240" cy="777240"/>
          </a:xfrm>
          <a:prstGeom prst="ellipse">
            <a:avLst/>
          </a:prstGeom>
          <a:solidFill>
            <a:srgbClr val="14284B"/>
          </a:solidFill>
          <a:ln w="12700">
            <a:solidFill>
              <a:srgbClr val="14284B"/>
            </a:solidFill>
            <a:prstDash val="solid"/>
          </a:ln>
        </p:spPr>
      </p:sp>
      <p:pic>
        <p:nvPicPr>
          <p:cNvPr id="27" name="A4_i" descr="preencoded.png"/>
          <p:cNvPicPr>
            <a:picLocks noChangeAspect="1"/>
          </p:cNvPicPr>
          <p:nvPr/>
        </p:nvPicPr>
        <p:blipFill>
          <a:blip r:embed="rId6"/>
          <a:stretch>
            <a:fillRect/>
          </a:stretch>
        </p:blipFill>
        <p:spPr>
          <a:xfrm>
            <a:off x="8171078" y="2305202"/>
            <a:ext cx="373075" cy="373075"/>
          </a:xfrm>
          <a:prstGeom prst="rect">
            <a:avLst/>
          </a:prstGeom>
        </p:spPr>
      </p:pic>
      <p:sp>
        <p:nvSpPr>
          <p:cNvPr id="28" name="A4_n"/>
          <p:cNvSpPr/>
          <p:nvPr/>
        </p:nvSpPr>
        <p:spPr>
          <a:xfrm>
            <a:off x="7351776" y="3017520"/>
            <a:ext cx="2011680" cy="411480"/>
          </a:xfrm>
          <a:prstGeom prst="rect">
            <a:avLst/>
          </a:prstGeom>
          <a:noFill/>
          <a:ln/>
        </p:spPr>
        <p:txBody>
          <a:bodyPr wrap="square" lIns="0" tIns="0" rIns="0" bIns="0" rtlCol="0" anchor="ctr"/>
          <a:lstStyle/>
          <a:p>
            <a:pPr marL="0" indent="0" algn="ctr">
              <a:buNone/>
            </a:pPr>
            <a:r>
              <a:rPr lang="en-US" sz="2000" b="1" dirty="0">
                <a:solidFill>
                  <a:srgbClr val="0E7C86"/>
                </a:solidFill>
                <a:latin typeface="Cambria" pitchFamily="34" charset="0"/>
                <a:ea typeface="Cambria" pitchFamily="34" charset="-122"/>
                <a:cs typeface="Cambria" pitchFamily="34" charset="-120"/>
              </a:rPr>
              <a:t>4</a:t>
            </a:r>
            <a:endParaRPr lang="en-US" sz="2000" dirty="0"/>
          </a:p>
        </p:txBody>
      </p:sp>
      <p:sp>
        <p:nvSpPr>
          <p:cNvPr id="29" name="A4_t"/>
          <p:cNvSpPr/>
          <p:nvPr/>
        </p:nvSpPr>
        <p:spPr>
          <a:xfrm>
            <a:off x="7461504" y="3474720"/>
            <a:ext cx="1792224" cy="1325880"/>
          </a:xfrm>
          <a:prstGeom prst="rect">
            <a:avLst/>
          </a:prstGeom>
          <a:noFill/>
          <a:ln/>
        </p:spPr>
        <p:txBody>
          <a:bodyPr wrap="square" lIns="0" tIns="0" rIns="0" bIns="0" rtlCol="0" anchor="t"/>
          <a:lstStyle/>
          <a:p>
            <a:pPr marL="0" indent="0" algn="ctr">
              <a:buNone/>
            </a:pPr>
            <a:r>
              <a:rPr lang="en-US" sz="1500" b="1" dirty="0">
                <a:solidFill>
                  <a:srgbClr val="14284B"/>
                </a:solidFill>
                <a:latin typeface="Cambria" pitchFamily="34" charset="0"/>
                <a:ea typeface="Cambria" pitchFamily="34" charset="-122"/>
                <a:cs typeface="Cambria" pitchFamily="34" charset="-120"/>
              </a:rPr>
              <a:t>Quét QR trên ứng dụng</a:t>
            </a:r>
            <a:endParaRPr lang="en-US" sz="1500" dirty="0"/>
          </a:p>
          <a:p>
            <a:pPr marL="0" indent="0" algn="ctr">
              <a:buNone/>
            </a:pPr>
            <a:r>
              <a:rPr lang="en-US" sz="1500" dirty="0">
                <a:solidFill>
                  <a:srgbClr val="1F2937"/>
                </a:solidFill>
                <a:latin typeface="Calibri" pitchFamily="34" charset="0"/>
                <a:ea typeface="Calibri" pitchFamily="34" charset="-122"/>
                <a:cs typeface="Calibri" pitchFamily="34" charset="-120"/>
              </a:rPr>
              <a:t>Kết quả hợp lệ đầy đủ</a:t>
            </a:r>
            <a:endParaRPr lang="en-US" sz="1500" dirty="0"/>
          </a:p>
        </p:txBody>
      </p:sp>
      <p:sp>
        <p:nvSpPr>
          <p:cNvPr id="30" name="A4_a"/>
          <p:cNvSpPr/>
          <p:nvPr/>
        </p:nvSpPr>
        <p:spPr>
          <a:xfrm>
            <a:off x="9390888" y="3383280"/>
            <a:ext cx="201168" cy="0"/>
          </a:xfrm>
          <a:prstGeom prst="line">
            <a:avLst/>
          </a:prstGeom>
          <a:noFill/>
          <a:ln w="19050">
            <a:solidFill>
              <a:srgbClr val="0E7C86"/>
            </a:solidFill>
            <a:prstDash val="solid"/>
            <a:tailEnd type="triangle"/>
          </a:ln>
        </p:spPr>
      </p:sp>
      <p:sp>
        <p:nvSpPr>
          <p:cNvPr id="31" name="A5_bg"/>
          <p:cNvSpPr/>
          <p:nvPr/>
        </p:nvSpPr>
        <p:spPr>
          <a:xfrm>
            <a:off x="9619488" y="1828800"/>
            <a:ext cx="2011680" cy="3063240"/>
          </a:xfrm>
          <a:prstGeom prst="roundRect">
            <a:avLst>
              <a:gd name="adj" fmla="val 3636"/>
            </a:avLst>
          </a:prstGeom>
          <a:solidFill>
            <a:srgbClr val="FFFFFF"/>
          </a:solidFill>
          <a:ln w="12700">
            <a:solidFill>
              <a:srgbClr val="FFFFFF"/>
            </a:solidFill>
            <a:prstDash val="solid"/>
          </a:ln>
        </p:spPr>
      </p:sp>
      <p:sp>
        <p:nvSpPr>
          <p:cNvPr id="32" name="A5_c"/>
          <p:cNvSpPr/>
          <p:nvPr/>
        </p:nvSpPr>
        <p:spPr>
          <a:xfrm>
            <a:off x="10236708" y="2103120"/>
            <a:ext cx="777240" cy="777240"/>
          </a:xfrm>
          <a:prstGeom prst="ellipse">
            <a:avLst/>
          </a:prstGeom>
          <a:solidFill>
            <a:srgbClr val="9B2C2C"/>
          </a:solidFill>
          <a:ln w="12700">
            <a:solidFill>
              <a:srgbClr val="9B2C2C"/>
            </a:solidFill>
            <a:prstDash val="solid"/>
          </a:ln>
        </p:spPr>
      </p:sp>
      <p:pic>
        <p:nvPicPr>
          <p:cNvPr id="33" name="A5_i" descr="preencoded.png"/>
          <p:cNvPicPr>
            <a:picLocks noChangeAspect="1"/>
          </p:cNvPicPr>
          <p:nvPr/>
        </p:nvPicPr>
        <p:blipFill>
          <a:blip r:embed="rId7"/>
          <a:stretch>
            <a:fillRect/>
          </a:stretch>
        </p:blipFill>
        <p:spPr>
          <a:xfrm>
            <a:off x="10438790" y="2305202"/>
            <a:ext cx="373075" cy="373075"/>
          </a:xfrm>
          <a:prstGeom prst="rect">
            <a:avLst/>
          </a:prstGeom>
        </p:spPr>
      </p:pic>
      <p:sp>
        <p:nvSpPr>
          <p:cNvPr id="34" name="A5_n"/>
          <p:cNvSpPr/>
          <p:nvPr/>
        </p:nvSpPr>
        <p:spPr>
          <a:xfrm>
            <a:off x="9619488" y="3017520"/>
            <a:ext cx="2011680" cy="411480"/>
          </a:xfrm>
          <a:prstGeom prst="rect">
            <a:avLst/>
          </a:prstGeom>
          <a:noFill/>
          <a:ln/>
        </p:spPr>
        <p:txBody>
          <a:bodyPr wrap="square" lIns="0" tIns="0" rIns="0" bIns="0" rtlCol="0" anchor="ctr"/>
          <a:lstStyle/>
          <a:p>
            <a:pPr marL="0" indent="0" algn="ctr">
              <a:buNone/>
            </a:pPr>
            <a:r>
              <a:rPr lang="en-US" sz="2000" b="1" dirty="0">
                <a:solidFill>
                  <a:srgbClr val="0E7C86"/>
                </a:solidFill>
                <a:latin typeface="Cambria" pitchFamily="34" charset="0"/>
                <a:ea typeface="Cambria" pitchFamily="34" charset="-122"/>
                <a:cs typeface="Cambria" pitchFamily="34" charset="-120"/>
              </a:rPr>
              <a:t>5</a:t>
            </a:r>
            <a:endParaRPr lang="en-US" sz="2000" dirty="0"/>
          </a:p>
        </p:txBody>
      </p:sp>
      <p:sp>
        <p:nvSpPr>
          <p:cNvPr id="35" name="A5_t"/>
          <p:cNvSpPr/>
          <p:nvPr/>
        </p:nvSpPr>
        <p:spPr>
          <a:xfrm>
            <a:off x="9729216" y="3474720"/>
            <a:ext cx="1792224" cy="1325880"/>
          </a:xfrm>
          <a:prstGeom prst="rect">
            <a:avLst/>
          </a:prstGeom>
          <a:noFill/>
          <a:ln/>
        </p:spPr>
        <p:txBody>
          <a:bodyPr wrap="square" lIns="0" tIns="0" rIns="0" bIns="0" rtlCol="0" anchor="t"/>
          <a:lstStyle/>
          <a:p>
            <a:pPr marL="0" indent="0" algn="ctr">
              <a:buNone/>
            </a:pPr>
            <a:r>
              <a:rPr lang="en-US" sz="1500" b="1" dirty="0">
                <a:solidFill>
                  <a:srgbClr val="14284B"/>
                </a:solidFill>
                <a:latin typeface="Cambria" pitchFamily="34" charset="0"/>
                <a:ea typeface="Cambria" pitchFamily="34" charset="-122"/>
                <a:cs typeface="Cambria" pitchFamily="34" charset="-120"/>
              </a:rPr>
              <a:t>Đối chiếu PDF bị sửa</a:t>
            </a:r>
            <a:endParaRPr lang="en-US" sz="1500" dirty="0"/>
          </a:p>
          <a:p>
            <a:pPr marL="0" indent="0" algn="ctr">
              <a:buNone/>
            </a:pPr>
            <a:r>
              <a:rPr lang="en-US" sz="1500" dirty="0">
                <a:solidFill>
                  <a:srgbClr val="1F2937"/>
                </a:solidFill>
                <a:latin typeface="Calibri" pitchFamily="34" charset="0"/>
                <a:ea typeface="Calibri" pitchFamily="34" charset="-122"/>
                <a:cs typeface="Calibri" pitchFamily="34" charset="-120"/>
              </a:rPr>
              <a:t>Hệ thống báo không khớp</a:t>
            </a:r>
            <a:endParaRPr lang="en-US" sz="1500" dirty="0"/>
          </a:p>
        </p:txBody>
      </p:sp>
      <p:sp>
        <p:nvSpPr>
          <p:cNvPr id="36" name="Text 28"/>
          <p:cNvSpPr txBox="1"/>
          <p:nvPr/>
        </p:nvSpPr>
        <p:spPr>
          <a:xfrm>
            <a:off x="548640" y="5349240"/>
            <a:ext cx="11100816" cy="411480"/>
          </a:xfrm>
          <a:prstGeom prst="rect">
            <a:avLst/>
          </a:prstGeom>
          <a:noFill/>
          <a:ln/>
        </p:spPr>
        <p:txBody>
          <a:bodyPr wrap="square" lIns="0" tIns="0" rIns="0" bIns="0" rtlCol="0" anchor="ctr"/>
          <a:lstStyle/>
          <a:p>
            <a:pPr marL="0" indent="0" algn="ctr">
              <a:buNone/>
            </a:pPr>
            <a:r>
              <a:rPr lang="en-US" sz="1400" dirty="0">
                <a:solidFill>
                  <a:srgbClr val="5B6472"/>
                </a:solidFill>
                <a:latin typeface="Calibri" pitchFamily="34" charset="0"/>
                <a:ea typeface="Calibri" pitchFamily="34" charset="-122"/>
                <a:cs typeface="Calibri" pitchFamily="34" charset="-120"/>
              </a:rPr>
              <a:t>Hệ thống demo: https://54.79.163.176.nip.io  ·  ứng dụng Android xac-minh-van-bang.apk</a:t>
            </a:r>
            <a:endParaRPr lang="en-US" sz="14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par>
                                <p:cTn id="31" presetID="10"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par>
                                <p:cTn id="40" presetID="10" presetClass="entr" presetSubtype="0"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4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00"/>
                                        <p:tgtEl>
                                          <p:spTgt spid="2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400"/>
                                        <p:tgtEl>
                                          <p:spTgt spid="23"/>
                                        </p:tgtEl>
                                      </p:cBhvr>
                                    </p:animEffect>
                                  </p:childTnLst>
                                </p:cTn>
                              </p:par>
                              <p:par>
                                <p:cTn id="60" presetID="10" presetClass="entr" presetSubtype="0" fill="hold"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400"/>
                                        <p:tgtEl>
                                          <p:spTgt spid="2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00"/>
                                        <p:tgtEl>
                                          <p:spTgt spid="25"/>
                                        </p:tgtEl>
                                      </p:cBhvr>
                                    </p:animEffect>
                                  </p:childTnLst>
                                </p:cTn>
                              </p:par>
                              <p:par>
                                <p:cTn id="68" presetID="10" presetClass="entr" presetSubtype="0" fill="hold"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00"/>
                                        <p:tgtEl>
                                          <p:spTgt spid="26"/>
                                        </p:tgtEl>
                                      </p:cBhvr>
                                    </p:animEffect>
                                  </p:childTnLst>
                                </p:cTn>
                              </p:par>
                              <p:par>
                                <p:cTn id="71" presetID="10" presetClass="entr" presetSubtype="0" fill="hold"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40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400"/>
                                        <p:tgtEl>
                                          <p:spTgt spid="2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400"/>
                                        <p:tgtEl>
                                          <p:spTgt spid="29"/>
                                        </p:tgtEl>
                                      </p:cBhvr>
                                    </p:animEffect>
                                  </p:childTnLst>
                                </p:cTn>
                              </p:par>
                              <p:par>
                                <p:cTn id="80" presetID="10" presetClass="entr" presetSubtype="0" fill="hold"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400"/>
                                        <p:tgtEl>
                                          <p:spTgt spid="30"/>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400"/>
                                        <p:tgtEl>
                                          <p:spTgt spid="31"/>
                                        </p:tgtEl>
                                      </p:cBhvr>
                                    </p:animEffect>
                                  </p:childTnLst>
                                </p:cTn>
                              </p:par>
                              <p:par>
                                <p:cTn id="88" presetID="10" presetClass="entr" presetSubtype="0" fill="hold" nodeType="with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400"/>
                                        <p:tgtEl>
                                          <p:spTgt spid="32"/>
                                        </p:tgtEl>
                                      </p:cBhvr>
                                    </p:animEffect>
                                  </p:childTnLst>
                                </p:cTn>
                              </p:par>
                              <p:par>
                                <p:cTn id="91" presetID="10" presetClass="entr" presetSubtype="0" fill="hold" nodeType="with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fade">
                                      <p:cBhvr>
                                        <p:cTn id="93" dur="400"/>
                                        <p:tgtEl>
                                          <p:spTgt spid="3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4"/>
                                        </p:tgtEl>
                                        <p:attrNameLst>
                                          <p:attrName>style.visibility</p:attrName>
                                        </p:attrNameLst>
                                      </p:cBhvr>
                                      <p:to>
                                        <p:strVal val="visible"/>
                                      </p:to>
                                    </p:set>
                                    <p:animEffect transition="in" filter="fade">
                                      <p:cBhvr>
                                        <p:cTn id="96" dur="400"/>
                                        <p:tgtEl>
                                          <p:spTgt spid="34"/>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5"/>
                                        </p:tgtEl>
                                        <p:attrNameLst>
                                          <p:attrName>style.visibility</p:attrName>
                                        </p:attrNameLst>
                                      </p:cBhvr>
                                      <p:to>
                                        <p:strVal val="visible"/>
                                      </p:to>
                                    </p:set>
                                    <p:animEffect transition="in" filter="fade">
                                      <p:cBhvr>
                                        <p:cTn id="99"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6" grpId="0" animBg="1"/>
      <p:bldP spid="17" grpId="0" animBg="1"/>
      <p:bldP spid="22" grpId="0" animBg="1"/>
      <p:bldP spid="23" grpId="0" animBg="1"/>
      <p:bldP spid="28" grpId="0" animBg="1"/>
      <p:bldP spid="29" grpId="0" animBg="1"/>
      <p:bldP spid="34" grpId="0" animBg="1"/>
      <p:bldP spid="3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6EDF5"/>
        </a:solidFill>
        <a:effectLst/>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150" dirty="0">
                <a:solidFill>
                  <a:srgbClr val="0E7C86"/>
                </a:solidFill>
                <a:latin typeface="Calibri" pitchFamily="34" charset="0"/>
                <a:ea typeface="Calibri" pitchFamily="34" charset="-122"/>
                <a:cs typeface="Calibri" pitchFamily="34" charset="-120"/>
              </a:rPr>
              <a:t>KẾT LUẬN</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marL="0" indent="0">
              <a:buNone/>
            </a:pPr>
            <a:r>
              <a:rPr lang="en-US" sz="2800" b="1" dirty="0">
                <a:solidFill>
                  <a:srgbClr val="14284B"/>
                </a:solidFill>
                <a:latin typeface="Cambria" pitchFamily="34" charset="0"/>
                <a:ea typeface="Cambria" pitchFamily="34" charset="-122"/>
                <a:cs typeface="Cambria" pitchFamily="34" charset="-120"/>
              </a:rPr>
              <a:t>Kết luận và hướng phát triển</a:t>
            </a:r>
            <a:endParaRPr lang="en-US" sz="2800" dirty="0"/>
          </a:p>
        </p:txBody>
      </p:sp>
      <p:sp>
        <p:nvSpPr>
          <p:cNvPr id="4" name="Text 2"/>
          <p:cNvSpPr txBox="1"/>
          <p:nvPr/>
        </p:nvSpPr>
        <p:spPr>
          <a:xfrm>
            <a:off x="548640" y="6419088"/>
            <a:ext cx="8686800" cy="256032"/>
          </a:xfrm>
          <a:prstGeom prst="rect">
            <a:avLst/>
          </a:prstGeom>
          <a:noFill/>
          <a:ln/>
        </p:spPr>
        <p:txBody>
          <a:bodyPr wrap="square" lIns="0" tIns="0" rIns="0" bIns="0" rtlCol="0" anchor="ctr"/>
          <a:lstStyle/>
          <a:p>
            <a:pPr marL="0" indent="0">
              <a:buNone/>
            </a:pPr>
            <a:r>
              <a:rPr lang="en-US" sz="1000" dirty="0">
                <a:solidFill>
                  <a:srgbClr val="5B6472"/>
                </a:solidFill>
                <a:latin typeface="Calibri" pitchFamily="34" charset="0"/>
                <a:ea typeface="Calibri" pitchFamily="34" charset="-122"/>
                <a:cs typeface="Calibri" pitchFamily="34" charset="-120"/>
              </a:rPr>
              <a:t>Đặng Kim Khánh · CT060318 · Hệ thống quản lý bằng số sử dụng ký số hậu lượng tử</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24 / 25</a:t>
            </a:r>
            <a:endParaRPr lang="en-US" sz="1000" dirty="0"/>
          </a:p>
        </p:txBody>
      </p:sp>
      <p:sp>
        <p:nvSpPr>
          <p:cNvPr id="7" name="A1_bg"/>
          <p:cNvSpPr/>
          <p:nvPr/>
        </p:nvSpPr>
        <p:spPr>
          <a:xfrm>
            <a:off x="548640" y="1371600"/>
            <a:ext cx="3611880" cy="4069080"/>
          </a:xfrm>
          <a:prstGeom prst="roundRect">
            <a:avLst>
              <a:gd name="adj" fmla="val 2025"/>
            </a:avLst>
          </a:prstGeom>
          <a:solidFill>
            <a:srgbClr val="FFFFFF"/>
          </a:solidFill>
          <a:ln w="12700">
            <a:solidFill>
              <a:srgbClr val="FFFFFF"/>
            </a:solidFill>
            <a:prstDash val="solid"/>
          </a:ln>
        </p:spPr>
      </p:sp>
      <p:sp>
        <p:nvSpPr>
          <p:cNvPr id="8" name="A1_c"/>
          <p:cNvSpPr/>
          <p:nvPr/>
        </p:nvSpPr>
        <p:spPr>
          <a:xfrm>
            <a:off x="777240" y="1600200"/>
            <a:ext cx="502920" cy="502920"/>
          </a:xfrm>
          <a:prstGeom prst="ellipse">
            <a:avLst/>
          </a:prstGeom>
          <a:solidFill>
            <a:srgbClr val="14284B"/>
          </a:solidFill>
          <a:ln w="12700">
            <a:solidFill>
              <a:srgbClr val="14284B"/>
            </a:solidFill>
            <a:prstDash val="solid"/>
          </a:ln>
        </p:spPr>
      </p:sp>
      <p:pic>
        <p:nvPicPr>
          <p:cNvPr id="9" name="A1_i" descr="preencoded.png"/>
          <p:cNvPicPr>
            <a:picLocks noChangeAspect="1"/>
          </p:cNvPicPr>
          <p:nvPr/>
        </p:nvPicPr>
        <p:blipFill>
          <a:blip r:embed="rId3"/>
          <a:stretch>
            <a:fillRect/>
          </a:stretch>
        </p:blipFill>
        <p:spPr>
          <a:xfrm>
            <a:off x="907999" y="1730959"/>
            <a:ext cx="241402" cy="241402"/>
          </a:xfrm>
          <a:prstGeom prst="rect">
            <a:avLst/>
          </a:prstGeom>
        </p:spPr>
      </p:pic>
      <p:sp>
        <p:nvSpPr>
          <p:cNvPr id="10" name="A1_h"/>
          <p:cNvSpPr/>
          <p:nvPr/>
        </p:nvSpPr>
        <p:spPr>
          <a:xfrm>
            <a:off x="1417320" y="1600200"/>
            <a:ext cx="2560320" cy="502920"/>
          </a:xfrm>
          <a:prstGeom prst="rect">
            <a:avLst/>
          </a:prstGeom>
          <a:noFill/>
          <a:ln/>
        </p:spPr>
        <p:txBody>
          <a:bodyPr wrap="square" lIns="0" tIns="0" rIns="0" bIns="0" rtlCol="0" anchor="ctr"/>
          <a:lstStyle/>
          <a:p>
            <a:pPr marL="0" indent="0">
              <a:buNone/>
            </a:pPr>
            <a:r>
              <a:rPr lang="en-US" sz="1700" b="1" dirty="0">
                <a:solidFill>
                  <a:srgbClr val="14284B"/>
                </a:solidFill>
                <a:latin typeface="Cambria" pitchFamily="34" charset="0"/>
                <a:ea typeface="Cambria" pitchFamily="34" charset="-122"/>
                <a:cs typeface="Cambria" pitchFamily="34" charset="-120"/>
              </a:rPr>
              <a:t>Kết quả đạt được</a:t>
            </a:r>
            <a:endParaRPr lang="en-US" sz="1700" dirty="0"/>
          </a:p>
        </p:txBody>
      </p:sp>
      <p:sp>
        <p:nvSpPr>
          <p:cNvPr id="11" name="A1_t"/>
          <p:cNvSpPr/>
          <p:nvPr/>
        </p:nvSpPr>
        <p:spPr>
          <a:xfrm>
            <a:off x="777240" y="2240280"/>
            <a:ext cx="3200400" cy="306324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Hệ thống cho ba vai trò và xác minh công khai trên web, di động</a:t>
            </a:r>
            <a:endParaRPr lang="en-US" sz="1500" dirty="0"/>
          </a:p>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ML-DSA theo FIPS 204, ba bộ tham số, ký trên manifest</a:t>
            </a:r>
            <a:endParaRPr lang="en-US" sz="1500" dirty="0"/>
          </a:p>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Vòng đời khóa, bảo vệ khóa bằng AES-256-GCM</a:t>
            </a:r>
            <a:endParaRPr lang="en-US" sz="1500" dirty="0"/>
          </a:p>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Neo lô và ghi thu hồi lên Fabric theo đợt cấp; xác minh bốn mức</a:t>
            </a:r>
            <a:endParaRPr lang="en-US" sz="1500" dirty="0"/>
          </a:p>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Đã triển khai thực tế trên máy chủ</a:t>
            </a:r>
            <a:endParaRPr lang="en-US" sz="1500" dirty="0"/>
          </a:p>
        </p:txBody>
      </p:sp>
      <p:sp>
        <p:nvSpPr>
          <p:cNvPr id="12" name="A2_bg"/>
          <p:cNvSpPr/>
          <p:nvPr/>
        </p:nvSpPr>
        <p:spPr>
          <a:xfrm>
            <a:off x="4297680" y="1371600"/>
            <a:ext cx="3611880" cy="4069080"/>
          </a:xfrm>
          <a:prstGeom prst="roundRect">
            <a:avLst>
              <a:gd name="adj" fmla="val 2025"/>
            </a:avLst>
          </a:prstGeom>
          <a:solidFill>
            <a:srgbClr val="FFFFFF"/>
          </a:solidFill>
          <a:ln w="12700">
            <a:solidFill>
              <a:srgbClr val="FFFFFF"/>
            </a:solidFill>
            <a:prstDash val="solid"/>
          </a:ln>
        </p:spPr>
      </p:sp>
      <p:sp>
        <p:nvSpPr>
          <p:cNvPr id="13" name="A2_c"/>
          <p:cNvSpPr/>
          <p:nvPr/>
        </p:nvSpPr>
        <p:spPr>
          <a:xfrm>
            <a:off x="4526280" y="1600200"/>
            <a:ext cx="502920" cy="502920"/>
          </a:xfrm>
          <a:prstGeom prst="ellipse">
            <a:avLst/>
          </a:prstGeom>
          <a:solidFill>
            <a:srgbClr val="14284B"/>
          </a:solidFill>
          <a:ln w="12700">
            <a:solidFill>
              <a:srgbClr val="14284B"/>
            </a:solidFill>
            <a:prstDash val="solid"/>
          </a:ln>
        </p:spPr>
      </p:sp>
      <p:pic>
        <p:nvPicPr>
          <p:cNvPr id="14" name="A2_i" descr="preencoded.png"/>
          <p:cNvPicPr>
            <a:picLocks noChangeAspect="1"/>
          </p:cNvPicPr>
          <p:nvPr/>
        </p:nvPicPr>
        <p:blipFill>
          <a:blip r:embed="rId4"/>
          <a:stretch>
            <a:fillRect/>
          </a:stretch>
        </p:blipFill>
        <p:spPr>
          <a:xfrm>
            <a:off x="4657039" y="1730959"/>
            <a:ext cx="241402" cy="241402"/>
          </a:xfrm>
          <a:prstGeom prst="rect">
            <a:avLst/>
          </a:prstGeom>
        </p:spPr>
      </p:pic>
      <p:sp>
        <p:nvSpPr>
          <p:cNvPr id="15" name="A2_h"/>
          <p:cNvSpPr/>
          <p:nvPr/>
        </p:nvSpPr>
        <p:spPr>
          <a:xfrm>
            <a:off x="5166360" y="1600200"/>
            <a:ext cx="2560320" cy="502920"/>
          </a:xfrm>
          <a:prstGeom prst="rect">
            <a:avLst/>
          </a:prstGeom>
          <a:noFill/>
          <a:ln/>
        </p:spPr>
        <p:txBody>
          <a:bodyPr wrap="square" lIns="0" tIns="0" rIns="0" bIns="0" rtlCol="0" anchor="ctr"/>
          <a:lstStyle/>
          <a:p>
            <a:pPr marL="0" indent="0">
              <a:buNone/>
            </a:pPr>
            <a:r>
              <a:rPr lang="en-US" sz="1700" b="1" dirty="0">
                <a:solidFill>
                  <a:srgbClr val="14284B"/>
                </a:solidFill>
                <a:latin typeface="Cambria" pitchFamily="34" charset="0"/>
                <a:ea typeface="Cambria" pitchFamily="34" charset="-122"/>
                <a:cs typeface="Cambria" pitchFamily="34" charset="-120"/>
              </a:rPr>
              <a:t>Hạn chế</a:t>
            </a:r>
            <a:endParaRPr lang="en-US" sz="1700" dirty="0"/>
          </a:p>
        </p:txBody>
      </p:sp>
      <p:sp>
        <p:nvSpPr>
          <p:cNvPr id="16" name="A2_t"/>
          <p:cNvSpPr/>
          <p:nvPr/>
        </p:nvSpPr>
        <p:spPr>
          <a:xfrm>
            <a:off x="4526280" y="2240280"/>
            <a:ext cx="3200400" cy="306324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Khóa bí mật lưu trên máy chủ ứng dụng, chưa dùng HSM/KMS</a:t>
            </a:r>
            <a:endParaRPr lang="en-US" sz="1500" dirty="0"/>
          </a:p>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Chỉ văn bằng đã ghi Blockchain mới ghi được thu hồi lên sổ cái</a:t>
            </a:r>
            <a:endParaRPr lang="en-US" sz="1500" dirty="0"/>
          </a:p>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Ghi lô bằng một danh tính Fabric chung</a:t>
            </a:r>
            <a:endParaRPr lang="en-US" sz="1500" dirty="0"/>
          </a:p>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Chưa kiểm thử tải lớn; các node Fabric chạy chung một máy</a:t>
            </a:r>
            <a:endParaRPr lang="en-US" sz="1500" dirty="0"/>
          </a:p>
        </p:txBody>
      </p:sp>
      <p:sp>
        <p:nvSpPr>
          <p:cNvPr id="17" name="A3_bg"/>
          <p:cNvSpPr/>
          <p:nvPr/>
        </p:nvSpPr>
        <p:spPr>
          <a:xfrm>
            <a:off x="8046720" y="1371600"/>
            <a:ext cx="3602736" cy="4069080"/>
          </a:xfrm>
          <a:prstGeom prst="roundRect">
            <a:avLst>
              <a:gd name="adj" fmla="val 2030"/>
            </a:avLst>
          </a:prstGeom>
          <a:solidFill>
            <a:srgbClr val="FFFFFF"/>
          </a:solidFill>
          <a:ln w="12700">
            <a:solidFill>
              <a:srgbClr val="FFFFFF"/>
            </a:solidFill>
            <a:prstDash val="solid"/>
          </a:ln>
        </p:spPr>
      </p:sp>
      <p:sp>
        <p:nvSpPr>
          <p:cNvPr id="18" name="A3_c"/>
          <p:cNvSpPr/>
          <p:nvPr/>
        </p:nvSpPr>
        <p:spPr>
          <a:xfrm>
            <a:off x="8275320" y="1600200"/>
            <a:ext cx="502920" cy="502920"/>
          </a:xfrm>
          <a:prstGeom prst="ellipse">
            <a:avLst/>
          </a:prstGeom>
          <a:solidFill>
            <a:srgbClr val="14284B"/>
          </a:solidFill>
          <a:ln w="12700">
            <a:solidFill>
              <a:srgbClr val="14284B"/>
            </a:solidFill>
            <a:prstDash val="solid"/>
          </a:ln>
        </p:spPr>
      </p:sp>
      <p:pic>
        <p:nvPicPr>
          <p:cNvPr id="19" name="A3_i" descr="preencoded.png"/>
          <p:cNvPicPr>
            <a:picLocks noChangeAspect="1"/>
          </p:cNvPicPr>
          <p:nvPr/>
        </p:nvPicPr>
        <p:blipFill>
          <a:blip r:embed="rId5"/>
          <a:stretch>
            <a:fillRect/>
          </a:stretch>
        </p:blipFill>
        <p:spPr>
          <a:xfrm>
            <a:off x="8406079" y="1730959"/>
            <a:ext cx="241402" cy="241402"/>
          </a:xfrm>
          <a:prstGeom prst="rect">
            <a:avLst/>
          </a:prstGeom>
        </p:spPr>
      </p:pic>
      <p:sp>
        <p:nvSpPr>
          <p:cNvPr id="20" name="A3_h"/>
          <p:cNvSpPr/>
          <p:nvPr/>
        </p:nvSpPr>
        <p:spPr>
          <a:xfrm>
            <a:off x="8915400" y="1600200"/>
            <a:ext cx="2551176" cy="502920"/>
          </a:xfrm>
          <a:prstGeom prst="rect">
            <a:avLst/>
          </a:prstGeom>
          <a:noFill/>
          <a:ln/>
        </p:spPr>
        <p:txBody>
          <a:bodyPr wrap="square" lIns="0" tIns="0" rIns="0" bIns="0" rtlCol="0" anchor="ctr"/>
          <a:lstStyle/>
          <a:p>
            <a:pPr marL="0" indent="0">
              <a:buNone/>
            </a:pPr>
            <a:r>
              <a:rPr lang="en-US" sz="1700" b="1" dirty="0">
                <a:solidFill>
                  <a:srgbClr val="14284B"/>
                </a:solidFill>
                <a:latin typeface="Cambria" pitchFamily="34" charset="0"/>
                <a:ea typeface="Cambria" pitchFamily="34" charset="-122"/>
                <a:cs typeface="Cambria" pitchFamily="34" charset="-120"/>
              </a:rPr>
              <a:t>Hướng phát triển</a:t>
            </a:r>
            <a:endParaRPr lang="en-US" sz="1700" dirty="0"/>
          </a:p>
        </p:txBody>
      </p:sp>
      <p:sp>
        <p:nvSpPr>
          <p:cNvPr id="21" name="A3_t"/>
          <p:cNvSpPr/>
          <p:nvPr/>
        </p:nvSpPr>
        <p:spPr>
          <a:xfrm>
            <a:off x="8275320" y="2240280"/>
            <a:ext cx="3191256" cy="306324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Chuyển khóa sang HSM hoặc KMS</a:t>
            </a:r>
            <a:endParaRPr lang="en-US" sz="1500" dirty="0"/>
          </a:p>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Đăng ký khóa công khai của trường trên sổ cái</a:t>
            </a:r>
            <a:endParaRPr lang="en-US" sz="1500" dirty="0"/>
          </a:p>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Mạng nhiều tổ chức thật sự phân tán</a:t>
            </a:r>
            <a:endParaRPr lang="en-US" sz="1500" dirty="0"/>
          </a:p>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Chữ ký lai ML-DSA + ECDSA</a:t>
            </a:r>
            <a:endParaRPr lang="en-US" sz="1500" dirty="0"/>
          </a:p>
          <a:p>
            <a:pPr marL="177800" indent="-177800">
              <a:spcAft>
                <a:spcPts val="500"/>
              </a:spcAft>
              <a:buSzPct val="100000"/>
              <a:buChar char="•"/>
            </a:pPr>
            <a:r>
              <a:rPr lang="en-US" sz="1500" dirty="0">
                <a:solidFill>
                  <a:srgbClr val="1F2937"/>
                </a:solidFill>
                <a:latin typeface="Calibri" pitchFamily="34" charset="0"/>
                <a:ea typeface="Calibri" pitchFamily="34" charset="-122"/>
                <a:cs typeface="Calibri" pitchFamily="34" charset="-120"/>
              </a:rPr>
              <a:t>Văn bằng tự mang bằng chứng (Verifiable Credentials)</a:t>
            </a:r>
            <a:endParaRPr lang="en-US" sz="1500" dirty="0"/>
          </a:p>
        </p:txBody>
      </p:sp>
      <p:sp>
        <p:nvSpPr>
          <p:cNvPr id="22" name="A4_t"/>
          <p:cNvSpPr/>
          <p:nvPr/>
        </p:nvSpPr>
        <p:spPr>
          <a:xfrm>
            <a:off x="548640" y="5577840"/>
            <a:ext cx="11100816" cy="594360"/>
          </a:xfrm>
          <a:prstGeom prst="rect">
            <a:avLst/>
          </a:prstGeom>
          <a:noFill/>
          <a:ln/>
        </p:spPr>
        <p:txBody>
          <a:bodyPr wrap="square" lIns="0" tIns="0" rIns="0" bIns="0" rtlCol="0" anchor="ctr"/>
          <a:lstStyle/>
          <a:p>
            <a:pPr marL="0" indent="0" algn="ctr">
              <a:buNone/>
            </a:pPr>
            <a:r>
              <a:rPr lang="en-US" sz="1500" i="1" dirty="0">
                <a:solidFill>
                  <a:srgbClr val="0E7C86"/>
                </a:solidFill>
                <a:latin typeface="Calibri" pitchFamily="34" charset="0"/>
                <a:ea typeface="Calibri" pitchFamily="34" charset="-122"/>
                <a:cs typeface="Calibri" pitchFamily="34" charset="-120"/>
              </a:rPr>
              <a:t>ML-DSA áp dụng được vào quy trình văn bằng số với chi phí tính toán không đáng kể, đồng thời bảo vệ văn bằng trước nguy cơ từ máy tính lượng tử.</a:t>
            </a:r>
            <a:endParaRPr lang="en-US" sz="15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par>
                                <p:cTn id="25" presetID="10"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00"/>
                                        <p:tgtEl>
                                          <p:spTgt spid="13"/>
                                        </p:tgtEl>
                                      </p:cBhvr>
                                    </p:animEffect>
                                  </p:childTnLst>
                                </p:cTn>
                              </p:par>
                              <p:par>
                                <p:cTn id="28" presetID="10" presetClass="entr" presetSubtype="0" fill="hold"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P spid="2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6EDF5"/>
        </a:solidFill>
        <a:effectLst/>
      </p:bgPr>
    </p:bg>
    <p:spTree>
      <p:nvGrpSpPr>
        <p:cNvPr id="1" name=""/>
        <p:cNvGrpSpPr/>
        <p:nvPr/>
      </p:nvGrpSpPr>
      <p:grpSpPr>
        <a:xfrm>
          <a:off x="0" y="0"/>
          <a:ext cx="0" cy="0"/>
          <a:chOff x="0" y="0"/>
          <a:chExt cx="0" cy="0"/>
        </a:xfrm>
      </p:grpSpPr>
      <p:sp>
        <p:nvSpPr>
          <p:cNvPr id="2" name="Shape 0"/>
          <p:cNvSpPr/>
          <p:nvPr/>
        </p:nvSpPr>
        <p:spPr>
          <a:xfrm>
            <a:off x="548640" y="411480"/>
            <a:ext cx="11100816" cy="6035040"/>
          </a:xfrm>
          <a:prstGeom prst="roundRect">
            <a:avLst>
              <a:gd name="adj" fmla="val 1818"/>
            </a:avLst>
          </a:prstGeom>
          <a:solidFill>
            <a:srgbClr val="FFFFFF"/>
          </a:solidFill>
          <a:ln w="12700">
            <a:solidFill>
              <a:srgbClr val="CBD6E2"/>
            </a:solidFill>
            <a:prstDash val="solid"/>
          </a:ln>
        </p:spPr>
      </p:sp>
      <p:pic>
        <p:nvPicPr>
          <p:cNvPr id="3" name="Image 0" descr="C:\Users\admin\AppData\Local\Temp\claude\c--VBS-PQC\c16daadc-5363-4aed-8ec4-1ba9efe31d52\scratchpad\slides\logo_kma.png"/>
          <p:cNvPicPr>
            <a:picLocks noChangeAspect="1"/>
          </p:cNvPicPr>
          <p:nvPr/>
        </p:nvPicPr>
        <p:blipFill>
          <a:blip r:embed="rId3"/>
          <a:stretch>
            <a:fillRect/>
          </a:stretch>
        </p:blipFill>
        <p:spPr>
          <a:xfrm>
            <a:off x="1119744" y="731520"/>
            <a:ext cx="869473" cy="914400"/>
          </a:xfrm>
          <a:prstGeom prst="rect">
            <a:avLst/>
          </a:prstGeom>
        </p:spPr>
      </p:pic>
      <p:sp>
        <p:nvSpPr>
          <p:cNvPr id="4" name="Text 1"/>
          <p:cNvSpPr txBox="1"/>
          <p:nvPr/>
        </p:nvSpPr>
        <p:spPr>
          <a:xfrm>
            <a:off x="2194560" y="777240"/>
            <a:ext cx="8229600" cy="822960"/>
          </a:xfrm>
          <a:prstGeom prst="rect">
            <a:avLst/>
          </a:prstGeom>
          <a:noFill/>
          <a:ln/>
        </p:spPr>
        <p:txBody>
          <a:bodyPr wrap="square" lIns="0" tIns="0" rIns="0" bIns="0" rtlCol="0" anchor="ctr"/>
          <a:lstStyle/>
          <a:p>
            <a:pPr marL="0" indent="0">
              <a:buNone/>
            </a:pPr>
            <a:r>
              <a:rPr lang="en-US" sz="1400" dirty="0">
                <a:solidFill>
                  <a:srgbClr val="5B6472"/>
                </a:solidFill>
                <a:latin typeface="Cambria" pitchFamily="34" charset="0"/>
                <a:ea typeface="Cambria" pitchFamily="34" charset="-122"/>
                <a:cs typeface="Cambria" pitchFamily="34" charset="-120"/>
              </a:rPr>
              <a:t>BAN CƠ YẾU CHÍNH PHỦ</a:t>
            </a:r>
            <a:endParaRPr lang="en-US" sz="1400" dirty="0"/>
          </a:p>
          <a:p>
            <a:pPr marL="0" indent="0">
              <a:buNone/>
            </a:pPr>
            <a:r>
              <a:rPr lang="en-US" sz="1900" b="1" dirty="0">
                <a:solidFill>
                  <a:srgbClr val="14284B"/>
                </a:solidFill>
                <a:latin typeface="Cambria" pitchFamily="34" charset="0"/>
                <a:ea typeface="Cambria" pitchFamily="34" charset="-122"/>
                <a:cs typeface="Cambria" pitchFamily="34" charset="-120"/>
              </a:rPr>
              <a:t>HỌC VIỆN KỸ THUẬT MẬT MÃ</a:t>
            </a:r>
            <a:endParaRPr lang="en-US" sz="1400" dirty="0"/>
          </a:p>
        </p:txBody>
      </p:sp>
      <p:sp>
        <p:nvSpPr>
          <p:cNvPr id="5" name="Shape 2"/>
          <p:cNvSpPr/>
          <p:nvPr/>
        </p:nvSpPr>
        <p:spPr>
          <a:xfrm>
            <a:off x="1097280" y="1783080"/>
            <a:ext cx="9966960" cy="0"/>
          </a:xfrm>
          <a:prstGeom prst="line">
            <a:avLst/>
          </a:prstGeom>
          <a:noFill/>
          <a:ln w="12700">
            <a:solidFill>
              <a:srgbClr val="CBD6E2"/>
            </a:solidFill>
            <a:prstDash val="solid"/>
          </a:ln>
        </p:spPr>
      </p:sp>
      <p:sp>
        <p:nvSpPr>
          <p:cNvPr id="6" name="Text 3"/>
          <p:cNvSpPr txBox="1"/>
          <p:nvPr/>
        </p:nvSpPr>
        <p:spPr>
          <a:xfrm>
            <a:off x="1097280" y="2057400"/>
            <a:ext cx="9966960" cy="548640"/>
          </a:xfrm>
          <a:prstGeom prst="rect">
            <a:avLst/>
          </a:prstGeom>
          <a:noFill/>
          <a:ln/>
        </p:spPr>
        <p:txBody>
          <a:bodyPr wrap="square" lIns="0" tIns="0" rIns="0" bIns="0" rtlCol="0" anchor="ctr"/>
          <a:lstStyle/>
          <a:p>
            <a:pPr marL="0" indent="0" algn="ctr">
              <a:buNone/>
            </a:pPr>
            <a:r>
              <a:rPr lang="en-US" sz="3000" b="1" dirty="0">
                <a:solidFill>
                  <a:srgbClr val="14284B"/>
                </a:solidFill>
                <a:latin typeface="Cambria" pitchFamily="34" charset="0"/>
                <a:ea typeface="Cambria" pitchFamily="34" charset="-122"/>
                <a:cs typeface="Cambria" pitchFamily="34" charset="-120"/>
              </a:rPr>
              <a:t>LỜI CẢM ƠN</a:t>
            </a:r>
            <a:endParaRPr lang="en-US" sz="3000" dirty="0"/>
          </a:p>
        </p:txBody>
      </p:sp>
      <p:sp>
        <p:nvSpPr>
          <p:cNvPr id="7" name="Text 4"/>
          <p:cNvSpPr txBox="1"/>
          <p:nvPr/>
        </p:nvSpPr>
        <p:spPr>
          <a:xfrm>
            <a:off x="1097280" y="2880360"/>
            <a:ext cx="9966960" cy="2377440"/>
          </a:xfrm>
          <a:prstGeom prst="rect">
            <a:avLst/>
          </a:prstGeom>
          <a:noFill/>
          <a:ln/>
        </p:spPr>
        <p:txBody>
          <a:bodyPr wrap="square" lIns="0" tIns="0" rIns="0" bIns="0" rtlCol="0" anchor="t"/>
          <a:lstStyle/>
          <a:p>
            <a:pPr marL="0" indent="0" algn="just">
              <a:spcAft>
                <a:spcPts val="1000"/>
              </a:spcAft>
              <a:buNone/>
            </a:pPr>
            <a:r>
              <a:rPr lang="en-US" sz="1800" dirty="0">
                <a:solidFill>
                  <a:srgbClr val="1F2937"/>
                </a:solidFill>
                <a:latin typeface="Calibri" pitchFamily="34" charset="0"/>
                <a:ea typeface="Calibri" pitchFamily="34" charset="-122"/>
                <a:cs typeface="Calibri" pitchFamily="34" charset="-120"/>
              </a:rPr>
              <a:t>Em xin gửi lời cảm ơn tới các thầy cô trong khoa Công nghệ thông tin – Học viện Kỹ thuật Mật mã đã tạo điều kiện và giúp đỡ em trong quá trình học tập tại trường. Đặc biệt, em xin cảm ơn thầy </a:t>
            </a:r>
            <a:r>
              <a:rPr lang="en-US" sz="1800" b="1" dirty="0">
                <a:solidFill>
                  <a:srgbClr val="1F2937"/>
                </a:solidFill>
                <a:latin typeface="Calibri" pitchFamily="34" charset="0"/>
                <a:ea typeface="Calibri" pitchFamily="34" charset="-122"/>
                <a:cs typeface="Calibri" pitchFamily="34" charset="-120"/>
              </a:rPr>
              <a:t>TS. Phạm Văn Hưởng</a:t>
            </a:r>
            <a:r>
              <a:rPr lang="en-US" sz="1800" dirty="0">
                <a:solidFill>
                  <a:srgbClr val="1F2937"/>
                </a:solidFill>
                <a:latin typeface="Calibri" pitchFamily="34" charset="0"/>
                <a:ea typeface="Calibri" pitchFamily="34" charset="-122"/>
                <a:cs typeface="Calibri" pitchFamily="34" charset="-120"/>
              </a:rPr>
              <a:t>, người đã tận tình hướng dẫn, chỉ bảo để em có thể hoàn thiện đồ án này.</a:t>
            </a:r>
            <a:endParaRPr lang="en-US" sz="1800" dirty="0"/>
          </a:p>
          <a:p>
            <a:pPr marL="0" indent="0" algn="just">
              <a:spcAft>
                <a:spcPts val="1000"/>
              </a:spcAft>
              <a:buNone/>
            </a:pPr>
            <a:r>
              <a:rPr lang="en-US" sz="1800" dirty="0">
                <a:solidFill>
                  <a:srgbClr val="1F2937"/>
                </a:solidFill>
                <a:latin typeface="Calibri" pitchFamily="34" charset="0"/>
                <a:ea typeface="Calibri" pitchFamily="34" charset="-122"/>
                <a:cs typeface="Calibri" pitchFamily="34" charset="-120"/>
              </a:rPr>
              <a:t>Do thời gian có hạn cùng nhiều nguyên nhân khác, mặc dù em đã nỗ lực hết mình, đồ án của em vẫn còn những thiếu sót và hạn chế.</a:t>
            </a:r>
            <a:endParaRPr lang="en-US" sz="1800" dirty="0"/>
          </a:p>
          <a:p>
            <a:pPr marL="0" indent="0" algn="just">
              <a:spcAft>
                <a:spcPts val="1000"/>
              </a:spcAft>
              <a:buNone/>
            </a:pPr>
            <a:r>
              <a:rPr lang="en-US" sz="1800" dirty="0">
                <a:solidFill>
                  <a:srgbClr val="1F2937"/>
                </a:solidFill>
                <a:latin typeface="Calibri" pitchFamily="34" charset="0"/>
                <a:ea typeface="Calibri" pitchFamily="34" charset="-122"/>
                <a:cs typeface="Calibri" pitchFamily="34" charset="-120"/>
              </a:rPr>
              <a:t>Em rất mong nhận được sự thông cảm, câu hỏi và góp ý của Hội đồng, các thầy cô cùng các bạn.</a:t>
            </a:r>
            <a:endParaRPr lang="en-US" sz="1800" dirty="0"/>
          </a:p>
        </p:txBody>
      </p:sp>
      <p:sp>
        <p:nvSpPr>
          <p:cNvPr id="8" name="Text 5"/>
          <p:cNvSpPr txBox="1"/>
          <p:nvPr/>
        </p:nvSpPr>
        <p:spPr>
          <a:xfrm>
            <a:off x="1097280" y="5349240"/>
            <a:ext cx="9966960" cy="457200"/>
          </a:xfrm>
          <a:prstGeom prst="rect">
            <a:avLst/>
          </a:prstGeom>
          <a:noFill/>
          <a:ln/>
        </p:spPr>
        <p:txBody>
          <a:bodyPr wrap="square" lIns="0" tIns="0" rIns="0" bIns="0" rtlCol="0" anchor="ctr"/>
          <a:lstStyle/>
          <a:p>
            <a:pPr marL="0" indent="0" algn="r">
              <a:buNone/>
            </a:pPr>
            <a:r>
              <a:rPr lang="en-US" sz="2000" b="1" i="1" dirty="0">
                <a:solidFill>
                  <a:srgbClr val="0E7C86"/>
                </a:solidFill>
                <a:latin typeface="Cambria" pitchFamily="34" charset="0"/>
                <a:ea typeface="Cambria" pitchFamily="34" charset="-122"/>
                <a:cs typeface="Cambria" pitchFamily="34" charset="-120"/>
              </a:rPr>
              <a:t>Em xin trân trọng cảm ơn!</a:t>
            </a:r>
            <a:endParaRPr lang="en-US" sz="2000" dirty="0"/>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5895</Words>
  <Application>Microsoft Office PowerPoint</Application>
  <PresentationFormat>Widescreen</PresentationFormat>
  <Paragraphs>438</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Xây dựng hệ thống quản lý bằng số sử dụng ký số hậu lượng tử</dc:title>
  <dc:subject>PptxGenJS Presentation</dc:subject>
  <dc:creator>Đặng Kim Khánh</dc:creator>
  <cp:lastModifiedBy>admin</cp:lastModifiedBy>
  <cp:revision>3</cp:revision>
  <dcterms:created xsi:type="dcterms:W3CDTF">2026-09-27T16:09:18Z</dcterms:created>
  <dcterms:modified xsi:type="dcterms:W3CDTF">2026-09-27T16:59:37Z</dcterms:modified>
</cp:coreProperties>
</file>